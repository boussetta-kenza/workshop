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Bonjour à tous et bienvenue dans ce cours sur CSS.</a:t>
            </a:r>
            <a:br>
              <a:rPr lang="en-US"/>
            </a:br>
            <a:br>
              <a:rPr lang="en-US"/>
            </a:br>
            <a:r>
              <a:rPr lang="en-US"/>
              <a:t>Jusqu'à maintenant, avec HTML, nous savons créer la structure d'une page. Aujourd'hui, nous allons apprendre à la rendre belle.</a:t>
            </a:r>
            <a:br>
              <a:rPr lang="en-US"/>
            </a:br>
            <a:br>
              <a:rPr lang="en-US"/>
            </a:br>
            <a:r>
              <a:rPr lang="en-US"/>
              <a:t>Nous allons avancer étape par étape : les Selectors, le Box Model, le texte, le Display, Flexbox, Position, Grid, le Responsive Design, et enfin Bootstrap.</a:t>
            </a:r>
            <a:br>
              <a:rPr lang="en-US"/>
            </a:br>
            <a:br>
              <a:rPr lang="en-US"/>
            </a:br>
            <a:r>
              <a:rPr lang="en-US"/>
              <a:t>À la fin du cours, vous serez capables de construire une vraie interface, comme cette carte de profil à droite.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HTML construit la page, CSS la rend belle.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page de profil sans style : du texte noir sur fond blanc.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La même page avec CSS : une carte avec avatar, couleurs et un bouton.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Citez-moi un site web que vous aimez. Qu'est-ce qui le rend beau à vos yeux ?</a:t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CSS veut dire Cascading Style Sheets. En simple : c'est le langage qui décide de l'apparence d'une page web.</a:t>
            </a:r>
            <a:br>
              <a:rPr lang="en-US"/>
            </a:br>
            <a:br>
              <a:rPr lang="en-US"/>
            </a:br>
            <a:r>
              <a:rPr lang="en-US"/>
              <a:t>Imaginez une maison. HTML, ce sont les murs et les portes : la structure. CSS, c'est la peinture, les couleurs et la décoration.</a:t>
            </a:r>
            <a:br>
              <a:rPr lang="en-US"/>
            </a:br>
            <a:br>
              <a:rPr lang="en-US"/>
            </a:br>
            <a:r>
              <a:rPr lang="en-US"/>
              <a:t>Regardez à gauche : c'est du HTML seul. Le texte est là, mais ce n'est pas très joli. À droite, c'est la même page avec CSS. Le contenu n'a pas changé, seulement le style.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HTML = structure. CSS = design.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bouton HTML sans style ressemble à un simple lien souligné. Avec CSS, il devient un bouton bleu arrondi.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titre en noir avec une police par défaut devient un titre coloré, plus grand, avec une belle police.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Si HTML est le squelette d'une page, qu'est-ce que CSS ?</a:t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Avant d'aller plus loin, il faut connaître le vocabulaire. Une règle CSS a toujours trois parties.</a:t>
            </a:r>
            <a:br>
              <a:rPr lang="en-US"/>
            </a:br>
            <a:br>
              <a:rPr lang="en-US"/>
            </a:br>
            <a:r>
              <a:rPr lang="en-US"/>
              <a:t>Première partie : le Selector. Il choisit l'élément. Ici, c'est h1, donc tous les titres de niveau 1.</a:t>
            </a:r>
            <a:br>
              <a:rPr lang="en-US"/>
            </a:br>
            <a:br>
              <a:rPr lang="en-US"/>
            </a:br>
            <a:r>
              <a:rPr lang="en-US"/>
              <a:t>Deuxième partie : la Property. C'est ce que l'on veut changer : ici color, la couleur du texte.</a:t>
            </a:r>
            <a:br>
              <a:rPr lang="en-US"/>
            </a:br>
            <a:br>
              <a:rPr lang="en-US"/>
            </a:br>
            <a:r>
              <a:rPr lang="en-US"/>
              <a:t>Troisième partie : la Value. C'est la façon dont on change : ici blue.</a:t>
            </a:r>
            <a:br>
              <a:rPr lang="en-US"/>
            </a:br>
            <a:br>
              <a:rPr lang="en-US"/>
            </a:br>
            <a:r>
              <a:rPr lang="en-US"/>
              <a:t>On peut lire la règle comme une phrase : pour chaque h1, mets la couleur en bleu.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Selector = quoi ? Property = quoi changer ? Value = comment ?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p { color: red; } : pour chaque paragraphe, le texte devient rouge.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h2 { font-size: 24px; } : pour chaque titre h2, la taille devient 24 pixels.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Dans la règle  p { color: green; } , quel est le Selector ? Et quelle est la Value ?</a:t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Il y a trois façons d'ajouter du CSS à une page HTML. La première : Inline CSS.</a:t>
            </a:r>
            <a:br>
              <a:rPr lang="en-US"/>
            </a:br>
            <a:br>
              <a:rPr lang="en-US"/>
            </a:br>
            <a:r>
              <a:rPr lang="en-US"/>
              <a:t>On écrit le style directement dans la balise, avec l'attribut style. Ici, le h1 devient bleu et le paragraphe prend une taille de 20 pixels.</a:t>
            </a:r>
            <a:br>
              <a:rPr lang="en-US"/>
            </a:br>
            <a:br>
              <a:rPr lang="en-US"/>
            </a:br>
            <a:r>
              <a:rPr lang="en-US"/>
              <a:t>C'est rapide pour un petit test. Mais attention : le style ne s'applique qu'à un seul élément. Si on a 50 titres, il faut répéter 50 fois. C'est difficile à maintenir.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Inline CSS = style dans la balise, pour UN seul élément.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Tester rapidement une couleur : &lt;p style="color: red;"&gt;Attention&lt;/p&gt;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Changer un seul mot dans un email HTML : &lt;span style="font-weight: bold;"&gt;Important&lt;/span&gt;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Si j'ai 20 paragraphes à mettre en rouge, est-ce que Inline CSS est un bon choix ? Pourquoi ?</a:t>
            </a:r>
            <a:endParaRPr/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Deuxième façon : Internal CSS.</a:t>
            </a:r>
            <a:br>
              <a:rPr lang="en-US"/>
            </a:br>
            <a:br>
              <a:rPr lang="en-US"/>
            </a:br>
            <a:r>
              <a:rPr lang="en-US"/>
              <a:t>On met tout le CSS dans une balise style, à l'intérieur du head de la page.</a:t>
            </a:r>
            <a:br>
              <a:rPr lang="en-US"/>
            </a:br>
            <a:br>
              <a:rPr lang="en-US"/>
            </a:br>
            <a:r>
              <a:rPr lang="en-US"/>
              <a:t>Avantage : on écrit les règles une seule fois et elles s'appliquent à toute la page. Ici, tous les h1 sont bleus et tous les p sont gris.</a:t>
            </a:r>
            <a:br>
              <a:rPr lang="en-US"/>
            </a:br>
            <a:br>
              <a:rPr lang="en-US"/>
            </a:br>
            <a:r>
              <a:rPr lang="en-US"/>
              <a:t>Limite : ce CSS ne fonctionne que pour cette page. Si on a un site avec 10 pages, il faut copier le CSS 10 fois.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Internal CSS = un bloc &lt;style&gt; dans le &lt;head&gt;, pour UNE page.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petite page de présentation avec un seul fichier HTML.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exercice de classe où l'on veut tout dans un seul fichier pour le partager facilement.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Dans quelle balise HTML est-ce qu'on place la balise &lt;style&gt; ?</a:t>
            </a:r>
            <a:endParaRPr/>
          </a:p>
        </p:txBody>
      </p:sp>
      <p:sp>
        <p:nvSpPr>
          <p:cNvPr id="190" name="Google Shape;1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Troisième façon, et la meilleure : External CSS.</a:t>
            </a:r>
            <a:br>
              <a:rPr lang="en-US"/>
            </a:br>
            <a:br>
              <a:rPr lang="en-US"/>
            </a:br>
            <a:r>
              <a:rPr lang="en-US"/>
              <a:t>On crée un fichier séparé, par exemple style.css. Dans ce fichier, on met seulement le CSS.</a:t>
            </a:r>
            <a:br>
              <a:rPr lang="en-US"/>
            </a:br>
            <a:br>
              <a:rPr lang="en-US"/>
            </a:br>
            <a:r>
              <a:rPr lang="en-US"/>
              <a:t>Ensuite, dans le head de la page HTML, on ajoute une balise link qui pointe vers ce fichier.</a:t>
            </a:r>
            <a:br>
              <a:rPr lang="en-US"/>
            </a:br>
            <a:br>
              <a:rPr lang="en-US"/>
            </a:br>
            <a:r>
              <a:rPr lang="en-US"/>
              <a:t>Le grand avantage : un seul fichier CSS peut servir à toutes les pages du site. Si on change une couleur dans style.css, elle change partout. C'est propre et facile à maintenir.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External CSS = un fichier .css relié avec &lt;link&gt; : la bonne pratique.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site avec home.html, about.html et contact.html qui utilisent tous le même style.css.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Changer la couleur principale du site : on modifie une seule ligne dans style.css.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balise HTML permet de relier un fichier CSS à la page ?</a:t>
            </a:r>
            <a:endParaRPr/>
          </a:p>
        </p:txBody>
      </p:sp>
      <p:sp>
        <p:nvSpPr>
          <p:cNvPr id="229" name="Google Shape;2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Maintenant, on entre dans les Selectors. Un Selector, c'est le moyen de choisir l'élément que l'on veut styliser.</a:t>
            </a:r>
            <a:br>
              <a:rPr lang="en-US"/>
            </a:br>
            <a:br>
              <a:rPr lang="en-US"/>
            </a:br>
            <a:r>
              <a:rPr lang="en-US"/>
              <a:t>Le plus simple s'appelle le type selector. On écrit simplement le nom de la balise. Ici, p.</a:t>
            </a:r>
            <a:br>
              <a:rPr lang="en-US"/>
            </a:br>
            <a:br>
              <a:rPr lang="en-US"/>
            </a:br>
            <a:r>
              <a:rPr lang="en-US"/>
              <a:t>Résultat : TOUS les paragraphes de la page deviennent rouges. Le titre h1 et la div ne changent pas, parce qu'ils ne sont pas des p.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Type selector = le nom de la balise. Il choisit TOUS les éléments de ce type.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h1 { color: blue; } : tous les titres h1 deviennent bleus.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a { color: green; } : tous les liens deviennent verts.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 selector choisit tous les éléments &lt;p&gt; ?</a:t>
            </a:r>
            <a:endParaRPr/>
          </a:p>
        </p:txBody>
      </p:sp>
      <p:sp>
        <p:nvSpPr>
          <p:cNvPr id="273" name="Google Shape;27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Parfois, on ne veut pas styliser tous les p, seulement certains. Pour cela, on utilise une class ou un id.</a:t>
            </a:r>
            <a:br>
              <a:rPr lang="en-US"/>
            </a:br>
            <a:br>
              <a:rPr lang="en-US"/>
            </a:br>
            <a:r>
              <a:rPr lang="en-US"/>
              <a:t>À gauche : la Class. Dans le HTML, on écrit class="note". Dans le CSS, on utilise un point devant le nom : .note. Plusieurs éléments peuvent avoir la même class.</a:t>
            </a:r>
            <a:br>
              <a:rPr lang="en-US"/>
            </a:br>
            <a:br>
              <a:rPr lang="en-US"/>
            </a:br>
            <a:r>
              <a:rPr lang="en-US"/>
              <a:t>À droite : l'ID. Dans le HTML, id="title". Dans le CSS, on utilise le dièse : #title. Un id doit être unique : un seul élément dans la page.</a:t>
            </a:r>
            <a:br>
              <a:rPr lang="en-US"/>
            </a:br>
            <a:br>
              <a:rPr lang="en-US"/>
            </a:br>
            <a:r>
              <a:rPr lang="en-US"/>
              <a:t>Règle simple : point égale plusieurs éléments, dièse égale un seul élément.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Class (.) = plusieurs éléments. ID (#) = un seul élément.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Class : deux messages d'information avec class="note", tous les deux en orange.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ID : le titre principal de la page avec id="title", personne d'autre n'utilise cet id.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 symbole utilise-t-on pour une class dans le CSS ? Et pour un id ?</a:t>
            </a:r>
            <a:endParaRPr/>
          </a:p>
        </p:txBody>
      </p:sp>
      <p:sp>
        <p:nvSpPr>
          <p:cNvPr id="314" name="Google Shape;31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Les combinators servent à choisir un élément selon sa position dans le HTML. Regardez ces deux petits arbres.</a:t>
            </a:r>
            <a:br>
              <a:rPr lang="en-US"/>
            </a:br>
            <a:br>
              <a:rPr lang="en-US"/>
            </a:br>
            <a:r>
              <a:rPr lang="en-US"/>
              <a:t>Le .box contient un p directement, et une div qui contient elle aussi un p.</a:t>
            </a:r>
            <a:br>
              <a:rPr lang="en-US"/>
            </a:br>
            <a:br>
              <a:rPr lang="en-US"/>
            </a:br>
            <a:r>
              <a:rPr lang="en-US"/>
              <a:t>À gauche, le Descendant selector : on écrit un espace entre les deux. .box p choisit tous les p à l'intérieur de .box, peu importe le niveau. Les deux p sont choisis.</a:t>
            </a:r>
            <a:br>
              <a:rPr lang="en-US"/>
            </a:br>
            <a:br>
              <a:rPr lang="en-US"/>
            </a:br>
            <a:r>
              <a:rPr lang="en-US"/>
              <a:t>À droite, le Child selector : on écrit le signe supérieur. .box &gt; p choisit seulement les enfants directs. Le p qui est dans la div n'est pas un enfant direct, donc il n'est pas choisi.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Espace = à n'importe quel niveau. &gt; = enfant direct seulement.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nav a { } : tous les liens à l'intérieur du menu, même s'ils sont dans une liste.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ul &gt; li { } : seulement les li directement dans la liste, pas ceux d'une sous-liste.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Dans l'arbre de droite, pourquoi le deuxième p n'est pas choisi ?</a:t>
            </a:r>
            <a:endParaRPr/>
          </a:p>
        </p:txBody>
      </p:sp>
      <p:sp>
        <p:nvSpPr>
          <p:cNvPr id="353" name="Google Shape;3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Les siblings, ce sont les frères : des éléments qui ont le même parent et qui se suivent.</a:t>
            </a:r>
            <a:br>
              <a:rPr lang="en-US"/>
            </a:br>
            <a:br>
              <a:rPr lang="en-US"/>
            </a:br>
            <a:r>
              <a:rPr lang="en-US"/>
              <a:t>A gauche, l'Adjacent sibling, avec le signe plus. h1 + p choisit seulement le p qui vient juste après le h1. Le premier p est choisi. Le deuxième p vient après une div, donc il n'est pas choisi.</a:t>
            </a:r>
            <a:br>
              <a:rPr lang="en-US"/>
            </a:br>
            <a:br>
              <a:rPr lang="en-US"/>
            </a:br>
            <a:r>
              <a:rPr lang="en-US"/>
              <a:t>A droite, le General sibling, avec le tilde. h1 ~ p choisit TOUS les p qui viennent après le h1, même s'il y a d'autres éléments entre les deux. Ici les deux p sont choisis. La div n'est pas choisie parce que ce n'est pas un p.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+ = seulement le voisin juste après. ~ = tous les frères qui suivent.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h1 + p : mettre en gras seulement le paragraphe d'introduction, juste après le titre.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h2 ~ p : mettre en gris tous les paragraphes qui suivent un sous-titre.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est la différence entre + et ~ ?</a:t>
            </a:r>
            <a:endParaRPr/>
          </a:p>
        </p:txBody>
      </p:sp>
      <p:sp>
        <p:nvSpPr>
          <p:cNvPr id="400" name="Google Shape;4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Une pseudo-class permet de styliser un élément dans un état particulier, ou à une position particulière. On l'écrit avec deux points après le selector.</a:t>
            </a:r>
            <a:br>
              <a:rPr lang="en-US"/>
            </a:br>
            <a:br>
              <a:rPr lang="en-US"/>
            </a:br>
            <a:r>
              <a:rPr lang="en-US"/>
              <a:t>A gauche, :hover. Quand la souris passe sur le bouton, il devient bleu foncé. Sans la souris, il reste normal.</a:t>
            </a:r>
            <a:br>
              <a:rPr lang="en-US"/>
            </a:br>
            <a:br>
              <a:rPr lang="en-US"/>
            </a:br>
            <a:r>
              <a:rPr lang="en-US"/>
              <a:t>A droite, :first-child. Il choisit seulement le premier élément d'une liste. Ici, le premier li devient gras.</a:t>
            </a:r>
            <a:br>
              <a:rPr lang="en-US"/>
            </a:br>
            <a:br>
              <a:rPr lang="en-US"/>
            </a:br>
            <a:r>
              <a:rPr lang="en-US"/>
              <a:t>Il existe d'autres pseudo-classes : focus, active, nth-child... On en verra plus tard.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Pseudo-class = un état spécial (:hover) ou une position (:first-child).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:hover : un bouton qui change de couleur quand on passe la souris.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:first-child : le premier élément d'un menu qui est mis en évidence.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 selector change le style d'un bouton quand la souris passe dessus ?</a:t>
            </a:r>
            <a:endParaRPr/>
          </a:p>
        </p:txBody>
      </p:sp>
      <p:sp>
        <p:nvSpPr>
          <p:cNvPr id="451" name="Google Shape;4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C'est le moment de pratiquer. Votre premier challenge : styliser un bouton.</a:t>
            </a:r>
            <a:br>
              <a:rPr lang="en-US"/>
            </a:br>
            <a:br>
              <a:rPr lang="en-US"/>
            </a:br>
            <a:r>
              <a:rPr lang="en-US"/>
              <a:t>Vous avez le HTML de départ : un bouton avec la class btn. À vous d'écrire le CSS.</a:t>
            </a:r>
            <a:br>
              <a:rPr lang="en-US"/>
            </a:br>
            <a:br>
              <a:rPr lang="en-US"/>
            </a:br>
            <a:r>
              <a:rPr lang="en-US"/>
              <a:t>Il faut cinq choses : un fond bleu, un texte blanc, du padding, des coins arrondis, et un effet hover. Regardez le résultat attendu à droite : le bouton normal, et le bouton quand la souris passe dessus.</a:t>
            </a:r>
            <a:br>
              <a:rPr lang="en-US"/>
            </a:br>
            <a:br>
              <a:rPr lang="en-US"/>
            </a:br>
            <a:r>
              <a:rPr lang="en-US"/>
              <a:t>Vous avez dix minutes. Travaillez seul, puis comparez avec votre voisin.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Un bouton pro = couleur + padding + border-radius + hover.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bouton Sign up bleu avec des coins arrondis.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bouton Delete rouge avec un rouge plus foncé au survol.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donne des coins arrondis à un bouton ?</a:t>
            </a:r>
            <a:endParaRPr/>
          </a:p>
        </p:txBody>
      </p:sp>
      <p:sp>
        <p:nvSpPr>
          <p:cNvPr id="504" name="Google Shape;50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Le Box Model est la façon de comprendre comment un élément HTML prend de la place dans la page.</a:t>
            </a:r>
            <a:br>
              <a:rPr lang="en-US"/>
            </a:br>
            <a:br>
              <a:rPr lang="en-US"/>
            </a:br>
            <a:r>
              <a:rPr lang="en-US"/>
              <a:t>Imaginez que chaque élément est une boîte. Au centre, il y a le Content : le texte ou l'image.</a:t>
            </a:r>
            <a:br>
              <a:rPr lang="en-US"/>
            </a:br>
            <a:br>
              <a:rPr lang="en-US"/>
            </a:br>
            <a:r>
              <a:rPr lang="en-US"/>
              <a:t>Autour du contenu, il y a le Padding : l'espace à l'intérieur de la boîte.</a:t>
            </a:r>
            <a:br>
              <a:rPr lang="en-US"/>
            </a:br>
            <a:br>
              <a:rPr lang="en-US"/>
            </a:br>
            <a:r>
              <a:rPr lang="en-US"/>
              <a:t>Autour du padding, il y a le Border : la ligne autour de l'élément.</a:t>
            </a:r>
            <a:br>
              <a:rPr lang="en-US"/>
            </a:br>
            <a:br>
              <a:rPr lang="en-US"/>
            </a:br>
            <a:r>
              <a:rPr lang="en-US"/>
              <a:t>Et à l'extérieur du border, il y a le Margin : l'espace entre cette boîte et les autres.</a:t>
            </a:r>
            <a:br>
              <a:rPr lang="en-US"/>
            </a:br>
            <a:br>
              <a:rPr lang="en-US"/>
            </a:br>
            <a:r>
              <a:rPr lang="en-US"/>
              <a:t>Par exemple, si le texte est trop près du bord, on utilise padding. Si deux cartes sont trop proches, on utilise margin.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Padding = INSIDE. Margin = OUTSIDE.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bouton : le texte est le content, l'espace autour du texte est le padding, le contour est le border.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Deux cartes de produits : l'espace entre les deux cartes, c'est le margin.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Lequel est à l'intérieur de la boîte : margin ou padding ?</a:t>
            </a:r>
            <a:endParaRPr/>
          </a:p>
        </p:txBody>
      </p:sp>
      <p:sp>
        <p:nvSpPr>
          <p:cNvPr id="562" name="Google Shape;5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4" name="Google Shape;6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Padding, c'est l'espace à l'intérieur de notre boîte, entre le contenu et le bord.</a:t>
            </a:r>
            <a:br>
              <a:rPr lang="en-US"/>
            </a:br>
            <a:br>
              <a:rPr lang="en-US"/>
            </a:br>
            <a:r>
              <a:rPr lang="en-US"/>
              <a:t>Premier exemple, le bouton. Avant, le texte touche presque le bord : ce n'est pas agréable. Avec padding 12px 24px, on ajoute 12 pixels en haut et en bas, et 24 pixels à gauche et à droite. Le bouton respire.</a:t>
            </a:r>
            <a:br>
              <a:rPr lang="en-US"/>
            </a:br>
            <a:br>
              <a:rPr lang="en-US"/>
            </a:br>
            <a:r>
              <a:rPr lang="en-US"/>
              <a:t>Deuxième exemple, la carte. Sans padding, le titre et le texte collent au bord. Avec padding 20px, le contenu a de l'espace tout autour. La zone verte, c'est le padding.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Padding = l'espace à l'INTÉRIEUR.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bouton avec padding: 12px 24px pour que le texte ne touche pas le bord.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carte avec padding: 20px pour que le titre et le texte soient bien placés.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Le padding est-il à l'intérieur ou à l'extérieur du border ?</a:t>
            </a:r>
            <a:endParaRPr/>
          </a:p>
        </p:txBody>
      </p:sp>
      <p:sp>
        <p:nvSpPr>
          <p:cNvPr id="605" name="Google Shape;60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Margin, c'est l'espace à l'extérieur de la boîte. Il sert à séparer un élément des autres.</a:t>
            </a:r>
            <a:br>
              <a:rPr lang="en-US"/>
            </a:br>
            <a:br>
              <a:rPr lang="en-US"/>
            </a:br>
            <a:r>
              <a:rPr lang="en-US"/>
              <a:t>Premier exemple : deux cartes collées l'une à l'autre. Ce n'est pas joli. Avec margin 20px, chaque carte garde de l'espace autour d'elle, et les cartes se séparent. La zone orange représente le margin.</a:t>
            </a:r>
            <a:br>
              <a:rPr lang="en-US"/>
            </a:br>
            <a:br>
              <a:rPr lang="en-US"/>
            </a:br>
            <a:r>
              <a:rPr lang="en-US"/>
              <a:t>Deuxième exemple : deux sections de page trop proches. Avec margin-bottom 40px, on ajoute de l'espace en dessous de la première section.</a:t>
            </a:r>
            <a:br>
              <a:rPr lang="en-US"/>
            </a:br>
            <a:br>
              <a:rPr lang="en-US"/>
            </a:br>
            <a:r>
              <a:rPr lang="en-US"/>
              <a:t>Retenez : padding est dans la boîte, margin est autour de la boîte.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Margin = l'espace à l'EXTÉRIEUR.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Deux cartes de produits séparées par margin: 20px.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Deux sections d'une page séparées par margin-bottom: 40px.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crée de l'espace à l'extérieur d'un élément ?</a:t>
            </a:r>
            <a:endParaRPr/>
          </a:p>
        </p:txBody>
      </p:sp>
      <p:sp>
        <p:nvSpPr>
          <p:cNvPr id="654" name="Google Shape;65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Le Border, c'est la ligne autour de l'élément. On l'écrit en trois parties : l'épaisseur, le style et la couleur. Ici, border : 2px solid blue, c'est une ligne de 2 pixels, continue, bleue.</a:t>
            </a:r>
            <a:br>
              <a:rPr lang="en-US"/>
            </a:br>
            <a:br>
              <a:rPr lang="en-US"/>
            </a:br>
            <a:r>
              <a:rPr lang="en-US"/>
              <a:t>Ensuite, border-radius change les coins. Avec 12 pixels, les coins deviennent arrondis. C'est parfait pour les boutons et les cartes.</a:t>
            </a:r>
            <a:br>
              <a:rPr lang="en-US"/>
            </a:br>
            <a:br>
              <a:rPr lang="en-US"/>
            </a:br>
            <a:r>
              <a:rPr lang="en-US"/>
              <a:t>Et si on met 50 pourcent sur un carré, on obtient un cercle. C'est comme ça qu'on fait les photos de profil rondes.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Border = la ligne autour. Border-radius = des coins arrondis.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carte de profil avec border: 1px solid #ddd et border-radius: 12px.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photo de profil ronde avec border-radius: 50%.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 change la propriété border-radius ?</a:t>
            </a:r>
            <a:endParaRPr/>
          </a:p>
        </p:txBody>
      </p:sp>
      <p:sp>
        <p:nvSpPr>
          <p:cNvPr id="708" name="Google Shape;70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Width et height donnent la taille de la zone de contenu de l'élément.</a:t>
            </a:r>
            <a:br>
              <a:rPr lang="en-US"/>
            </a:br>
            <a:br>
              <a:rPr lang="en-US"/>
            </a:br>
            <a:r>
              <a:rPr lang="en-US"/>
              <a:t>Premier exemple : une taille fixe en pixels. width 200px, height 100px. Vous voyez les flèches : la largeur en haut, la hauteur sur le côté.</a:t>
            </a:r>
            <a:br>
              <a:rPr lang="en-US"/>
            </a:br>
            <a:br>
              <a:rPr lang="en-US"/>
            </a:br>
            <a:r>
              <a:rPr lang="en-US"/>
              <a:t>Deuxième exemple : une taille en pourcentage. width 50% veut dire : la moitié de la largeur du parent. Si le parent est grand, l'enfant est grand. Si le parent est petit, l'enfant est petit. C'est très utile pour le responsive.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px = taille fixe. % = taille relative au parent.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image de produit avec width: 200px et height: 200px.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colonne qui prend width: 50% de la largeur de la page.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est la différence entre width: 200px et width: 50% ?</a:t>
            </a:r>
            <a:endParaRPr/>
          </a:p>
        </p:txBody>
      </p:sp>
      <p:sp>
        <p:nvSpPr>
          <p:cNvPr id="763" name="Google Shape;76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3" name="Google Shape;8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Passons au texte. Deux propriétés très utilisées : font-family et color.</a:t>
            </a:r>
            <a:br>
              <a:rPr lang="en-US"/>
            </a:br>
            <a:br>
              <a:rPr lang="en-US"/>
            </a:br>
            <a:r>
              <a:rPr lang="en-US"/>
              <a:t>Font-family choisit la police. On donne une liste : d'abord Arial, et si Arial n'existe pas, n'importe quelle police sans-serif. Il y a trois grandes familles : serif avec des petits traits aux extrémités, sans-serif plus moderne, et monospace, où toutes les lettres ont la même largeur, comme dans le code.</a:t>
            </a:r>
            <a:br>
              <a:rPr lang="en-US"/>
            </a:br>
            <a:br>
              <a:rPr lang="en-US"/>
            </a:br>
            <a:r>
              <a:rPr lang="en-US"/>
              <a:t>Color change la couleur du texte. On peut écrire le nom : blue. Ou un code hexadécimal : dièse 2563EB. Ou un rgb : rouge, vert, bleu.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font-family = la police. color = la couleur du texte.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titre de blog en serif pour un style classique.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texte en color: #2563EB, un bleu précis choisi dans le design.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change la couleur du texte ?</a:t>
            </a:r>
            <a:endParaRPr/>
          </a:p>
        </p:txBody>
      </p:sp>
      <p:sp>
        <p:nvSpPr>
          <p:cNvPr id="804" name="Google Shape;8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7" name="Google Shape;84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Trois propriétés pour changer l'aspect du texte.</a:t>
            </a:r>
            <a:br>
              <a:rPr lang="en-US"/>
            </a:br>
            <a:br>
              <a:rPr lang="en-US"/>
            </a:br>
            <a:r>
              <a:rPr lang="en-US"/>
              <a:t>font-size : la taille. On passe de 12 pixels à 28 pixels, le texte est beaucoup plus grand.</a:t>
            </a:r>
            <a:br>
              <a:rPr lang="en-US"/>
            </a:br>
            <a:br>
              <a:rPr lang="en-US"/>
            </a:br>
            <a:r>
              <a:rPr lang="en-US"/>
              <a:t>font-weight : l'épaisseur. Normal ou bold, c'est-à-dire en gras. On peut aussi utiliser des nombres comme 400 ou 700.</a:t>
            </a:r>
            <a:br>
              <a:rPr lang="en-US"/>
            </a:br>
            <a:br>
              <a:rPr lang="en-US"/>
            </a:br>
            <a:r>
              <a:rPr lang="en-US"/>
              <a:t>font-style : le style. Ici, italic, pour mettre le texte en italique.</a:t>
            </a:r>
            <a:br>
              <a:rPr lang="en-US"/>
            </a:br>
            <a:br>
              <a:rPr lang="en-US"/>
            </a:br>
            <a:r>
              <a:rPr lang="en-US"/>
              <a:t>On les utilise ensemble pour créer une hiérarchie : un gros titre en gras, un texte normal plus petit.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font-size = taille. font-weight = épaisseur. font-style = italique.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titre avec font-size: 32px et font-weight: bold.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citation avec font-style: italic.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met le texte en gras ?</a:t>
            </a:r>
            <a:endParaRPr/>
          </a:p>
        </p:txBody>
      </p:sp>
      <p:sp>
        <p:nvSpPr>
          <p:cNvPr id="848" name="Google Shape;84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Deux propriétés pour le texte.</a:t>
            </a:r>
            <a:br>
              <a:rPr lang="en-US"/>
            </a:br>
            <a:br>
              <a:rPr lang="en-US"/>
            </a:br>
            <a:r>
              <a:rPr lang="en-US"/>
              <a:t>Text-decoration : la décoration. Underline pour souligner. Line-through pour barrer, par exemple un ancien prix. Et none pour enlever le soulignement, surtout sur les liens.</a:t>
            </a:r>
            <a:br>
              <a:rPr lang="en-US"/>
            </a:br>
            <a:br>
              <a:rPr lang="en-US"/>
            </a:br>
            <a:r>
              <a:rPr lang="en-US"/>
              <a:t>Text-align : l'alignement du texte. Left à gauche, center au centre, right à droite. Regardez : le même texte, mais placé différemment dans la boîte.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text-decoration = souligner ou barrer. text-align = placer le texte.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prix barré : text-decoration: line-through.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titre centré : text-align: center.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Comment enlever le soulignement d'un lien ?</a:t>
            </a:r>
            <a:endParaRPr/>
          </a:p>
        </p:txBody>
      </p:sp>
      <p:sp>
        <p:nvSpPr>
          <p:cNvPr id="895" name="Google Shape;89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1" name="Google Shape;9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Trois propriétés pour l'espacement du texte.</a:t>
            </a:r>
            <a:br>
              <a:rPr lang="en-US"/>
            </a:br>
            <a:br>
              <a:rPr lang="en-US"/>
            </a:br>
            <a:r>
              <a:rPr lang="en-US"/>
              <a:t>line-height : l'espace entre les lignes. Avec 1.8, le paragraphe est plus aéré et plus facile à lire.</a:t>
            </a:r>
            <a:br>
              <a:rPr lang="en-US"/>
            </a:br>
            <a:br>
              <a:rPr lang="en-US"/>
            </a:br>
            <a:r>
              <a:rPr lang="en-US"/>
              <a:t>letter-spacing : l'espace entre les lettres. Très utilisé pour les petits titres en majuscules.</a:t>
            </a:r>
            <a:br>
              <a:rPr lang="en-US"/>
            </a:br>
            <a:br>
              <a:rPr lang="en-US"/>
            </a:br>
            <a:r>
              <a:rPr lang="en-US"/>
              <a:t>word-spacing : l'espace entre les mots.</a:t>
            </a:r>
            <a:br>
              <a:rPr lang="en-US"/>
            </a:br>
            <a:br>
              <a:rPr lang="en-US"/>
            </a:br>
            <a:r>
              <a:rPr lang="en-US"/>
              <a:t>Un bon line-height, autour de 1.5, améliore beaucoup la lecture.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Plus d'espace = un texte plus lisible.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paragraphe d'article avec line-height: 1.6 pour bien lire.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petit titre en majuscules avec letter-spacing: 2px.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change l'espace entre les lignes ?</a:t>
            </a:r>
            <a:endParaRPr/>
          </a:p>
        </p:txBody>
      </p:sp>
      <p:sp>
        <p:nvSpPr>
          <p:cNvPr id="942" name="Google Shape;9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5" name="Google Shape;98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Deuxième challenge : construire une carte de profil. Vous allez utiliser tout ce que l'on vient d'apprendre : le Box Model et le texte.</a:t>
            </a:r>
            <a:br>
              <a:rPr lang="en-US"/>
            </a:br>
            <a:br>
              <a:rPr lang="en-US"/>
            </a:br>
            <a:r>
              <a:rPr lang="en-US"/>
              <a:t>Regardez le résultat attendu : une carte avec une photo ronde, un nom en gras, un métier en gris et un bouton.</a:t>
            </a:r>
            <a:br>
              <a:rPr lang="en-US"/>
            </a:br>
            <a:br>
              <a:rPr lang="en-US"/>
            </a:br>
            <a:r>
              <a:rPr lang="en-US"/>
              <a:t>Les propriétés à utiliser sont dans la liste : width, padding, border, border-radius, text-align, et les propriétés de police.</a:t>
            </a:r>
            <a:br>
              <a:rPr lang="en-US"/>
            </a:br>
            <a:br>
              <a:rPr lang="en-US"/>
            </a:br>
            <a:r>
              <a:rPr lang="en-US"/>
              <a:t>Le HTML de départ est en bas. Vous avez quinze minutes.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Une vraie carte = padding + border + border-radius + texte bien organisé.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carte de profil pour un réseau social.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carte d'équipe pour la page « About us » d'un site.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rend la photo de profil ronde ?</a:t>
            </a:r>
            <a:endParaRPr/>
          </a:p>
        </p:txBody>
      </p:sp>
      <p:sp>
        <p:nvSpPr>
          <p:cNvPr id="986" name="Google Shape;98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La propriété display décide comment un élément se comporte dans la page.</a:t>
            </a:r>
            <a:br>
              <a:rPr lang="en-US"/>
            </a:br>
            <a:br>
              <a:rPr lang="en-US"/>
            </a:br>
            <a:r>
              <a:rPr lang="en-US"/>
              <a:t>Inline : les éléments se mettent les uns à côté des autres, sur la même ligne. Mais width et height ne fonctionnent pas. C'est le cas de span.</a:t>
            </a:r>
            <a:br>
              <a:rPr lang="en-US"/>
            </a:br>
            <a:br>
              <a:rPr lang="en-US"/>
            </a:br>
            <a:r>
              <a:rPr lang="en-US"/>
              <a:t>Block : chaque élément prend toute la largeur et commence sur une nouvelle ligne. Width et height fonctionnent. C'est le cas de div, p et h1.</a:t>
            </a:r>
            <a:br>
              <a:rPr lang="en-US"/>
            </a:br>
            <a:br>
              <a:rPr lang="en-US"/>
            </a:br>
            <a:r>
              <a:rPr lang="en-US"/>
              <a:t>Inline-block : le meilleur des deux. Les éléments restent sur la même ligne, et on peut aussi choisir width et height. C'est le cas du button.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Block = nouvelle ligne. Inline = même ligne. Inline-block = même ligne + taille.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Trois boutons côte à côte avec une taille fixe : inline-block.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Trois paragraphes les uns sous les autres, chacun sur toute la largeur : block.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est la différence entre block et inline ?</a:t>
            </a:r>
            <a:endParaRPr/>
          </a:p>
        </p:txBody>
      </p:sp>
      <p:sp>
        <p:nvSpPr>
          <p:cNvPr id="1053" name="Google Shape;105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8" name="Google Shape;111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Flexbox, c'est l'outil pour organiser les éléments d'une page.</a:t>
            </a:r>
            <a:br>
              <a:rPr lang="en-US"/>
            </a:br>
            <a:br>
              <a:rPr lang="en-US"/>
            </a:br>
            <a:r>
              <a:rPr lang="en-US"/>
              <a:t>On commence toujours par le parent, qu'on appelle le flex container. On lui écrit display : flex. Et automatiquement, ses enfants deviennent des flex items.</a:t>
            </a:r>
            <a:br>
              <a:rPr lang="en-US"/>
            </a:br>
            <a:br>
              <a:rPr lang="en-US"/>
            </a:br>
            <a:r>
              <a:rPr lang="en-US"/>
              <a:t>Avant, les trois boîtes sont les unes sous les autres. Après, avec display flex, elles sont alignées côte à côte, en ligne.</a:t>
            </a:r>
            <a:br>
              <a:rPr lang="en-US"/>
            </a:br>
            <a:br>
              <a:rPr lang="en-US"/>
            </a:br>
            <a:r>
              <a:rPr lang="en-US"/>
              <a:t>Retenez : la règle s'écrit sur le PARENT, pas sur les enfants.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display: flex s'écrit sur le parent. Les enfants deviennent des flex items.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Aligner trois boutons horizontalement dans une barre d'outils.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Aligner un logo à gauche et un menu à droite dans une navbar.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Sur quel élément écrit-on display: flex : le parent ou les enfants ?</a:t>
            </a:r>
            <a:endParaRPr/>
          </a:p>
        </p:txBody>
      </p:sp>
      <p:sp>
        <p:nvSpPr>
          <p:cNvPr id="1119" name="Google Shape;111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1" name="Google Shape;117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Flex-direction décide dans quelle direction les éléments sont organisés. C'est ce qu'on appelle le main axis, l'axe principal.</a:t>
            </a:r>
            <a:br>
              <a:rPr lang="en-US"/>
            </a:br>
            <a:br>
              <a:rPr lang="en-US"/>
            </a:br>
            <a:r>
              <a:rPr lang="en-US"/>
              <a:t>Avec row, qui est la valeur par défaut, les éléments vont de gauche à droite, en ligne.</a:t>
            </a:r>
            <a:br>
              <a:rPr lang="en-US"/>
            </a:br>
            <a:br>
              <a:rPr lang="en-US"/>
            </a:br>
            <a:r>
              <a:rPr lang="en-US"/>
              <a:t>Avec column, les éléments vont de haut en bas, en colonne. Et l'axe principal devient vertical.</a:t>
            </a:r>
            <a:br>
              <a:rPr lang="en-US"/>
            </a:br>
            <a:br>
              <a:rPr lang="en-US"/>
            </a:br>
            <a:r>
              <a:rPr lang="en-US"/>
              <a:t>Il existe aussi row-reverse et column-reverse, qui inversent l'ordre.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flex-direction choisit l'axe principal : row = horizontal, column = vertical.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row : une barre de boutons alignés en ligne.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column : un formulaire où les champs sont les uns sous les autres.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contrôle le main axis ?</a:t>
            </a:r>
            <a:endParaRPr/>
          </a:p>
        </p:txBody>
      </p:sp>
      <p:sp>
        <p:nvSpPr>
          <p:cNvPr id="1172" name="Google Shape;117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2" name="Google Shape;121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Justify-content place les éléments le long du main axis, donc horizontalement quand on est en row.</a:t>
            </a:r>
            <a:br>
              <a:rPr lang="en-US"/>
            </a:br>
            <a:br>
              <a:rPr lang="en-US"/>
            </a:br>
            <a:r>
              <a:rPr lang="en-US"/>
              <a:t>flex-start : tout au début, à gauche. Center : au milieu. Flex-end : à la fin, à droite.</a:t>
            </a:r>
            <a:br>
              <a:rPr lang="en-US"/>
            </a:br>
            <a:br>
              <a:rPr lang="en-US"/>
            </a:br>
            <a:r>
              <a:rPr lang="en-US"/>
              <a:t>Space-between : le premier à gauche, le dernier à droite, et l'espace est réparti entre les éléments.</a:t>
            </a:r>
            <a:br>
              <a:rPr lang="en-US"/>
            </a:br>
            <a:br>
              <a:rPr lang="en-US"/>
            </a:br>
            <a:r>
              <a:rPr lang="en-US"/>
              <a:t>Space-around : de l'espace autour de chaque élément. Space-evenly : exactement le même espace partout.</a:t>
            </a:r>
            <a:br>
              <a:rPr lang="en-US"/>
            </a:br>
            <a:br>
              <a:rPr lang="en-US"/>
            </a:br>
            <a:r>
              <a:rPr lang="en-US"/>
              <a:t>Une astuce : justify, c'est pour l'axe principal.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justify-content = placement sur le main axis.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space-between : logo à gauche et menu à droite dans une navbar.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center : trois boutons centrés dans la page.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valeur place les éléments au centre de l'axe principal ?</a:t>
            </a:r>
            <a:endParaRPr/>
          </a:p>
        </p:txBody>
      </p:sp>
      <p:sp>
        <p:nvSpPr>
          <p:cNvPr id="1213" name="Google Shape;121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9" name="Google Shape;128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Align-items place les éléments sur le cross axis, l'axe perpendiculaire. Quand on est en row, c'est la verticale.</a:t>
            </a:r>
            <a:br>
              <a:rPr lang="en-US"/>
            </a:br>
            <a:br>
              <a:rPr lang="en-US"/>
            </a:br>
            <a:r>
              <a:rPr lang="en-US"/>
              <a:t>flex-start : les éléments sont en haut. Center : au milieu, verticalement. Flex-end : en bas.</a:t>
            </a:r>
            <a:br>
              <a:rPr lang="en-US"/>
            </a:br>
            <a:br>
              <a:rPr lang="en-US"/>
            </a:br>
            <a:r>
              <a:rPr lang="en-US"/>
              <a:t>Stretch, c'est la valeur par défaut : les éléments s'étirent pour prendre toute la hauteur.</a:t>
            </a:r>
            <a:br>
              <a:rPr lang="en-US"/>
            </a:br>
            <a:br>
              <a:rPr lang="en-US"/>
            </a:br>
            <a:r>
              <a:rPr lang="en-US"/>
              <a:t>Pour centrer un élément parfaitement, au milieu de la page, on combine justify-content center et align-items center.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align-items = placement sur le cross axis (perpendiculaire).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center : un texte centré verticalement dans un bandeau.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justify-content: center + align-items: center : une carte centrée dans l'écran.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contrôle le cross axis ?</a:t>
            </a:r>
            <a:endParaRPr/>
          </a:p>
        </p:txBody>
      </p:sp>
      <p:sp>
        <p:nvSpPr>
          <p:cNvPr id="1290" name="Google Shape;129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Que se passe-t-il quand il y a trop d'éléments pour la largeur du conteneur ?</a:t>
            </a:r>
            <a:br>
              <a:rPr lang="en-US"/>
            </a:br>
            <a:br>
              <a:rPr lang="en-US"/>
            </a:br>
            <a:r>
              <a:rPr lang="en-US"/>
              <a:t>Par défaut, flex-wrap est à nowrap : tous les éléments restent sur une seule ligne et ils se rétrécissent. Regardez, ils sont écrasés.</a:t>
            </a:r>
            <a:br>
              <a:rPr lang="en-US"/>
            </a:br>
            <a:br>
              <a:rPr lang="en-US"/>
            </a:br>
            <a:r>
              <a:rPr lang="en-US"/>
              <a:t>Avec flex-wrap: wrap, les éléments qui ne rentrent pas passent à la ligne suivante.</a:t>
            </a:r>
            <a:br>
              <a:rPr lang="en-US"/>
            </a:br>
            <a:br>
              <a:rPr lang="en-US"/>
            </a:br>
            <a:r>
              <a:rPr lang="en-US"/>
              <a:t>Quand on a plusieurs lignes, align-content place ces lignes dans le conteneur : au centre avec center, ou une en haut et une en bas avec space-between.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wrap = les éléments passent à la ligne. align-content = placement des lignes.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galerie de photos qui passe à la ligne quand l'écran est étroit.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liste de tags qui se répartit sur plusieurs lignes.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 fait flex-wrap: wrap quand il n'y a plus de place ?</a:t>
            </a:r>
            <a:endParaRPr/>
          </a:p>
        </p:txBody>
      </p:sp>
      <p:sp>
        <p:nvSpPr>
          <p:cNvPr id="1343" name="Google Shape;134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9" name="Google Shape;140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La propriété position décide comment un élément est placé dans la page. Il y a cinq valeurs.</a:t>
            </a:r>
            <a:br>
              <a:rPr lang="en-US"/>
            </a:br>
            <a:br>
              <a:rPr lang="en-US"/>
            </a:br>
            <a:r>
              <a:rPr lang="en-US"/>
              <a:t>Static : la valeur par défaut. L'élément suit le flux normal.</a:t>
            </a:r>
            <a:br>
              <a:rPr lang="en-US"/>
            </a:br>
            <a:br>
              <a:rPr lang="en-US"/>
            </a:br>
            <a:r>
              <a:rPr lang="en-US"/>
              <a:t>Relative : l'élément bouge un peu par rapport à sa place d'origine, mais il garde sa place.</a:t>
            </a:r>
            <a:br>
              <a:rPr lang="en-US"/>
            </a:br>
            <a:br>
              <a:rPr lang="en-US"/>
            </a:br>
            <a:r>
              <a:rPr lang="en-US"/>
              <a:t>Absolute : l'élément se place par rapport à son parent positionné le plus proche.</a:t>
            </a:r>
            <a:br>
              <a:rPr lang="en-US"/>
            </a:br>
            <a:br>
              <a:rPr lang="en-US"/>
            </a:br>
            <a:r>
              <a:rPr lang="en-US"/>
              <a:t>Fixed : l'élément reste collé à la fenêtre du navigateur, même quand on scrolle.</a:t>
            </a:r>
            <a:br>
              <a:rPr lang="en-US"/>
            </a:br>
            <a:br>
              <a:rPr lang="en-US"/>
            </a:br>
            <a:r>
              <a:rPr lang="en-US"/>
              <a:t>Sticky : l'élément est normal, puis il se colle quand on arrive à une certaine position pendant le scroll.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position décide comment et par rapport à quoi un élément est placé.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badge « NEW » sur une photo produit : absolute.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bouton de chat flottant en bas de l'écran : fixed.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valeur de position colle un élément à la fenêtre du navigateur ?</a:t>
            </a:r>
            <a:endParaRPr/>
          </a:p>
        </p:txBody>
      </p:sp>
      <p:sp>
        <p:nvSpPr>
          <p:cNvPr id="1410" name="Google Shape;141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5" name="Google Shape;147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Le cas le plus classique : mettre un badge sur une image de produit.</a:t>
            </a:r>
            <a:br>
              <a:rPr lang="en-US"/>
            </a:br>
            <a:br>
              <a:rPr lang="en-US"/>
            </a:br>
            <a:r>
              <a:rPr lang="en-US"/>
              <a:t>D'abord, on met position relative sur le parent, la carte. Elle devient la référence.</a:t>
            </a:r>
            <a:br>
              <a:rPr lang="en-US"/>
            </a:br>
            <a:br>
              <a:rPr lang="en-US"/>
            </a:br>
            <a:r>
              <a:rPr lang="en-US"/>
              <a:t>Ensuite, sur le badge, on met position absolute, avec top 8 pixels et right 8 pixels. Le badge se place à 8 pixels du haut et de la droite de la carte, dans le coin en haut à droite.</a:t>
            </a:r>
            <a:br>
              <a:rPr lang="en-US"/>
            </a:br>
            <a:br>
              <a:rPr lang="en-US"/>
            </a:br>
            <a:r>
              <a:rPr lang="en-US"/>
              <a:t>Attention : un élément absolute sort du flux normal. Il ne prend plus de place.</a:t>
            </a:r>
            <a:br>
              <a:rPr lang="en-US"/>
            </a:br>
            <a:br>
              <a:rPr lang="en-US"/>
            </a:br>
            <a:r>
              <a:rPr lang="en-US"/>
              <a:t>On utilise la même technique pour la pastille rouge d'une notification, ou pour le bouton fermer d'une fenêtre modale.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Parent = relative (la référence). Enfant = absolute (placé dedans).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badge « NEW » dans le coin d'une photo produit.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Le petit chiffre rouge d'une icône de notification, ou le bouton × d'une fenêtre modale.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 élément doit avoir position: relative pour que le badge se place dans la carte ?</a:t>
            </a:r>
            <a:endParaRPr/>
          </a:p>
        </p:txBody>
      </p:sp>
      <p:sp>
        <p:nvSpPr>
          <p:cNvPr id="1476" name="Google Shape;147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4" name="Google Shape;152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Deux valeurs qui suivent l'utilisateur pendant le scroll.</a:t>
            </a:r>
            <a:br>
              <a:rPr lang="en-US"/>
            </a:br>
            <a:br>
              <a:rPr lang="en-US"/>
            </a:br>
            <a:r>
              <a:rPr lang="en-US"/>
              <a:t>Fixed : l'élément est collé à la fenêtre du navigateur. Ici, le bouton de chat reste en bas à droite, même si on scrolle toute la page. On utilise bottom 20px et right 20px.</a:t>
            </a:r>
            <a:br>
              <a:rPr lang="en-US"/>
            </a:br>
            <a:br>
              <a:rPr lang="en-US"/>
            </a:br>
            <a:r>
              <a:rPr lang="en-US"/>
              <a:t>Sticky : l'élément se comporte normalement, puis il se colle quand il arrive en haut. Ici, la navbar reste visible en haut pendant qu'on lit. On écrit position sticky et top 0.</a:t>
            </a:r>
            <a:br>
              <a:rPr lang="en-US"/>
            </a:br>
            <a:br>
              <a:rPr lang="en-US"/>
            </a:br>
            <a:r>
              <a:rPr lang="en-US"/>
              <a:t>La différence : fixed est toujours collé, sticky ne se colle qu'à partir d'un certain moment.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fixed = toujours collé à l'écran. sticky = normal puis collé au scroll.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bouton de chat flottant en bas à droite : fixed.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navbar qui reste en haut de la page pendant la lecture : sticky.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est la différence entre fixed et sticky ?</a:t>
            </a:r>
            <a:endParaRPr/>
          </a:p>
        </p:txBody>
      </p:sp>
      <p:sp>
        <p:nvSpPr>
          <p:cNvPr id="1525" name="Google Shape;152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1" name="Google Shape;157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Grid, c'est l'outil pour organiser une page en lignes ET en colonnes, comme un tableau.</a:t>
            </a:r>
            <a:br>
              <a:rPr lang="en-US"/>
            </a:br>
            <a:br>
              <a:rPr lang="en-US"/>
            </a:br>
            <a:r>
              <a:rPr lang="en-US"/>
              <a:t>On écrit display : grid sur le parent. Ensuite, grid-template-columns définit les colonnes : ici 100 pixels, 200 pixels, 100 pixels. Et grid-template-rows définit les lignes : deux lignes de 60 pixels.</a:t>
            </a:r>
            <a:br>
              <a:rPr lang="en-US"/>
            </a:br>
            <a:br>
              <a:rPr lang="en-US"/>
            </a:br>
            <a:r>
              <a:rPr lang="en-US"/>
              <a:t>Résultat : six cellules. Regardez la colonne du milieu : elle est deux fois plus large.</a:t>
            </a:r>
            <a:br>
              <a:rPr lang="en-US"/>
            </a:br>
            <a:br>
              <a:rPr lang="en-US"/>
            </a:br>
            <a:r>
              <a:rPr lang="en-US"/>
              <a:t>Deuxième exemple : repeat 3, 1fr. Cela veut dire trois colonnes égales. Le fr est une fraction de l'espace disponible.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Grid = lignes + colonnes. On les définit sur le parent.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galerie de photos en 3 colonnes.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tableau de bord avec des cartes bien alignées.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définit le nombre et la taille des colonnes ?</a:t>
            </a:r>
            <a:endParaRPr/>
          </a:p>
        </p:txBody>
      </p:sp>
      <p:sp>
        <p:nvSpPr>
          <p:cNvPr id="1572" name="Google Shape;157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5" name="Google Shape;162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Dans une grille, chaque colonne et chaque ligne est séparée par des lignes numérotées. Regardez : de 1 à 4 en haut, de 1 à 4 sur le côté.</a:t>
            </a:r>
            <a:br>
              <a:rPr lang="en-US"/>
            </a:br>
            <a:br>
              <a:rPr lang="en-US"/>
            </a:br>
            <a:r>
              <a:rPr lang="en-US"/>
              <a:t>Pour placer un élément, on dit où il commence et où il finit. grid-column-start 1 et grid-column-end 3 : il va de la ligne 1 à la ligne 3, donc il occupe deux colonnes. Pareil pour les rangées avec grid-row-start et grid-row-end.</a:t>
            </a:r>
            <a:br>
              <a:rPr lang="en-US"/>
            </a:br>
            <a:br>
              <a:rPr lang="en-US"/>
            </a:br>
            <a:r>
              <a:rPr lang="en-US"/>
              <a:t>Ensuite, justify-self place l'élément à l'intérieur de sa cellule : au début avec start, au centre avec center, ou à la fin avec end.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On place un élément avec les numéros de lignes de la grille.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en-tête qui occupe deux colonnes : de la ligne 1 à la ligne 3.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bouton centré dans sa cellule avec justify-self: center.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Si un élément va de la ligne de colonne 1 à 3, combien de colonnes occupe-t-il ?</a:t>
            </a:r>
            <a:endParaRPr/>
          </a:p>
        </p:txBody>
      </p:sp>
      <p:sp>
        <p:nvSpPr>
          <p:cNvPr id="1626" name="Google Shape;162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3" name="Google Shape;168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Question importante : Flexbox ou Grid ?</a:t>
            </a:r>
            <a:br>
              <a:rPr lang="en-US"/>
            </a:br>
            <a:br>
              <a:rPr lang="en-US"/>
            </a:br>
            <a:r>
              <a:rPr lang="en-US"/>
              <a:t>Flexbox travaille sur une seule dimension : une ligne OU une colonne. Il est parfait pour une navbar, un groupe de boutons, ou pour centrer un élément.</a:t>
            </a:r>
            <a:br>
              <a:rPr lang="en-US"/>
            </a:br>
            <a:br>
              <a:rPr lang="en-US"/>
            </a:br>
            <a:r>
              <a:rPr lang="en-US"/>
              <a:t>Grid travaille sur deux dimensions : des lignes ET des colonnes en même temps. Il est parfait pour la mise en page d'une page entière, une galerie de photos ou un tableau de bord.</a:t>
            </a:r>
            <a:br>
              <a:rPr lang="en-US"/>
            </a:br>
            <a:br>
              <a:rPr lang="en-US"/>
            </a:br>
            <a:r>
              <a:rPr lang="en-US"/>
              <a:t>Et ils ne sont pas ennemis : on utilise souvent Grid pour la structure générale de la page, et Flexbox à l'intérieur des blocs.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Une ligne d'éléments : Flexbox. Lignes ET colonnes : Grid.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navbar avec logo et liens : Flexbox.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galerie de 6 photos en 3 colonnes et 2 lignes : Grid.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Pour une galerie de photos en lignes et colonnes, vous choisissez Flexbox ou Grid ?</a:t>
            </a:r>
            <a:endParaRPr/>
          </a:p>
        </p:txBody>
      </p:sp>
      <p:sp>
        <p:nvSpPr>
          <p:cNvPr id="1684" name="Google Shape;168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9" name="Google Shape;172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Aujourd'hui, les gens visitent nos sites sur ordinateur, sur tablette et sur téléphone. Le Responsive Design, c'est adapter le site à la taille de l'écran.</a:t>
            </a:r>
            <a:br>
              <a:rPr lang="en-US"/>
            </a:br>
            <a:br>
              <a:rPr lang="en-US"/>
            </a:br>
            <a:r>
              <a:rPr lang="en-US"/>
              <a:t>Regardez : ce sont les mêmes trois cartes. Sur ordinateur, on a trois cartes par ligne. Sur tablette, deux cartes puis une. Sur mobile, une seule carte par ligne, les unes sous les autres.</a:t>
            </a:r>
            <a:br>
              <a:rPr lang="en-US"/>
            </a:br>
            <a:br>
              <a:rPr lang="en-US"/>
            </a:br>
            <a:r>
              <a:rPr lang="en-US"/>
              <a:t>En bas, il y a une balise très importante pour le responsive : la balise meta viewport. Sans elle, le téléphone affiche la page comme un petit ordinateur.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Responsive = adapter le site à la taille de l'écran.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Desktop : 3 cartes par ligne.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Mobile : 1 carte par ligne.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Combien de cartes par ligne sur mobile dans cet exemple ?</a:t>
            </a:r>
            <a:endParaRPr/>
          </a:p>
        </p:txBody>
      </p:sp>
      <p:sp>
        <p:nvSpPr>
          <p:cNvPr id="1730" name="Google Shape;173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7" name="Google Shape;177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Pour rendre un site responsive, on utilise les Media Queries. C'est une condition : SI l'écran est plus petit que telle largeur, ALORS on applique ce CSS.</a:t>
            </a:r>
            <a:br>
              <a:rPr lang="en-US"/>
            </a:br>
            <a:br>
              <a:rPr lang="en-US"/>
            </a:br>
            <a:r>
              <a:rPr lang="en-US"/>
              <a:t>Regardez le code : @media screen and max-width 576px. Ça veut dire : si la largeur de l'écran est de 576 pixels ou moins. Alors les cartes passent en display block, donc les unes sous les autres.</a:t>
            </a:r>
            <a:br>
              <a:rPr lang="en-US"/>
            </a:br>
            <a:br>
              <a:rPr lang="en-US"/>
            </a:br>
            <a:r>
              <a:rPr lang="en-US"/>
              <a:t>Les points où le design change s'appellent des breakpoints. En haut, l'échelle classique : extra small en dessous de 576, small jusqu'à 768, medium jusqu'à 992, large jusqu'à 1200, et extra large au-dessus.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Media Query = SI l'écran est petit, ALORS on change le style.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Sous 576px, passer de 3 cartes en ligne à 1 carte par ligne.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Sous 768px, cacher le menu large et afficher un menu compact.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 veut dire max-width: 576px dans une media query ?</a:t>
            </a:r>
            <a:endParaRPr/>
          </a:p>
        </p:txBody>
      </p:sp>
      <p:sp>
        <p:nvSpPr>
          <p:cNvPr id="1778" name="Google Shape;1778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5" name="Google Shape;182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Trois challenges pour pratiquer la mise en page. Vous partez toujours des mêmes trois cartes.</a:t>
            </a:r>
            <a:br>
              <a:rPr lang="en-US"/>
            </a:br>
            <a:br>
              <a:rPr lang="en-US"/>
            </a:br>
            <a:r>
              <a:rPr lang="en-US"/>
              <a:t>Challenge 3 : les aligner avec Flexbox, avec un espace entre elles. Challenge 4 : les organiser avec Grid, en trois colonnes égales. Challenge 5 : rendre la page responsive : sur mobile, une seule colonne, avec une media query.</a:t>
            </a:r>
            <a:br>
              <a:rPr lang="en-US"/>
            </a:br>
            <a:br>
              <a:rPr lang="en-US"/>
            </a:br>
            <a:r>
              <a:rPr lang="en-US"/>
              <a:t>Pour tester le responsive, réduisez la fenêtre du navigateur et regardez ce qui se passe.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Même contenu, trois outils : Flexbox, Grid et media query.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Challenge 3 : trois cartes de prix alignées avec Flexbox.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Challenge 5 : ces cartes deviennent une colonne sur téléphone.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met les cartes en ligne avec Flexbox ? Et avec Grid ?</a:t>
            </a:r>
            <a:endParaRPr/>
          </a:p>
        </p:txBody>
      </p:sp>
      <p:sp>
        <p:nvSpPr>
          <p:cNvPr id="1826" name="Google Shape;182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3" name="Google Shape;190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Font Awesome, ce sont des icônes réutilisables pour vos sites web. Une voiture, une maison, un utilisateur, une loupe, des paramètres... des centaines d'icônes.</a:t>
            </a:r>
            <a:br>
              <a:rPr lang="en-US"/>
            </a:br>
            <a:br>
              <a:rPr lang="en-US"/>
            </a:br>
            <a:r>
              <a:rPr lang="en-US"/>
              <a:t>Pour l'utiliser, on ajoute d'abord le lien vers la feuille de style de Font Awesome, comme un fichier CSS externe.</a:t>
            </a:r>
            <a:br>
              <a:rPr lang="en-US"/>
            </a:br>
            <a:br>
              <a:rPr lang="en-US"/>
            </a:br>
            <a:r>
              <a:rPr lang="en-US"/>
              <a:t>Ensuite, on écrit une balise i avec les classes fa et fa-car. Et l'icône apparaît.</a:t>
            </a:r>
            <a:br>
              <a:rPr lang="en-US"/>
            </a:br>
            <a:br>
              <a:rPr lang="en-US"/>
            </a:br>
            <a:r>
              <a:rPr lang="en-US"/>
              <a:t>Les icônes sont scalables : elles restent nettes à toutes les tailles. On change la taille avec fa-2x ou fa-3x, et la couleur avec color en CSS.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Font Awesome = des icônes réutilisables, avec une simple balise &lt;i&gt;.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icône loupe dans une barre de recherche : fa fa-search.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icône maison dans le menu de navigation : fa fa-home.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balise HTML utilise-t-on pour afficher une icône Font Awesome ?</a:t>
            </a:r>
            <a:endParaRPr/>
          </a:p>
        </p:txBody>
      </p:sp>
      <p:sp>
        <p:nvSpPr>
          <p:cNvPr id="1904" name="Google Shape;1904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7" name="Google Shape;195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Parfois, les polices standards ne suffisent pas. Avec @font-face, on peut utiliser notre propre police.</a:t>
            </a:r>
            <a:br>
              <a:rPr lang="en-US"/>
            </a:br>
            <a:br>
              <a:rPr lang="en-US"/>
            </a:br>
            <a:r>
              <a:rPr lang="en-US"/>
              <a:t>Étape 1 : on a un fichier de police, par exemple MyFont.woff2.</a:t>
            </a:r>
            <a:br>
              <a:rPr lang="en-US"/>
            </a:br>
            <a:br>
              <a:rPr lang="en-US"/>
            </a:br>
            <a:r>
              <a:rPr lang="en-US"/>
              <a:t>Étape 2 : dans le CSS, on écrit @font-face. On donne un nom à la police avec font-family, et on indique où se trouve le fichier avec src url.</a:t>
            </a:r>
            <a:br>
              <a:rPr lang="en-US"/>
            </a:br>
            <a:br>
              <a:rPr lang="en-US"/>
            </a:br>
            <a:r>
              <a:rPr lang="en-US"/>
              <a:t>Étape 3 : on utilise ce nom dans nos règles CSS normales, comme ici pour le h1.</a:t>
            </a:r>
            <a:br>
              <a:rPr lang="en-US"/>
            </a:br>
            <a:br>
              <a:rPr lang="en-US"/>
            </a:br>
            <a:r>
              <a:rPr lang="en-US"/>
              <a:t>Résultat : notre site affiche la police personnalisée.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@font-face = charger une police personnalisée, puis l'utiliser avec font-family.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Utiliser la police de la marque de l'entreprise dans les titres.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Utiliser une police décorative pour le logo d'un site.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indique où se trouve le fichier de la police ?</a:t>
            </a:r>
            <a:endParaRPr/>
          </a:p>
        </p:txBody>
      </p:sp>
      <p:sp>
        <p:nvSpPr>
          <p:cNvPr id="1958" name="Google Shape;195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0" name="Google Shape;200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Bootstrap, c'est une bibliothèque de composants d'interface réutilisables et d'outils pour faire des pages responsive.</a:t>
            </a:r>
            <a:br>
              <a:rPr lang="en-US"/>
            </a:br>
            <a:br>
              <a:rPr lang="en-US"/>
            </a:br>
            <a:r>
              <a:rPr lang="en-US"/>
              <a:t>En français simple : des styles prêts à l'emploi. Au lieu d'écrire tout le CSS d'un bouton, on ajoute juste une classe.</a:t>
            </a:r>
            <a:br>
              <a:rPr lang="en-US"/>
            </a:br>
            <a:br>
              <a:rPr lang="en-US"/>
            </a:br>
            <a:r>
              <a:rPr lang="en-US"/>
              <a:t>Bootstrap nous donne une grille, des boutons, des alertes, une navbar, des cartes, des barres de progression... Tout est déjà stylé.</a:t>
            </a:r>
            <a:br>
              <a:rPr lang="en-US"/>
            </a:br>
            <a:br>
              <a:rPr lang="en-US"/>
            </a:br>
            <a:r>
              <a:rPr lang="en-US"/>
              <a:t>Regardez à droite : un bouton normal, puis le même bouton avec class btn btn-primary. Une seule classe, et il est prêt.</a:t>
            </a:r>
            <a:br>
              <a:rPr lang="en-US"/>
            </a:br>
            <a:br>
              <a:rPr lang="en-US"/>
            </a:br>
            <a:r>
              <a:rPr lang="en-US"/>
              <a:t>Le but : construire des interfaces plus vite.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Bootstrap = des styles et composants prêts à l'emploi pour aller plus vite.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bouton bleu professionnel avec seulement class="btn btn-primary".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page responsive avec la grille Bootstrap, sans écrire une seule media query.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 est l'avantage principal de Bootstrap ?</a:t>
            </a:r>
            <a:endParaRPr/>
          </a:p>
        </p:txBody>
      </p:sp>
      <p:sp>
        <p:nvSpPr>
          <p:cNvPr id="2001" name="Google Shape;200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8" name="Google Shape;205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Le Grid System de Bootstrap est très simple : chaque ligne, qu'on appelle row, est divisée en 12 colonnes.</a:t>
            </a:r>
            <a:br>
              <a:rPr lang="en-US"/>
            </a:br>
            <a:br>
              <a:rPr lang="en-US"/>
            </a:br>
            <a:r>
              <a:rPr lang="en-US"/>
              <a:t>Si on écrit col-8 et col-4, on obtient 8 colonnes plus 4 colonnes, donc 12 : une grande zone et une petite. Avec col-6 et col-6, on a deux zones égales.</a:t>
            </a:r>
            <a:br>
              <a:rPr lang="en-US"/>
            </a:br>
            <a:br>
              <a:rPr lang="en-US"/>
            </a:br>
            <a:r>
              <a:rPr lang="en-US"/>
              <a:t>Règle : additionnez les nombres, et essayez d'arriver à 12.</a:t>
            </a:r>
            <a:br>
              <a:rPr lang="en-US"/>
            </a:br>
            <a:br>
              <a:rPr lang="en-US"/>
            </a:br>
            <a:r>
              <a:rPr lang="en-US"/>
              <a:t>À droite, les containers. Le container centre le contenu et laisse des marges sur les côtés. Le container-fluid prend toute la largeur de l'écran.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Une row = 12 colonnes. .container = centré avec marges. .container-fluid = pleine largeur.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col-8 + col-4 : le contenu principal et une barre latérale.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col-6 + col-6 : deux cartes de même largeur.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Si j'utilise col-9, combien de colonnes reste-t-il pour remplir la ligne ?</a:t>
            </a:r>
            <a:endParaRPr/>
          </a:p>
        </p:txBody>
      </p:sp>
      <p:sp>
        <p:nvSpPr>
          <p:cNvPr id="2059" name="Google Shape;2059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0" name="Google Shape;2130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Bootstrap donne du sens aux couleurs.</a:t>
            </a:r>
            <a:br>
              <a:rPr lang="en-US"/>
            </a:br>
            <a:br>
              <a:rPr lang="en-US"/>
            </a:br>
            <a:r>
              <a:rPr lang="en-US"/>
              <a:t>À gauche, les boutons. On écrit btn, puis btn-primary, btn-success, btn-danger... Primary, c'est l'action principale. Success, c'est une confirmation. Danger, c'est une action risquée comme supprimer. Warning, c'est un avertissement. Il y a aussi secondary, info, light, dark et link.</a:t>
            </a:r>
            <a:br>
              <a:rPr lang="en-US"/>
            </a:br>
            <a:br>
              <a:rPr lang="en-US"/>
            </a:br>
            <a:r>
              <a:rPr lang="en-US"/>
              <a:t>À droite, les alertes : une div avec la classe alert et alert-success, alert-danger, etc. Bleu pour l'information, vert quand tout va bien, rouge pour une erreur, jaune pour un avertissement.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La couleur donne le sens : success = OK, danger = attention, warning = prudence.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 bouton « Delete » avec btn btn-danger.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 message « Profile saved » avec alert alert-success.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classe utiliseriez-vous pour un bouton « Supprimer » ?</a:t>
            </a:r>
            <a:endParaRPr/>
          </a:p>
        </p:txBody>
      </p:sp>
      <p:sp>
        <p:nvSpPr>
          <p:cNvPr id="2131" name="Google Shape;2131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0" name="Google Shape;218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Deux composants très utilisés.</a:t>
            </a:r>
            <a:br>
              <a:rPr lang="en-US"/>
            </a:br>
            <a:br>
              <a:rPr lang="en-US"/>
            </a:br>
            <a:r>
              <a:rPr lang="en-US"/>
              <a:t>La navbar, c'est la barre de navigation en haut du site : un logo, puis Home, About, Services, Contact. Avec Bootstrap, on écrit une balise nav avec les classes navbar et bg-dark, et on obtient une barre prête à l'emploi. Elle peut même devenir un menu compact sur mobile.</a:t>
            </a:r>
            <a:br>
              <a:rPr lang="en-US"/>
            </a:br>
            <a:br>
              <a:rPr lang="en-US"/>
            </a:br>
            <a:r>
              <a:rPr lang="en-US"/>
              <a:t>Ensuite, les progress bars. Une div progress qui contient une div progress-bar. La largeur est donnée par width : 90 pourcent pour HTML, 80 pour CSS, 60 pour JavaScript.</a:t>
            </a:r>
            <a:br>
              <a:rPr lang="en-US"/>
            </a:br>
            <a:br>
              <a:rPr lang="en-US"/>
            </a:br>
            <a:r>
              <a:rPr lang="en-US"/>
              <a:t>On les utilise pour montrer un niveau, une compétence ou l'avancement d'un chargement.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Navbar et progress bar : quelques classes, un résultat professionnel.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navbar avec le logo à gauche et quatre liens de navigation.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Des barres de compétences sur un portfolio : HTML 90%, CSS 80%, JavaScript 60%.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propriété CSS règle la longueur remplie d'une progress bar ?</a:t>
            </a:r>
            <a:endParaRPr/>
          </a:p>
        </p:txBody>
      </p:sp>
      <p:sp>
        <p:nvSpPr>
          <p:cNvPr id="2181" name="Google Shape;218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h13f7ec8055df2070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6" name="Google Shape;2226;h13f7ec8055df2070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Dernier challenge : construire une petite page avec Bootstrap, sans écrire de CSS.</a:t>
            </a:r>
            <a:br>
              <a:rPr lang="en-US"/>
            </a:br>
            <a:br>
              <a:rPr lang="en-US"/>
            </a:br>
            <a:r>
              <a:rPr lang="en-US"/>
              <a:t>Étape 1 : ajouter le lien Bootstrap dans le head. Étape 2 : une navbar avec quatre liens. Étape 3 : trois boutons, primary, success et danger. Étape 4 : deux alertes, une success et une warning. Étape 5 : une barre de progression à 75 pourcent.</a:t>
            </a:r>
            <a:br>
              <a:rPr lang="en-US"/>
            </a:br>
            <a:br>
              <a:rPr lang="en-US"/>
            </a:br>
            <a:r>
              <a:rPr lang="en-US"/>
              <a:t>Regardez le résultat attendu à droite. Vous avez vingt minutes. Bonus : essayez de mettre les boutons dans une grille avec col-4.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Avec Bootstrap, on construit une interface complète en quelques classes.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page d'accueil simple avec navbar et boutons.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page de profil avec alertes de confirmation et barre de progression.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classe faut-il pour un bouton vert de confirmation ?</a:t>
            </a:r>
            <a:endParaRPr/>
          </a:p>
        </p:txBody>
      </p:sp>
      <p:sp>
        <p:nvSpPr>
          <p:cNvPr id="2227" name="Google Shape;2227;h13f7ec8055df2070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4" name="Google Shape;228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Dernier challenge : construire une petite page avec Bootstrap, sans écrire de CSS.</a:t>
            </a:r>
            <a:br>
              <a:rPr lang="en-US"/>
            </a:br>
            <a:br>
              <a:rPr lang="en-US"/>
            </a:br>
            <a:r>
              <a:rPr lang="en-US"/>
              <a:t>Étape 1 : ajouter le lien Bootstrap dans le head. Étape 2 : une navbar avec quatre liens. Étape 3 : trois boutons, primary, success et danger. Étape 4 : deux alertes, une success et une warning. Étape 5 : une barre de progression à 75 pourcent.</a:t>
            </a:r>
            <a:br>
              <a:rPr lang="en-US"/>
            </a:br>
            <a:br>
              <a:rPr lang="en-US"/>
            </a:br>
            <a:r>
              <a:rPr lang="en-US"/>
              <a:t>Regardez le résultat attendu à droite. Vous avez vingt minutes. Bonus : essayez de mettre les boutons dans une grille avec col-4.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Avec Bootstrap, on construit une interface complète en quelques classes.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Une page d'accueil simple avec navbar et boutons.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Une page de profil avec alertes de confirmation et barre de progression.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classe faut-il pour un bouton vert de confirmation ?</a:t>
            </a:r>
            <a:endParaRPr/>
          </a:p>
        </p:txBody>
      </p:sp>
      <p:sp>
        <p:nvSpPr>
          <p:cNvPr id="2285" name="Google Shape;228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7" name="Google Shape;234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Regardons le chemin parcouru. Nous sommes partis de HTML, la structure. Puis CSS, pour le style.</a:t>
            </a:r>
            <a:br>
              <a:rPr lang="en-US"/>
            </a:br>
            <a:br>
              <a:rPr lang="en-US"/>
            </a:br>
            <a:r>
              <a:rPr lang="en-US"/>
              <a:t>Ensuite les Selectors, pour choisir les éléments. Le Box Model, pour comprendre padding, border et margin. La Typography, pour le texte. Display, pour le comportement des éléments.</a:t>
            </a:r>
            <a:br>
              <a:rPr lang="en-US"/>
            </a:br>
            <a:br>
              <a:rPr lang="en-US"/>
            </a:br>
            <a:r>
              <a:rPr lang="en-US"/>
              <a:t>En deuxième ligne : Flexbox pour organiser en ligne ou en colonne, Position pour placer précisément, Grid pour les lignes et les colonnes, Responsive Design pour s'adapter à l'écran, et Bootstrap pour aller plus vite.</a:t>
            </a:r>
            <a:br>
              <a:rPr lang="en-US"/>
            </a:br>
            <a:br>
              <a:rPr lang="en-US"/>
            </a:br>
            <a:r>
              <a:rPr lang="en-US"/>
              <a:t>Et à la fin : construire une vraie interface.</a:t>
            </a:r>
            <a:br>
              <a:rPr lang="en-US"/>
            </a:br>
            <a:br>
              <a:rPr lang="en-US"/>
            </a:br>
            <a:r>
              <a:rPr lang="en-US"/>
              <a:t>En bas, les questions que vous devez maintenant savoir vous poser devant n'importe quelle page web.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Chaque étape prépare la suivante, jusqu'à une vraie interface.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Devant une page de site e-commerce : quel selector, quel Display, Flexbox ou Grid ?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Devant une page mobile : comment la rendre responsive, et Bootstrap peut-il m'aider ?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Quelle étape de la carte avez-vous trouvée la plus difficile ? Pourquoi ?</a:t>
            </a:r>
            <a:endParaRPr/>
          </a:p>
        </p:txBody>
      </p:sp>
      <p:sp>
        <p:nvSpPr>
          <p:cNvPr id="2348" name="Google Shape;2348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4" name="Google Shape;244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🎤 What to say:</a:t>
            </a:r>
            <a:br>
              <a:rPr lang="en-US"/>
            </a:br>
            <a:br>
              <a:rPr lang="en-US"/>
            </a:br>
            <a:r>
              <a:rPr lang="en-US"/>
              <a:t>Voici votre aide-mémoire. Toutes les propriétés essentielles sur une seule page, rangées par catégorie.</a:t>
            </a:r>
            <a:br>
              <a:rPr lang="en-US"/>
            </a:br>
            <a:br>
              <a:rPr lang="en-US"/>
            </a:br>
            <a:r>
              <a:rPr lang="en-US"/>
              <a:t>Text : color, font-family, font-size, font-weight, text-align. Box : width, height, margin, padding, border, border-radius. Look et Layout : background, display et position.</a:t>
            </a:r>
            <a:br>
              <a:rPr lang="en-US"/>
            </a:br>
            <a:br>
              <a:rPr lang="en-US"/>
            </a:br>
            <a:r>
              <a:rPr lang="en-US"/>
              <a:t>En bas : Flexbox avec justify-content, align-items et flex-wrap. Grid avec grid-template-columns et grid-template-rows. Et Responsive avec @media.</a:t>
            </a:r>
            <a:br>
              <a:rPr lang="en-US"/>
            </a:br>
            <a:br>
              <a:rPr lang="en-US"/>
            </a:br>
            <a:r>
              <a:rPr lang="en-US"/>
              <a:t>Gardez cette page. Devant un problème de CSS, cherchez d'abord la bonne catégorie.</a:t>
            </a:r>
            <a:br>
              <a:rPr lang="en-US"/>
            </a:br>
            <a:br>
              <a:rPr lang="en-US"/>
            </a:br>
            <a:r>
              <a:rPr lang="en-US"/>
              <a:t>💡 Key message:</a:t>
            </a:r>
            <a:br>
              <a:rPr lang="en-US"/>
            </a:br>
            <a:br>
              <a:rPr lang="en-US"/>
            </a:br>
            <a:r>
              <a:rPr lang="en-US"/>
              <a:t>Un problème de CSS : trouve d'abord la bonne catégorie, puis la bonne propriété.</a:t>
            </a:r>
            <a:br>
              <a:rPr lang="en-US"/>
            </a:br>
            <a:br>
              <a:rPr lang="en-US"/>
            </a:br>
            <a:r>
              <a:rPr lang="en-US"/>
              <a:t>🧪 Example 1:</a:t>
            </a:r>
            <a:br>
              <a:rPr lang="en-US"/>
            </a:br>
            <a:br>
              <a:rPr lang="en-US"/>
            </a:br>
            <a:r>
              <a:rPr lang="en-US"/>
              <a:t>Le texte est trop petit : catégorie Text, propriété font-size.</a:t>
            </a:r>
            <a:br>
              <a:rPr lang="en-US"/>
            </a:br>
            <a:br>
              <a:rPr lang="en-US"/>
            </a:br>
            <a:r>
              <a:rPr lang="en-US"/>
              <a:t>🧪 Example 2:</a:t>
            </a:r>
            <a:br>
              <a:rPr lang="en-US"/>
            </a:br>
            <a:br>
              <a:rPr lang="en-US"/>
            </a:br>
            <a:r>
              <a:rPr lang="en-US"/>
              <a:t>Deux cartes sont collées : catégorie Box, propriété margin.</a:t>
            </a:r>
            <a:br>
              <a:rPr lang="en-US"/>
            </a:br>
            <a:br>
              <a:rPr lang="en-US"/>
            </a:br>
            <a:r>
              <a:rPr lang="en-US"/>
              <a:t>❓ Quick question:</a:t>
            </a:r>
            <a:br>
              <a:rPr lang="en-US"/>
            </a:br>
            <a:br>
              <a:rPr lang="en-US"/>
            </a:br>
            <a:r>
              <a:rPr lang="en-US"/>
              <a:t>Dans quelle catégorie se trouve justify-content ?</a:t>
            </a:r>
            <a:endParaRPr/>
          </a:p>
        </p:txBody>
      </p:sp>
      <p:sp>
        <p:nvSpPr>
          <p:cNvPr id="2445" name="Google Shape;244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79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8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67.png"/><Relationship Id="rId6" Type="http://schemas.openxmlformats.org/officeDocument/2006/relationships/image" Target="../media/image8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41.png"/><Relationship Id="rId5" Type="http://schemas.openxmlformats.org/officeDocument/2006/relationships/image" Target="../media/image58.png"/><Relationship Id="rId6" Type="http://schemas.openxmlformats.org/officeDocument/2006/relationships/image" Target="../media/image104.png"/><Relationship Id="rId7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67.png"/><Relationship Id="rId6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94.png"/><Relationship Id="rId5" Type="http://schemas.openxmlformats.org/officeDocument/2006/relationships/image" Target="../media/image77.png"/><Relationship Id="rId6" Type="http://schemas.openxmlformats.org/officeDocument/2006/relationships/image" Target="../media/image8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Relationship Id="rId4" Type="http://schemas.openxmlformats.org/officeDocument/2006/relationships/image" Target="../media/image131.png"/><Relationship Id="rId10" Type="http://schemas.openxmlformats.org/officeDocument/2006/relationships/image" Target="../media/image100.png"/><Relationship Id="rId9" Type="http://schemas.openxmlformats.org/officeDocument/2006/relationships/image" Target="../media/image99.png"/><Relationship Id="rId5" Type="http://schemas.openxmlformats.org/officeDocument/2006/relationships/image" Target="../media/image113.png"/><Relationship Id="rId6" Type="http://schemas.openxmlformats.org/officeDocument/2006/relationships/image" Target="../media/image115.png"/><Relationship Id="rId7" Type="http://schemas.openxmlformats.org/officeDocument/2006/relationships/image" Target="../media/image80.png"/><Relationship Id="rId8" Type="http://schemas.openxmlformats.org/officeDocument/2006/relationships/image" Target="../media/image10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Relationship Id="rId4" Type="http://schemas.openxmlformats.org/officeDocument/2006/relationships/image" Target="../media/image105.png"/><Relationship Id="rId5" Type="http://schemas.openxmlformats.org/officeDocument/2006/relationships/image" Target="../media/image98.png"/><Relationship Id="rId6" Type="http://schemas.openxmlformats.org/officeDocument/2006/relationships/image" Target="../media/image10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Relationship Id="rId4" Type="http://schemas.openxmlformats.org/officeDocument/2006/relationships/image" Target="../media/image80.png"/><Relationship Id="rId5" Type="http://schemas.openxmlformats.org/officeDocument/2006/relationships/image" Target="../media/image9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Relationship Id="rId4" Type="http://schemas.openxmlformats.org/officeDocument/2006/relationships/image" Target="../media/image97.png"/><Relationship Id="rId5" Type="http://schemas.openxmlformats.org/officeDocument/2006/relationships/image" Target="../media/image1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Relationship Id="rId4" Type="http://schemas.openxmlformats.org/officeDocument/2006/relationships/image" Target="../media/image101.png"/><Relationship Id="rId5" Type="http://schemas.openxmlformats.org/officeDocument/2006/relationships/image" Target="../media/image138.png"/><Relationship Id="rId6" Type="http://schemas.openxmlformats.org/officeDocument/2006/relationships/image" Target="../media/image1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Relationship Id="rId4" Type="http://schemas.openxmlformats.org/officeDocument/2006/relationships/image" Target="../media/image102.png"/><Relationship Id="rId5" Type="http://schemas.openxmlformats.org/officeDocument/2006/relationships/image" Target="../media/image129.png"/><Relationship Id="rId6" Type="http://schemas.openxmlformats.org/officeDocument/2006/relationships/image" Target="../media/image133.png"/><Relationship Id="rId7" Type="http://schemas.openxmlformats.org/officeDocument/2006/relationships/image" Target="../media/image1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6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Relationship Id="rId4" Type="http://schemas.openxmlformats.org/officeDocument/2006/relationships/image" Target="../media/image150.png"/><Relationship Id="rId10" Type="http://schemas.openxmlformats.org/officeDocument/2006/relationships/image" Target="../media/image162.png"/><Relationship Id="rId9" Type="http://schemas.openxmlformats.org/officeDocument/2006/relationships/image" Target="../media/image124.png"/><Relationship Id="rId5" Type="http://schemas.openxmlformats.org/officeDocument/2006/relationships/image" Target="../media/image147.png"/><Relationship Id="rId6" Type="http://schemas.openxmlformats.org/officeDocument/2006/relationships/image" Target="../media/image130.png"/><Relationship Id="rId7" Type="http://schemas.openxmlformats.org/officeDocument/2006/relationships/image" Target="../media/image142.png"/><Relationship Id="rId8" Type="http://schemas.openxmlformats.org/officeDocument/2006/relationships/image" Target="../media/image17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Relationship Id="rId4" Type="http://schemas.openxmlformats.org/officeDocument/2006/relationships/image" Target="../media/image159.png"/><Relationship Id="rId5" Type="http://schemas.openxmlformats.org/officeDocument/2006/relationships/image" Target="../media/image134.png"/><Relationship Id="rId6" Type="http://schemas.openxmlformats.org/officeDocument/2006/relationships/image" Target="../media/image163.png"/><Relationship Id="rId7" Type="http://schemas.openxmlformats.org/officeDocument/2006/relationships/image" Target="../media/image14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Relationship Id="rId4" Type="http://schemas.openxmlformats.org/officeDocument/2006/relationships/image" Target="../media/image136.png"/><Relationship Id="rId11" Type="http://schemas.openxmlformats.org/officeDocument/2006/relationships/image" Target="../media/image168.png"/><Relationship Id="rId10" Type="http://schemas.openxmlformats.org/officeDocument/2006/relationships/image" Target="../media/image141.png"/><Relationship Id="rId9" Type="http://schemas.openxmlformats.org/officeDocument/2006/relationships/image" Target="../media/image156.png"/><Relationship Id="rId5" Type="http://schemas.openxmlformats.org/officeDocument/2006/relationships/image" Target="../media/image164.png"/><Relationship Id="rId6" Type="http://schemas.openxmlformats.org/officeDocument/2006/relationships/image" Target="../media/image140.png"/><Relationship Id="rId7" Type="http://schemas.openxmlformats.org/officeDocument/2006/relationships/image" Target="../media/image178.png"/><Relationship Id="rId8" Type="http://schemas.openxmlformats.org/officeDocument/2006/relationships/image" Target="../media/image15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167.png"/><Relationship Id="rId5" Type="http://schemas.openxmlformats.org/officeDocument/2006/relationships/image" Target="../media/image177.png"/><Relationship Id="rId6" Type="http://schemas.openxmlformats.org/officeDocument/2006/relationships/image" Target="../media/image179.png"/><Relationship Id="rId7" Type="http://schemas.openxmlformats.org/officeDocument/2006/relationships/image" Target="../media/image16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6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6.png"/><Relationship Id="rId4" Type="http://schemas.openxmlformats.org/officeDocument/2006/relationships/image" Target="../media/image39.png"/><Relationship Id="rId5" Type="http://schemas.openxmlformats.org/officeDocument/2006/relationships/image" Target="../media/image67.pn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9.png"/><Relationship Id="rId10" Type="http://schemas.openxmlformats.org/officeDocument/2006/relationships/image" Target="../media/image166.png"/><Relationship Id="rId13" Type="http://schemas.openxmlformats.org/officeDocument/2006/relationships/image" Target="../media/image165.png"/><Relationship Id="rId12" Type="http://schemas.openxmlformats.org/officeDocument/2006/relationships/image" Target="../media/image1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6.png"/><Relationship Id="rId4" Type="http://schemas.openxmlformats.org/officeDocument/2006/relationships/image" Target="../media/image176.png"/><Relationship Id="rId9" Type="http://schemas.openxmlformats.org/officeDocument/2006/relationships/image" Target="../media/image170.png"/><Relationship Id="rId15" Type="http://schemas.openxmlformats.org/officeDocument/2006/relationships/image" Target="../media/image172.png"/><Relationship Id="rId14" Type="http://schemas.openxmlformats.org/officeDocument/2006/relationships/image" Target="../media/image186.png"/><Relationship Id="rId5" Type="http://schemas.openxmlformats.org/officeDocument/2006/relationships/image" Target="../media/image174.png"/><Relationship Id="rId6" Type="http://schemas.openxmlformats.org/officeDocument/2006/relationships/image" Target="../media/image183.png"/><Relationship Id="rId7" Type="http://schemas.openxmlformats.org/officeDocument/2006/relationships/image" Target="../media/image181.png"/><Relationship Id="rId8" Type="http://schemas.openxmlformats.org/officeDocument/2006/relationships/image" Target="../media/image18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6.png"/><Relationship Id="rId4" Type="http://schemas.openxmlformats.org/officeDocument/2006/relationships/image" Target="../media/image182.png"/><Relationship Id="rId9" Type="http://schemas.openxmlformats.org/officeDocument/2006/relationships/image" Target="../media/image180.png"/><Relationship Id="rId5" Type="http://schemas.openxmlformats.org/officeDocument/2006/relationships/image" Target="../media/image94.png"/><Relationship Id="rId6" Type="http://schemas.openxmlformats.org/officeDocument/2006/relationships/image" Target="../media/image6.png"/><Relationship Id="rId7" Type="http://schemas.openxmlformats.org/officeDocument/2006/relationships/image" Target="../media/image97.png"/><Relationship Id="rId8" Type="http://schemas.openxmlformats.org/officeDocument/2006/relationships/image" Target="../media/image1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5029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/>
        </p:nvSpPr>
        <p:spPr>
          <a:xfrm>
            <a:off x="548640" y="16002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WEB DEVELOPMENT BOOTCAMP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8640" y="1874520"/>
            <a:ext cx="4206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Style the web, step by step.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3840480"/>
            <a:ext cx="891540" cy="27432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585216" y="3840480"/>
            <a:ext cx="8183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Selectors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531620" y="3840480"/>
            <a:ext cx="891540" cy="27432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1568196" y="3840480"/>
            <a:ext cx="8183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Box 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2514600" y="3840480"/>
            <a:ext cx="754380" cy="27432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/>
        </p:nvSpPr>
        <p:spPr>
          <a:xfrm>
            <a:off x="2551176" y="3840480"/>
            <a:ext cx="6812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Flexbox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360420" y="3840480"/>
            <a:ext cx="548640" cy="27432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 txBox="1"/>
          <p:nvPr/>
        </p:nvSpPr>
        <p:spPr>
          <a:xfrm>
            <a:off x="3396996" y="3840480"/>
            <a:ext cx="4754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000500" y="3840480"/>
            <a:ext cx="891540" cy="274320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4037076" y="3840480"/>
            <a:ext cx="8183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Bootstrap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029200" y="777240"/>
            <a:ext cx="3657600" cy="3566160"/>
          </a:xfrm>
          <a:prstGeom prst="roundRect">
            <a:avLst>
              <a:gd fmla="val 2051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065776" y="1024128"/>
            <a:ext cx="3584448" cy="32826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120640" y="86868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5221224" y="86868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5321808" y="86868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5486400" y="845820"/>
            <a:ext cx="301752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 txBox="1"/>
          <p:nvPr/>
        </p:nvSpPr>
        <p:spPr>
          <a:xfrm>
            <a:off x="5522976" y="845820"/>
            <a:ext cx="294436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my-profile.html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522976" y="1298448"/>
            <a:ext cx="2670048" cy="2734056"/>
          </a:xfrm>
          <a:prstGeom prst="roundRect">
            <a:avLst>
              <a:gd fmla="val 513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492240" y="1481328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1664208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"/>
          <p:cNvSpPr txBox="1"/>
          <p:nvPr/>
        </p:nvSpPr>
        <p:spPr>
          <a:xfrm>
            <a:off x="5522976" y="2322576"/>
            <a:ext cx="26700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172A"/>
                </a:solidFill>
              </a:rPr>
              <a:t>haroun ben ameur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5522976" y="2596896"/>
            <a:ext cx="2670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Web developer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989320" y="2898648"/>
            <a:ext cx="493776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 txBox="1"/>
          <p:nvPr/>
        </p:nvSpPr>
        <p:spPr>
          <a:xfrm>
            <a:off x="6025896" y="2898648"/>
            <a:ext cx="4206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583680" y="2898648"/>
            <a:ext cx="429768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6620256" y="2898648"/>
            <a:ext cx="3566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132320" y="2898648"/>
            <a:ext cx="45720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 txBox="1"/>
          <p:nvPr/>
        </p:nvSpPr>
        <p:spPr>
          <a:xfrm>
            <a:off x="7168896" y="2898648"/>
            <a:ext cx="384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309360" y="3310128"/>
            <a:ext cx="1097280" cy="292608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 txBox="1"/>
          <p:nvPr/>
        </p:nvSpPr>
        <p:spPr>
          <a:xfrm>
            <a:off x="6345936" y="3310128"/>
            <a:ext cx="1024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Follow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57" name="Google Shape;5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1  ·  INTRODUCTION TO 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CSS?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Cascading Style Sheets — the design of a web page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65760" y="1444752"/>
            <a:ext cx="15544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 txBox="1"/>
          <p:nvPr/>
        </p:nvSpPr>
        <p:spPr>
          <a:xfrm>
            <a:off x="402336" y="1444752"/>
            <a:ext cx="14813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 · HTML 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120640" y="1444752"/>
            <a:ext cx="164592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 txBox="1"/>
          <p:nvPr/>
        </p:nvSpPr>
        <p:spPr>
          <a:xfrm>
            <a:off x="5157216" y="1444752"/>
            <a:ext cx="1572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 · HTML + 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65760" y="1737360"/>
            <a:ext cx="3657600" cy="2148840"/>
          </a:xfrm>
          <a:prstGeom prst="roundRect">
            <a:avLst>
              <a:gd fmla="val 3404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02336" y="1984248"/>
            <a:ext cx="3584448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57200" y="18288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557784" y="18288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58368" y="18288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822960" y="1805940"/>
            <a:ext cx="301752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859536" y="1805940"/>
            <a:ext cx="294436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profile.html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585216" y="216712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Times New Roman"/>
              <a:buNone/>
            </a:pPr>
            <a:r>
              <a:rPr b="1" lang="en-US" sz="1800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Haroun ben ameur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585216" y="253288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developer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585216" y="27889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Times New Roman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Tunis, Tunisia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585216" y="3127248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EE"/>
              </a:buClr>
              <a:buSzPts val="1200"/>
              <a:buFont typeface="Times New Roman"/>
              <a:buNone/>
            </a:pPr>
            <a:r>
              <a:rPr b="0" i="0" lang="en-US" sz="1200" u="sng" cap="none" strike="noStrike">
                <a:solidFill>
                  <a:srgbClr val="0000E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4"/>
          <p:cNvCxnSpPr/>
          <p:nvPr/>
        </p:nvCxnSpPr>
        <p:spPr>
          <a:xfrm>
            <a:off x="4160520" y="2834640"/>
            <a:ext cx="82296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" name="Google Shape;78;p4"/>
          <p:cNvSpPr/>
          <p:nvPr/>
        </p:nvSpPr>
        <p:spPr>
          <a:xfrm>
            <a:off x="4279392" y="2487168"/>
            <a:ext cx="594360" cy="23774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4315968" y="2487168"/>
            <a:ext cx="521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120640" y="1737360"/>
            <a:ext cx="3657600" cy="2148840"/>
          </a:xfrm>
          <a:prstGeom prst="roundRect">
            <a:avLst>
              <a:gd fmla="val 3404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157216" y="1984248"/>
            <a:ext cx="3584448" cy="18653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5212080" y="18288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312664" y="18288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5413248" y="18288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577840" y="1805940"/>
            <a:ext cx="301752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 txBox="1"/>
          <p:nvPr/>
        </p:nvSpPr>
        <p:spPr>
          <a:xfrm>
            <a:off x="5614416" y="1805940"/>
            <a:ext cx="294436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profile.html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385816" y="2121408"/>
            <a:ext cx="3127248" cy="1591056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568696" y="2304288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24144" y="24597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 txBox="1"/>
          <p:nvPr/>
        </p:nvSpPr>
        <p:spPr>
          <a:xfrm>
            <a:off x="6254496" y="2331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172A"/>
                </a:solidFill>
              </a:rPr>
              <a:t>Haroun ben ameur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6254496" y="26060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Web developer · Tunis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568696" y="3081528"/>
            <a:ext cx="1097280" cy="310896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/>
        </p:nvSpPr>
        <p:spPr>
          <a:xfrm>
            <a:off x="5605272" y="3081528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Follow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803136" y="3081528"/>
            <a:ext cx="1097280" cy="310896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 txBox="1"/>
          <p:nvPr/>
        </p:nvSpPr>
        <p:spPr>
          <a:xfrm>
            <a:off x="6839712" y="3081528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4069080"/>
            <a:ext cx="36576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02920" y="4151376"/>
            <a:ext cx="402336" cy="40233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481" y="4247937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 txBox="1"/>
          <p:nvPr/>
        </p:nvSpPr>
        <p:spPr>
          <a:xfrm>
            <a:off x="1005840" y="41148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 = 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walls and doors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120640" y="4069080"/>
            <a:ext cx="3657600" cy="566928"/>
          </a:xfrm>
          <a:prstGeom prst="roundRect">
            <a:avLst>
              <a:gd fmla="val 1612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5257800" y="4151376"/>
            <a:ext cx="402336" cy="40233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54361" y="4247937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 txBox="1"/>
          <p:nvPr/>
        </p:nvSpPr>
        <p:spPr>
          <a:xfrm>
            <a:off x="5760720" y="41148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 =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paint and decoration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1  ·  INTRODUCTION TO 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Anatomy of a CSS rule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Every CSS rule has 3 parts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65760" y="1554480"/>
            <a:ext cx="4206240" cy="1228344"/>
          </a:xfrm>
          <a:prstGeom prst="roundRect">
            <a:avLst>
              <a:gd fmla="val 7444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484632" y="1673352"/>
            <a:ext cx="3968496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5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5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5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5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5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32px</a:t>
            </a:r>
            <a:r>
              <a:rPr b="0" i="0" lang="en-US" sz="15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029200" y="1554480"/>
            <a:ext cx="3749040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138928" y="1655064"/>
            <a:ext cx="402336" cy="402336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489" y="1751625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5669280" y="1609344"/>
            <a:ext cx="21945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Selector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Which element?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863840" y="1737360"/>
            <a:ext cx="777240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7900416" y="1737360"/>
            <a:ext cx="704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5"/>
          <p:cNvCxnSpPr/>
          <p:nvPr/>
        </p:nvCxnSpPr>
        <p:spPr>
          <a:xfrm rot="10800000">
            <a:off x="4663440" y="1856232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5"/>
          <p:cNvSpPr/>
          <p:nvPr/>
        </p:nvSpPr>
        <p:spPr>
          <a:xfrm>
            <a:off x="5029200" y="2267712"/>
            <a:ext cx="3749040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5138928" y="2368296"/>
            <a:ext cx="402336" cy="402336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5489" y="2464857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/>
          <p:nvPr/>
        </p:nvSpPr>
        <p:spPr>
          <a:xfrm>
            <a:off x="5669280" y="2322576"/>
            <a:ext cx="21945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do we change?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863840" y="2450592"/>
            <a:ext cx="77724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 txBox="1"/>
          <p:nvPr/>
        </p:nvSpPr>
        <p:spPr>
          <a:xfrm>
            <a:off x="7900416" y="2450592"/>
            <a:ext cx="704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5"/>
          <p:cNvCxnSpPr/>
          <p:nvPr/>
        </p:nvCxnSpPr>
        <p:spPr>
          <a:xfrm rot="10800000">
            <a:off x="4663440" y="2569464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" name="Google Shape;131;p5"/>
          <p:cNvSpPr/>
          <p:nvPr/>
        </p:nvSpPr>
        <p:spPr>
          <a:xfrm>
            <a:off x="5029200" y="2980944"/>
            <a:ext cx="3749040" cy="603504"/>
          </a:xfrm>
          <a:prstGeom prst="roundRect">
            <a:avLst>
              <a:gd fmla="val 15152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138928" y="3081528"/>
            <a:ext cx="402336" cy="402336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5489" y="3178089"/>
            <a:ext cx="209215" cy="209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5669280" y="3035808"/>
            <a:ext cx="21945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Value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How do we change it?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7863840" y="3163824"/>
            <a:ext cx="77724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7900416" y="3163824"/>
            <a:ext cx="704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5"/>
          <p:cNvCxnSpPr/>
          <p:nvPr/>
        </p:nvCxnSpPr>
        <p:spPr>
          <a:xfrm rot="10800000">
            <a:off x="4663440" y="3282696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6A3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p5"/>
          <p:cNvSpPr/>
          <p:nvPr/>
        </p:nvSpPr>
        <p:spPr>
          <a:xfrm>
            <a:off x="365760" y="3063240"/>
            <a:ext cx="4206240" cy="1554480"/>
          </a:xfrm>
          <a:prstGeom prst="roundRect">
            <a:avLst>
              <a:gd fmla="val 4706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02336" y="3310128"/>
            <a:ext cx="4133088" cy="1271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57200" y="315468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57784" y="315468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58368" y="315468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22960" y="3131820"/>
            <a:ext cx="356616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859536" y="3131820"/>
            <a:ext cx="349300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676656" y="3447288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Hello CSS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3712464" y="4306824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029200" y="3767328"/>
            <a:ext cx="3749040" cy="850392"/>
          </a:xfrm>
          <a:prstGeom prst="roundRect">
            <a:avLst>
              <a:gd fmla="val 10753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5212080" y="384048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Read it like a sentence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212080" y="4096512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“For every h1, set the color to blue.”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2  ·  CONNECTING CSS TO HTML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Inline CSS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Style written directly inside the HTML tag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65760" y="1554480"/>
            <a:ext cx="4297680" cy="1418844"/>
          </a:xfrm>
          <a:prstGeom prst="roundRect">
            <a:avLst>
              <a:gd fmla="val 6445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29768" y="1668780"/>
            <a:ext cx="4169664" cy="205994"/>
          </a:xfrm>
          <a:prstGeom prst="roundRect">
            <a:avLst>
              <a:gd fmla="val 17756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29768" y="2259330"/>
            <a:ext cx="4169664" cy="205994"/>
          </a:xfrm>
          <a:prstGeom prst="roundRect">
            <a:avLst>
              <a:gd fmla="val 17756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484632" y="1673352"/>
            <a:ext cx="4059936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&lt;h1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1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"color: blue;"</a:t>
            </a: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Hello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&lt;p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1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"font-size: 20px;"</a:t>
            </a: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65760" y="3291840"/>
            <a:ext cx="429768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401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804672" y="338328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Quick test, one element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3749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 txBox="1"/>
          <p:nvPr/>
        </p:nvSpPr>
        <p:spPr>
          <a:xfrm>
            <a:off x="804672" y="373075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Hard to reuse: repeat everywhere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937760" y="1554480"/>
            <a:ext cx="3840480" cy="2514600"/>
          </a:xfrm>
          <a:prstGeom prst="roundRect">
            <a:avLst>
              <a:gd fmla="val 2909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4974336" y="1801368"/>
            <a:ext cx="3767328" cy="2231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5029200" y="164592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129784" y="164592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5230368" y="164592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394960" y="1623060"/>
            <a:ext cx="320040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5431536" y="1623060"/>
            <a:ext cx="312724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248656" y="202996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Hello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5248656" y="267004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365760" y="4206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005840" y="4206240"/>
            <a:ext cx="2468880" cy="27432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1042416" y="420624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Inline  →  1 element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611880" y="4206240"/>
            <a:ext cx="2468880" cy="27432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3648456" y="420624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Internal  →  1 page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217920" y="4206240"/>
            <a:ext cx="2468880" cy="27432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6254496" y="420624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External  →  the whole website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2  ·  CONNECTING CSS TO HTML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Internal CSS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Style written in a &lt;style&gt; tag inside &lt;head&gt;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365760" y="1554480"/>
            <a:ext cx="4297680" cy="1418844"/>
          </a:xfrm>
          <a:prstGeom prst="roundRect">
            <a:avLst>
              <a:gd fmla="val 6445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429768" y="1865630"/>
            <a:ext cx="4169664" cy="205994"/>
          </a:xfrm>
          <a:prstGeom prst="roundRect">
            <a:avLst>
              <a:gd fmla="val 17756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29768" y="2062480"/>
            <a:ext cx="4169664" cy="205994"/>
          </a:xfrm>
          <a:prstGeom prst="roundRect">
            <a:avLst>
              <a:gd fmla="val 17756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29768" y="2259330"/>
            <a:ext cx="4169664" cy="205994"/>
          </a:xfrm>
          <a:prstGeom prst="roundRect">
            <a:avLst>
              <a:gd fmla="val 17756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429768" y="2456180"/>
            <a:ext cx="4169664" cy="205994"/>
          </a:xfrm>
          <a:prstGeom prst="roundRect">
            <a:avLst>
              <a:gd fmla="val 17756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484632" y="1673352"/>
            <a:ext cx="4059936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&lt;style&gt;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    h1 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1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    p 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1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gray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&lt;/style&gt;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909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65760" y="3291840"/>
            <a:ext cx="4297680" cy="777240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34015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 txBox="1"/>
          <p:nvPr/>
        </p:nvSpPr>
        <p:spPr>
          <a:xfrm>
            <a:off x="804672" y="338328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One place for the whole page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6" name="Google Shape;20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374904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804672" y="373075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Not shared with other pages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937760" y="1554480"/>
            <a:ext cx="3840480" cy="2514600"/>
          </a:xfrm>
          <a:prstGeom prst="roundRect">
            <a:avLst>
              <a:gd fmla="val 2909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4974336" y="1801368"/>
            <a:ext cx="3767328" cy="2231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029200" y="164592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129784" y="164592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5230368" y="164592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5394960" y="1623060"/>
            <a:ext cx="320040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5431536" y="1623060"/>
            <a:ext cx="312724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5248656" y="2029968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My Title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5248656" y="267004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First paragraph in gray.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5248656" y="29900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Second paragraph in gray.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365760" y="4206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005840" y="4206240"/>
            <a:ext cx="2468880" cy="27432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1042416" y="420624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Inline  →  1 element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611880" y="4206240"/>
            <a:ext cx="2468880" cy="27432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3648456" y="420624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Internal  →  1 page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217920" y="4206240"/>
            <a:ext cx="2468880" cy="27432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6254496" y="420624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External  →  the whole website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2  ·  CONNECTING CSS TO HTML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External CSS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separate .css file linked with &lt;link&gt;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65760" y="1481328"/>
            <a:ext cx="1143000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402336" y="1481328"/>
            <a:ext cx="10698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index.html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65760" y="1783080"/>
            <a:ext cx="434340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429768" y="2081530"/>
            <a:ext cx="42153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484632" y="1901952"/>
            <a:ext cx="41056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&lt;link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"style.css"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&lt;/head&gt;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120640" y="1481328"/>
            <a:ext cx="105156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5157216" y="1481328"/>
            <a:ext cx="9784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style.css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120640" y="1783080"/>
            <a:ext cx="3657600" cy="618744"/>
          </a:xfrm>
          <a:prstGeom prst="roundRect">
            <a:avLst>
              <a:gd fmla="val 14778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5239512" y="1901952"/>
            <a:ext cx="341985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gray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8"/>
          <p:cNvCxnSpPr/>
          <p:nvPr/>
        </p:nvCxnSpPr>
        <p:spPr>
          <a:xfrm>
            <a:off x="4754880" y="2194560"/>
            <a:ext cx="320040" cy="0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p8"/>
          <p:cNvSpPr/>
          <p:nvPr/>
        </p:nvSpPr>
        <p:spPr>
          <a:xfrm>
            <a:off x="4736592" y="1874520"/>
            <a:ext cx="384048" cy="201168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4773168" y="1874520"/>
            <a:ext cx="31089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65760" y="2926080"/>
            <a:ext cx="8412480" cy="109728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"/>
          <p:cNvSpPr txBox="1"/>
          <p:nvPr/>
        </p:nvSpPr>
        <p:spPr>
          <a:xfrm>
            <a:off x="502920" y="361188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08760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8"/>
          <p:cNvSpPr txBox="1"/>
          <p:nvPr/>
        </p:nvSpPr>
        <p:spPr>
          <a:xfrm>
            <a:off x="1280160" y="361188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1089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 txBox="1"/>
          <p:nvPr/>
        </p:nvSpPr>
        <p:spPr>
          <a:xfrm>
            <a:off x="2057400" y="361188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8"/>
          <p:cNvCxnSpPr/>
          <p:nvPr/>
        </p:nvCxnSpPr>
        <p:spPr>
          <a:xfrm>
            <a:off x="3200400" y="3337560"/>
            <a:ext cx="1005840" cy="0"/>
          </a:xfrm>
          <a:prstGeom prst="straightConnector1">
            <a:avLst/>
          </a:prstGeom>
          <a:noFill/>
          <a:ln cap="flat" cmpd="sng" w="317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preencoded.png" id="256" name="Google Shape;25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306324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8"/>
          <p:cNvSpPr txBox="1"/>
          <p:nvPr/>
        </p:nvSpPr>
        <p:spPr>
          <a:xfrm>
            <a:off x="4114800" y="37490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style.css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60720" y="310896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 txBox="1"/>
          <p:nvPr/>
        </p:nvSpPr>
        <p:spPr>
          <a:xfrm>
            <a:off x="6126480" y="303580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Best practice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One file, many pages · cleaner 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60720" y="36118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8"/>
          <p:cNvSpPr txBox="1"/>
          <p:nvPr/>
        </p:nvSpPr>
        <p:spPr>
          <a:xfrm>
            <a:off x="6126480" y="358444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Change once → updates everywhere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365760" y="420624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1005840" y="4206240"/>
            <a:ext cx="2468880" cy="27432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 txBox="1"/>
          <p:nvPr/>
        </p:nvSpPr>
        <p:spPr>
          <a:xfrm>
            <a:off x="1042416" y="420624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Inline  →  1 element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611880" y="4206240"/>
            <a:ext cx="2468880" cy="274320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3648456" y="420624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Internal  →  1 page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6217920" y="4206240"/>
            <a:ext cx="2468880" cy="27432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6254496" y="4206240"/>
            <a:ext cx="23957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External  →  the whole website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75" name="Google Shape;2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3  ·  CSS SELECTORS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Type selector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elements by their tag 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365760" y="1554480"/>
            <a:ext cx="3931920" cy="999744"/>
          </a:xfrm>
          <a:prstGeom prst="roundRect">
            <a:avLst>
              <a:gd fmla="val 9146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 txBox="1"/>
          <p:nvPr/>
        </p:nvSpPr>
        <p:spPr>
          <a:xfrm>
            <a:off x="484632" y="1673352"/>
            <a:ext cx="369417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&lt;h1&gt;</a:t>
            </a: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First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Second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Box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365760" y="2697480"/>
            <a:ext cx="3931920" cy="866394"/>
          </a:xfrm>
          <a:prstGeom prst="roundRect">
            <a:avLst>
              <a:gd fmla="val 10554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429768" y="2811780"/>
            <a:ext cx="3803904" cy="218694"/>
          </a:xfrm>
          <a:prstGeom prst="roundRect">
            <a:avLst>
              <a:gd fmla="val 16725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 txBox="1"/>
          <p:nvPr/>
        </p:nvSpPr>
        <p:spPr>
          <a:xfrm>
            <a:off x="484632" y="2816352"/>
            <a:ext cx="3694176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-US" sz="12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365760" y="3749040"/>
            <a:ext cx="3931920" cy="868680"/>
          </a:xfrm>
          <a:prstGeom prst="roundRect">
            <a:avLst>
              <a:gd fmla="val 10526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502920" y="393192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621" y="405262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9"/>
          <p:cNvSpPr txBox="1"/>
          <p:nvPr/>
        </p:nvSpPr>
        <p:spPr>
          <a:xfrm>
            <a:off x="1143000" y="3794760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Selector = choosing the element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  →  every &lt;p&gt; on the page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4572000" y="1554480"/>
            <a:ext cx="4206240" cy="2331720"/>
          </a:xfrm>
          <a:prstGeom prst="roundRect">
            <a:avLst>
              <a:gd fmla="val 3137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4608576" y="1801368"/>
            <a:ext cx="4133088" cy="2048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4663440" y="164592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4764024" y="164592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4864608" y="164592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5029200" y="1623060"/>
            <a:ext cx="356616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5065776" y="1623060"/>
            <a:ext cx="349300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4882896" y="1938528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4882896" y="24414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4882896" y="280720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Second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882896" y="3264408"/>
            <a:ext cx="1280160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4919472" y="3264408"/>
            <a:ext cx="12070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803136" y="2496312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6839712" y="2496312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selected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6803136" y="2862072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 txBox="1"/>
          <p:nvPr/>
        </p:nvSpPr>
        <p:spPr>
          <a:xfrm>
            <a:off x="6839712" y="2862072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selected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300216" y="3328416"/>
            <a:ext cx="91440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 txBox="1"/>
          <p:nvPr/>
        </p:nvSpPr>
        <p:spPr>
          <a:xfrm>
            <a:off x="6336792" y="3328416"/>
            <a:ext cx="8412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not selected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4572000" y="4023360"/>
            <a:ext cx="4206240" cy="594360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42062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9"/>
          <p:cNvSpPr txBox="1"/>
          <p:nvPr/>
        </p:nvSpPr>
        <p:spPr>
          <a:xfrm>
            <a:off x="5120640" y="402336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Same tag name → same style. Simple and powerful.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316" name="Google Shape;3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0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3  ·  CSS SELECTORS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Class &amp; ID selectors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specific elements, not all of them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548640" y="1645920"/>
            <a:ext cx="502920" cy="502920"/>
          </a:xfrm>
          <a:prstGeom prst="roundRect">
            <a:avLst>
              <a:gd fmla="val 25455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 txBox="1"/>
          <p:nvPr/>
        </p:nvSpPr>
        <p:spPr>
          <a:xfrm>
            <a:off x="585216" y="1645920"/>
            <a:ext cx="429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1188720" y="162763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many elements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48640" y="2331720"/>
            <a:ext cx="3749040" cy="974344"/>
          </a:xfrm>
          <a:prstGeom prst="roundRect">
            <a:avLst>
              <a:gd fmla="val 9385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612648" y="2998470"/>
            <a:ext cx="362102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 txBox="1"/>
          <p:nvPr/>
        </p:nvSpPr>
        <p:spPr>
          <a:xfrm>
            <a:off x="667512" y="2450592"/>
            <a:ext cx="3511296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&lt;p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"note"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&lt;p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"note"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.note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orange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48640" y="3438144"/>
            <a:ext cx="1188720" cy="457200"/>
          </a:xfrm>
          <a:prstGeom prst="roundRect">
            <a:avLst>
              <a:gd fmla="val 16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585216" y="343814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1828800" y="3438144"/>
            <a:ext cx="1188720" cy="457200"/>
          </a:xfrm>
          <a:prstGeom prst="roundRect">
            <a:avLst>
              <a:gd fmla="val 16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 txBox="1"/>
          <p:nvPr/>
        </p:nvSpPr>
        <p:spPr>
          <a:xfrm>
            <a:off x="1865376" y="343814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923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3108960" y="3438144"/>
            <a:ext cx="1188720" cy="457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 txBox="1"/>
          <p:nvPr/>
        </p:nvSpPr>
        <p:spPr>
          <a:xfrm>
            <a:off x="3145536" y="343814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548640" y="4206240"/>
            <a:ext cx="219456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585216" y="4206240"/>
            <a:ext cx="21214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One class → many elements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66344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846320" y="1645920"/>
            <a:ext cx="502920" cy="502920"/>
          </a:xfrm>
          <a:prstGeom prst="roundRect">
            <a:avLst>
              <a:gd fmla="val 25455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4882896" y="1645920"/>
            <a:ext cx="429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2600"/>
              <a:buFont typeface="Courier New"/>
              <a:buNone/>
            </a:pPr>
            <a:r>
              <a:rPr b="1" i="0" lang="en-US" sz="26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5486400" y="1627632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only one element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846320" y="2331720"/>
            <a:ext cx="374904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4910328" y="2814320"/>
            <a:ext cx="362102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4965192" y="2450592"/>
            <a:ext cx="35112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&lt;h1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"title"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Hi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&lt;h1&gt;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#title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purple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4846320" y="3255264"/>
            <a:ext cx="1188720" cy="457200"/>
          </a:xfrm>
          <a:prstGeom prst="roundRect">
            <a:avLst>
              <a:gd fmla="val 16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4882896" y="325526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Hi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126480" y="3255264"/>
            <a:ext cx="1188720" cy="457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 txBox="1"/>
          <p:nvPr/>
        </p:nvSpPr>
        <p:spPr>
          <a:xfrm>
            <a:off x="6163056" y="3255264"/>
            <a:ext cx="11155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846320" y="4206240"/>
            <a:ext cx="219456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 txBox="1"/>
          <p:nvPr/>
        </p:nvSpPr>
        <p:spPr>
          <a:xfrm>
            <a:off x="4882896" y="4206240"/>
            <a:ext cx="21214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One id → one element 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355" name="Google Shape;3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1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3  ·  CSS SELECTORS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Descendant &amp; Child combinators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elements by where they are in the HTML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 txBox="1"/>
          <p:nvPr/>
        </p:nvSpPr>
        <p:spPr>
          <a:xfrm>
            <a:off x="548640" y="16002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Descendant  ( space 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548640" y="1920240"/>
            <a:ext cx="3749040" cy="440944"/>
          </a:xfrm>
          <a:prstGeom prst="roundRect">
            <a:avLst>
              <a:gd fmla="val 20737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 txBox="1"/>
          <p:nvPr/>
        </p:nvSpPr>
        <p:spPr>
          <a:xfrm>
            <a:off x="667512" y="2039112"/>
            <a:ext cx="3511296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.box p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1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1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1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11"/>
          <p:cNvCxnSpPr/>
          <p:nvPr/>
        </p:nvCxnSpPr>
        <p:spPr>
          <a:xfrm flipH="1">
            <a:off x="1691640" y="2852928"/>
            <a:ext cx="731520" cy="393192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11"/>
          <p:cNvCxnSpPr/>
          <p:nvPr/>
        </p:nvCxnSpPr>
        <p:spPr>
          <a:xfrm>
            <a:off x="2423160" y="2852928"/>
            <a:ext cx="731520" cy="393192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11"/>
          <p:cNvCxnSpPr/>
          <p:nvPr/>
        </p:nvCxnSpPr>
        <p:spPr>
          <a:xfrm>
            <a:off x="3154680" y="3538728"/>
            <a:ext cx="0" cy="283464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11"/>
          <p:cNvSpPr/>
          <p:nvPr/>
        </p:nvSpPr>
        <p:spPr>
          <a:xfrm>
            <a:off x="1920240" y="2560320"/>
            <a:ext cx="1005840" cy="292608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 cap="flat" cmpd="sng" w="158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 txBox="1"/>
          <p:nvPr/>
        </p:nvSpPr>
        <p:spPr>
          <a:xfrm>
            <a:off x="1956816" y="2560320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.box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1325880" y="3246120"/>
            <a:ext cx="731520" cy="292608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 cap="flat" cmpd="sng" w="158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 txBox="1"/>
          <p:nvPr/>
        </p:nvSpPr>
        <p:spPr>
          <a:xfrm>
            <a:off x="1362456" y="3246120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2788920" y="3246120"/>
            <a:ext cx="731520" cy="292608"/>
          </a:xfrm>
          <a:prstGeom prst="roundRect">
            <a:avLst>
              <a:gd fmla="val 25000" name="adj"/>
            </a:avLst>
          </a:prstGeom>
          <a:solidFill>
            <a:srgbClr val="E2E8F0"/>
          </a:solidFill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 txBox="1"/>
          <p:nvPr/>
        </p:nvSpPr>
        <p:spPr>
          <a:xfrm>
            <a:off x="2825496" y="3246120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2788920" y="3822192"/>
            <a:ext cx="731520" cy="292608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 cap="flat" cmpd="sng" w="158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 txBox="1"/>
          <p:nvPr/>
        </p:nvSpPr>
        <p:spPr>
          <a:xfrm>
            <a:off x="2825496" y="3822192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5" name="Google Shape;37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0552" y="328269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6" name="Google Shape;37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1880" y="38587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1"/>
          <p:cNvSpPr txBox="1"/>
          <p:nvPr/>
        </p:nvSpPr>
        <p:spPr>
          <a:xfrm>
            <a:off x="548640" y="42976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any level inside .box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466344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 txBox="1"/>
          <p:nvPr/>
        </p:nvSpPr>
        <p:spPr>
          <a:xfrm>
            <a:off x="4846320" y="16002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Child  ( &gt; 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846320" y="1920240"/>
            <a:ext cx="3749040" cy="440944"/>
          </a:xfrm>
          <a:prstGeom prst="roundRect">
            <a:avLst>
              <a:gd fmla="val 20737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 txBox="1"/>
          <p:nvPr/>
        </p:nvSpPr>
        <p:spPr>
          <a:xfrm>
            <a:off x="4965192" y="2039112"/>
            <a:ext cx="3511296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.box &gt; p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1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1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1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11"/>
          <p:cNvCxnSpPr/>
          <p:nvPr/>
        </p:nvCxnSpPr>
        <p:spPr>
          <a:xfrm flipH="1">
            <a:off x="5989320" y="2852928"/>
            <a:ext cx="731520" cy="393192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11"/>
          <p:cNvCxnSpPr/>
          <p:nvPr/>
        </p:nvCxnSpPr>
        <p:spPr>
          <a:xfrm>
            <a:off x="6720840" y="2852928"/>
            <a:ext cx="731520" cy="393192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11"/>
          <p:cNvCxnSpPr/>
          <p:nvPr/>
        </p:nvCxnSpPr>
        <p:spPr>
          <a:xfrm>
            <a:off x="7452360" y="3538728"/>
            <a:ext cx="0" cy="283464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11"/>
          <p:cNvSpPr/>
          <p:nvPr/>
        </p:nvSpPr>
        <p:spPr>
          <a:xfrm>
            <a:off x="6217920" y="2560320"/>
            <a:ext cx="1005840" cy="292608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 cap="flat" cmpd="sng" w="158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1"/>
          <p:cNvSpPr txBox="1"/>
          <p:nvPr/>
        </p:nvSpPr>
        <p:spPr>
          <a:xfrm>
            <a:off x="6254496" y="2560320"/>
            <a:ext cx="9326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.box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5623560" y="3246120"/>
            <a:ext cx="731520" cy="292608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 cap="flat" cmpd="sng" w="158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 txBox="1"/>
          <p:nvPr/>
        </p:nvSpPr>
        <p:spPr>
          <a:xfrm>
            <a:off x="5660136" y="3246120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7086600" y="3246120"/>
            <a:ext cx="731520" cy="292608"/>
          </a:xfrm>
          <a:prstGeom prst="roundRect">
            <a:avLst>
              <a:gd fmla="val 25000" name="adj"/>
            </a:avLst>
          </a:prstGeom>
          <a:solidFill>
            <a:srgbClr val="E2E8F0"/>
          </a:solidFill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1"/>
          <p:cNvSpPr txBox="1"/>
          <p:nvPr/>
        </p:nvSpPr>
        <p:spPr>
          <a:xfrm>
            <a:off x="7123176" y="3246120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7086600" y="3822192"/>
            <a:ext cx="731520" cy="292608"/>
          </a:xfrm>
          <a:prstGeom prst="roundRect">
            <a:avLst>
              <a:gd fmla="val 25000" name="adj"/>
            </a:avLst>
          </a:prstGeom>
          <a:solidFill>
            <a:srgbClr val="FEE2E2"/>
          </a:solidFill>
          <a:ln cap="flat" cmpd="sng" w="158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 txBox="1"/>
          <p:nvPr/>
        </p:nvSpPr>
        <p:spPr>
          <a:xfrm>
            <a:off x="7123176" y="3822192"/>
            <a:ext cx="6583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8232" y="328269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4" name="Google Shape;39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9560" y="38587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1"/>
          <p:cNvSpPr txBox="1"/>
          <p:nvPr/>
        </p:nvSpPr>
        <p:spPr>
          <a:xfrm>
            <a:off x="4846320" y="429768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only direct children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402" name="Google Shape;4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2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3  ·  CSS SELECTORS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Sibling combinators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elements that share the same parent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 txBox="1"/>
          <p:nvPr/>
        </p:nvSpPr>
        <p:spPr>
          <a:xfrm>
            <a:off x="548640" y="16002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Adjacent sibling  ( + 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548640" y="1920240"/>
            <a:ext cx="3749040" cy="440944"/>
          </a:xfrm>
          <a:prstGeom prst="roundRect">
            <a:avLst>
              <a:gd fmla="val 20737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 txBox="1"/>
          <p:nvPr/>
        </p:nvSpPr>
        <p:spPr>
          <a:xfrm>
            <a:off x="667512" y="2039112"/>
            <a:ext cx="3511296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h1 + p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1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1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1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1874520" y="2606040"/>
            <a:ext cx="1097280" cy="292608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 cap="flat" cmpd="sng" w="158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 txBox="1"/>
          <p:nvPr/>
        </p:nvSpPr>
        <p:spPr>
          <a:xfrm>
            <a:off x="1911096" y="2606040"/>
            <a:ext cx="1024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p12"/>
          <p:cNvCxnSpPr/>
          <p:nvPr/>
        </p:nvCxnSpPr>
        <p:spPr>
          <a:xfrm>
            <a:off x="2423160" y="2898648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4" name="Google Shape;414;p12"/>
          <p:cNvSpPr/>
          <p:nvPr/>
        </p:nvSpPr>
        <p:spPr>
          <a:xfrm>
            <a:off x="1874520" y="3063240"/>
            <a:ext cx="1097280" cy="292608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 cap="flat" cmpd="sng" w="158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 txBox="1"/>
          <p:nvPr/>
        </p:nvSpPr>
        <p:spPr>
          <a:xfrm>
            <a:off x="1911096" y="3063240"/>
            <a:ext cx="1024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12"/>
          <p:cNvCxnSpPr/>
          <p:nvPr/>
        </p:nvCxnSpPr>
        <p:spPr>
          <a:xfrm>
            <a:off x="2423160" y="3355848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preencoded.png" id="417" name="Google Shape;4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8960" y="30998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2"/>
          <p:cNvSpPr/>
          <p:nvPr/>
        </p:nvSpPr>
        <p:spPr>
          <a:xfrm>
            <a:off x="1874520" y="3520440"/>
            <a:ext cx="1097280" cy="292608"/>
          </a:xfrm>
          <a:prstGeom prst="roundRect">
            <a:avLst>
              <a:gd fmla="val 25000" name="adj"/>
            </a:avLst>
          </a:prstGeom>
          <a:solidFill>
            <a:srgbClr val="E2E8F0"/>
          </a:solidFill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2"/>
          <p:cNvSpPr txBox="1"/>
          <p:nvPr/>
        </p:nvSpPr>
        <p:spPr>
          <a:xfrm>
            <a:off x="1911096" y="3520440"/>
            <a:ext cx="1024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0" name="Google Shape;420;p12"/>
          <p:cNvCxnSpPr/>
          <p:nvPr/>
        </p:nvCxnSpPr>
        <p:spPr>
          <a:xfrm>
            <a:off x="2423160" y="3813048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preencoded.png" id="421" name="Google Shape;42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8960" y="35570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2"/>
          <p:cNvSpPr/>
          <p:nvPr/>
        </p:nvSpPr>
        <p:spPr>
          <a:xfrm>
            <a:off x="1874520" y="3977640"/>
            <a:ext cx="1097280" cy="292608"/>
          </a:xfrm>
          <a:prstGeom prst="roundRect">
            <a:avLst>
              <a:gd fmla="val 25000" name="adj"/>
            </a:avLst>
          </a:prstGeom>
          <a:solidFill>
            <a:srgbClr val="FEE2E2"/>
          </a:solidFill>
          <a:ln cap="flat" cmpd="sng" w="1587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2"/>
          <p:cNvSpPr txBox="1"/>
          <p:nvPr/>
        </p:nvSpPr>
        <p:spPr>
          <a:xfrm>
            <a:off x="1911096" y="3977640"/>
            <a:ext cx="1024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B91C1C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4" name="Google Shape;42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8960" y="40142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2"/>
          <p:cNvSpPr txBox="1"/>
          <p:nvPr/>
        </p:nvSpPr>
        <p:spPr>
          <a:xfrm>
            <a:off x="594360" y="267004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parent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 txBox="1"/>
          <p:nvPr/>
        </p:nvSpPr>
        <p:spPr>
          <a:xfrm>
            <a:off x="548640" y="434340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only the one right after h1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466344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"/>
          <p:cNvSpPr txBox="1"/>
          <p:nvPr/>
        </p:nvSpPr>
        <p:spPr>
          <a:xfrm>
            <a:off x="4846320" y="16002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General sibling  ( ~ 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4846320" y="1920240"/>
            <a:ext cx="3749040" cy="440944"/>
          </a:xfrm>
          <a:prstGeom prst="roundRect">
            <a:avLst>
              <a:gd fmla="val 20737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2"/>
          <p:cNvSpPr txBox="1"/>
          <p:nvPr/>
        </p:nvSpPr>
        <p:spPr>
          <a:xfrm>
            <a:off x="4965192" y="2039112"/>
            <a:ext cx="3511296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h1 ~ p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b="0" i="0" lang="en-US" sz="11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1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red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11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1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6172200" y="2606040"/>
            <a:ext cx="1097280" cy="292608"/>
          </a:xfrm>
          <a:prstGeom prst="roundRect">
            <a:avLst>
              <a:gd fmla="val 25000" name="adj"/>
            </a:avLst>
          </a:prstGeom>
          <a:solidFill>
            <a:srgbClr val="FEF3C7"/>
          </a:solidFill>
          <a:ln cap="flat" cmpd="sng" w="1587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 txBox="1"/>
          <p:nvPr/>
        </p:nvSpPr>
        <p:spPr>
          <a:xfrm>
            <a:off x="6208776" y="2606040"/>
            <a:ext cx="1024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3" name="Google Shape;433;p12"/>
          <p:cNvCxnSpPr/>
          <p:nvPr/>
        </p:nvCxnSpPr>
        <p:spPr>
          <a:xfrm>
            <a:off x="6720840" y="2898648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4" name="Google Shape;434;p12"/>
          <p:cNvSpPr/>
          <p:nvPr/>
        </p:nvSpPr>
        <p:spPr>
          <a:xfrm>
            <a:off x="6172200" y="3063240"/>
            <a:ext cx="1097280" cy="292608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 cap="flat" cmpd="sng" w="158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 txBox="1"/>
          <p:nvPr/>
        </p:nvSpPr>
        <p:spPr>
          <a:xfrm>
            <a:off x="6208776" y="3063240"/>
            <a:ext cx="1024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" name="Google Shape;436;p12"/>
          <p:cNvCxnSpPr/>
          <p:nvPr/>
        </p:nvCxnSpPr>
        <p:spPr>
          <a:xfrm>
            <a:off x="6720840" y="3355848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preencoded.png" id="437" name="Google Shape;43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6640" y="30998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2"/>
          <p:cNvSpPr/>
          <p:nvPr/>
        </p:nvSpPr>
        <p:spPr>
          <a:xfrm>
            <a:off x="6172200" y="3520440"/>
            <a:ext cx="1097280" cy="292608"/>
          </a:xfrm>
          <a:prstGeom prst="roundRect">
            <a:avLst>
              <a:gd fmla="val 25000" name="adj"/>
            </a:avLst>
          </a:prstGeom>
          <a:solidFill>
            <a:srgbClr val="E2E8F0"/>
          </a:solidFill>
          <a:ln cap="flat" cmpd="sng" w="1587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 txBox="1"/>
          <p:nvPr/>
        </p:nvSpPr>
        <p:spPr>
          <a:xfrm>
            <a:off x="6208776" y="3520440"/>
            <a:ext cx="1024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12"/>
          <p:cNvCxnSpPr/>
          <p:nvPr/>
        </p:nvCxnSpPr>
        <p:spPr>
          <a:xfrm>
            <a:off x="6720840" y="3813048"/>
            <a:ext cx="0" cy="164592"/>
          </a:xfrm>
          <a:prstGeom prst="straightConnector1">
            <a:avLst/>
          </a:prstGeom>
          <a:noFill/>
          <a:ln cap="flat" cmpd="sng" w="15875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preencoded.png" id="441" name="Google Shape;44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06640" y="35570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2"/>
          <p:cNvSpPr/>
          <p:nvPr/>
        </p:nvSpPr>
        <p:spPr>
          <a:xfrm>
            <a:off x="6172200" y="3977640"/>
            <a:ext cx="1097280" cy="292608"/>
          </a:xfrm>
          <a:prstGeom prst="roundRect">
            <a:avLst>
              <a:gd fmla="val 25000" name="adj"/>
            </a:avLst>
          </a:prstGeom>
          <a:solidFill>
            <a:srgbClr val="DCFCE7"/>
          </a:solidFill>
          <a:ln cap="flat" cmpd="sng" w="1587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2"/>
          <p:cNvSpPr txBox="1"/>
          <p:nvPr/>
        </p:nvSpPr>
        <p:spPr>
          <a:xfrm>
            <a:off x="6208776" y="3977640"/>
            <a:ext cx="10241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4" name="Google Shape;44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06640" y="401421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2"/>
          <p:cNvSpPr txBox="1"/>
          <p:nvPr/>
        </p:nvSpPr>
        <p:spPr>
          <a:xfrm>
            <a:off x="4892040" y="2670048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parent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4846320" y="434340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all p after h1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453" name="Google Shape;4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3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3  ·  CSS SELECTORS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3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Pseudo-classes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Style an element in a special state or position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3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365760" y="1508760"/>
            <a:ext cx="4114800" cy="251460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 txBox="1"/>
          <p:nvPr/>
        </p:nvSpPr>
        <p:spPr>
          <a:xfrm>
            <a:off x="548640" y="1600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:hover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/>
          <p:nvPr/>
        </p:nvSpPr>
        <p:spPr>
          <a:xfrm>
            <a:off x="548640" y="1920240"/>
            <a:ext cx="3749040" cy="809244"/>
          </a:xfrm>
          <a:prstGeom prst="roundRect">
            <a:avLst>
              <a:gd fmla="val 11299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612648" y="2034540"/>
            <a:ext cx="3621024" cy="199644"/>
          </a:xfrm>
          <a:prstGeom prst="roundRect">
            <a:avLst>
              <a:gd fmla="val 18321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3"/>
          <p:cNvSpPr txBox="1"/>
          <p:nvPr/>
        </p:nvSpPr>
        <p:spPr>
          <a:xfrm>
            <a:off x="667512" y="2039112"/>
            <a:ext cx="351129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button:hover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darkblue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548640" y="292608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 txBox="1"/>
          <p:nvPr/>
        </p:nvSpPr>
        <p:spPr>
          <a:xfrm>
            <a:off x="585216" y="29260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/>
          <p:nvPr/>
        </p:nvSpPr>
        <p:spPr>
          <a:xfrm>
            <a:off x="2880360" y="292608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3"/>
          <p:cNvSpPr txBox="1"/>
          <p:nvPr/>
        </p:nvSpPr>
        <p:spPr>
          <a:xfrm>
            <a:off x="2916936" y="29260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548640" y="3291840"/>
            <a:ext cx="1371600" cy="384048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"/>
          <p:cNvSpPr txBox="1"/>
          <p:nvPr/>
        </p:nvSpPr>
        <p:spPr>
          <a:xfrm>
            <a:off x="585216" y="329184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9" name="Google Shape;469;p13"/>
          <p:cNvCxnSpPr/>
          <p:nvPr/>
        </p:nvCxnSpPr>
        <p:spPr>
          <a:xfrm>
            <a:off x="2148840" y="3483864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0" name="Google Shape;470;p13"/>
          <p:cNvSpPr/>
          <p:nvPr/>
        </p:nvSpPr>
        <p:spPr>
          <a:xfrm>
            <a:off x="2880360" y="3291840"/>
            <a:ext cx="1371600" cy="384048"/>
          </a:xfrm>
          <a:prstGeom prst="roundRect">
            <a:avLst>
              <a:gd fmla="val 14286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 txBox="1"/>
          <p:nvPr/>
        </p:nvSpPr>
        <p:spPr>
          <a:xfrm>
            <a:off x="2916936" y="329184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2" name="Google Shape;4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00" y="347472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3"/>
          <p:cNvSpPr/>
          <p:nvPr/>
        </p:nvSpPr>
        <p:spPr>
          <a:xfrm>
            <a:off x="4663440" y="1508760"/>
            <a:ext cx="4114800" cy="251460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3"/>
          <p:cNvSpPr txBox="1"/>
          <p:nvPr/>
        </p:nvSpPr>
        <p:spPr>
          <a:xfrm>
            <a:off x="4846320" y="16002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:first-child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4846320" y="1920240"/>
            <a:ext cx="3749040" cy="809244"/>
          </a:xfrm>
          <a:prstGeom prst="roundRect">
            <a:avLst>
              <a:gd fmla="val 11299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4910328" y="2034540"/>
            <a:ext cx="3621024" cy="199644"/>
          </a:xfrm>
          <a:prstGeom prst="roundRect">
            <a:avLst>
              <a:gd fmla="val 18321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 txBox="1"/>
          <p:nvPr/>
        </p:nvSpPr>
        <p:spPr>
          <a:xfrm>
            <a:off x="4965192" y="2039112"/>
            <a:ext cx="351129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li:first-child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4846320" y="292608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 txBox="1"/>
          <p:nvPr/>
        </p:nvSpPr>
        <p:spPr>
          <a:xfrm>
            <a:off x="4882896" y="29260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6949440" y="292608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3"/>
          <p:cNvSpPr txBox="1"/>
          <p:nvPr/>
        </p:nvSpPr>
        <p:spPr>
          <a:xfrm>
            <a:off x="6986016" y="29260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 txBox="1"/>
          <p:nvPr/>
        </p:nvSpPr>
        <p:spPr>
          <a:xfrm>
            <a:off x="4846320" y="321868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 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 txBox="1"/>
          <p:nvPr/>
        </p:nvSpPr>
        <p:spPr>
          <a:xfrm>
            <a:off x="6949440" y="321868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 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 txBox="1"/>
          <p:nvPr/>
        </p:nvSpPr>
        <p:spPr>
          <a:xfrm>
            <a:off x="4846320" y="347472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 About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 txBox="1"/>
          <p:nvPr/>
        </p:nvSpPr>
        <p:spPr>
          <a:xfrm>
            <a:off x="6949440" y="347472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 About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 txBox="1"/>
          <p:nvPr/>
        </p:nvSpPr>
        <p:spPr>
          <a:xfrm>
            <a:off x="4846320" y="373075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 Contact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 txBox="1"/>
          <p:nvPr/>
        </p:nvSpPr>
        <p:spPr>
          <a:xfrm>
            <a:off x="6949440" y="3730752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•  Contact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8" name="Google Shape;488;p13"/>
          <p:cNvCxnSpPr/>
          <p:nvPr/>
        </p:nvCxnSpPr>
        <p:spPr>
          <a:xfrm>
            <a:off x="6172200" y="361188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9" name="Google Shape;489;p13"/>
          <p:cNvSpPr txBox="1"/>
          <p:nvPr/>
        </p:nvSpPr>
        <p:spPr>
          <a:xfrm>
            <a:off x="365760" y="416052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MORE PSEUDO-CLASSES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2194560" y="4142232"/>
            <a:ext cx="66294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3"/>
          <p:cNvSpPr txBox="1"/>
          <p:nvPr/>
        </p:nvSpPr>
        <p:spPr>
          <a:xfrm>
            <a:off x="2231136" y="4142232"/>
            <a:ext cx="5897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:focus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2967228" y="4142232"/>
            <a:ext cx="733806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"/>
          <p:cNvSpPr txBox="1"/>
          <p:nvPr/>
        </p:nvSpPr>
        <p:spPr>
          <a:xfrm>
            <a:off x="3003804" y="4142232"/>
            <a:ext cx="66065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:active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3810762" y="4142232"/>
            <a:ext cx="101727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3"/>
          <p:cNvSpPr txBox="1"/>
          <p:nvPr/>
        </p:nvSpPr>
        <p:spPr>
          <a:xfrm>
            <a:off x="3847338" y="4142232"/>
            <a:ext cx="94411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:last-child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4937760" y="4142232"/>
            <a:ext cx="1159002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3"/>
          <p:cNvSpPr txBox="1"/>
          <p:nvPr/>
        </p:nvSpPr>
        <p:spPr>
          <a:xfrm>
            <a:off x="4974336" y="4142232"/>
            <a:ext cx="108585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:nth-child(2)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6206490" y="4142232"/>
            <a:ext cx="804672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"/>
          <p:cNvSpPr txBox="1"/>
          <p:nvPr/>
        </p:nvSpPr>
        <p:spPr>
          <a:xfrm>
            <a:off x="6243066" y="414223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:visited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506" name="Google Shape;5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4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PRACTICE  ·  CHALLENGE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Challenge 1 — Style a button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what you learned about Selectors and pseudo-classes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3" name="Google Shape;5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4"/>
          <p:cNvSpPr txBox="1"/>
          <p:nvPr/>
        </p:nvSpPr>
        <p:spPr>
          <a:xfrm>
            <a:off x="1143000" y="162763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Style the .btn button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548640" y="23317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6" name="Google Shape;51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24140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14"/>
          <p:cNvSpPr txBox="1"/>
          <p:nvPr/>
        </p:nvSpPr>
        <p:spPr>
          <a:xfrm>
            <a:off x="1005840" y="23317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Blue background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2834640" y="2395728"/>
            <a:ext cx="137160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 txBox="1"/>
          <p:nvPr/>
        </p:nvSpPr>
        <p:spPr>
          <a:xfrm>
            <a:off x="2871216" y="239572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548640" y="27889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1" name="Google Shape;52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28712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4"/>
          <p:cNvSpPr txBox="1"/>
          <p:nvPr/>
        </p:nvSpPr>
        <p:spPr>
          <a:xfrm>
            <a:off x="1005840" y="27889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White 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2834640" y="2852928"/>
            <a:ext cx="137160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4"/>
          <p:cNvSpPr txBox="1"/>
          <p:nvPr/>
        </p:nvSpPr>
        <p:spPr>
          <a:xfrm>
            <a:off x="2871216" y="285292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548640" y="32461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6" name="Google Shape;52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3284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4"/>
          <p:cNvSpPr txBox="1"/>
          <p:nvPr/>
        </p:nvSpPr>
        <p:spPr>
          <a:xfrm>
            <a:off x="1005840" y="3246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Padding inside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2834640" y="3310128"/>
            <a:ext cx="137160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4"/>
          <p:cNvSpPr txBox="1"/>
          <p:nvPr/>
        </p:nvSpPr>
        <p:spPr>
          <a:xfrm>
            <a:off x="2871216" y="331012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548640" y="37033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1" name="Google Shape;53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7856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4"/>
          <p:cNvSpPr txBox="1"/>
          <p:nvPr/>
        </p:nvSpPr>
        <p:spPr>
          <a:xfrm>
            <a:off x="1005840" y="37033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Rounded corners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2834640" y="3767328"/>
            <a:ext cx="137160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4"/>
          <p:cNvSpPr txBox="1"/>
          <p:nvPr/>
        </p:nvSpPr>
        <p:spPr>
          <a:xfrm>
            <a:off x="2871216" y="376732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border-radius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4"/>
          <p:cNvSpPr/>
          <p:nvPr/>
        </p:nvSpPr>
        <p:spPr>
          <a:xfrm>
            <a:off x="548640" y="41605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6" name="Google Shape;53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42428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4"/>
          <p:cNvSpPr txBox="1"/>
          <p:nvPr/>
        </p:nvSpPr>
        <p:spPr>
          <a:xfrm>
            <a:off x="1005840" y="4160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Hover effect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2834640" y="4224528"/>
            <a:ext cx="137160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4"/>
          <p:cNvSpPr txBox="1"/>
          <p:nvPr/>
        </p:nvSpPr>
        <p:spPr>
          <a:xfrm>
            <a:off x="2871216" y="422452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:hover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4"/>
          <p:cNvSpPr/>
          <p:nvPr/>
        </p:nvSpPr>
        <p:spPr>
          <a:xfrm>
            <a:off x="4663440" y="1508760"/>
            <a:ext cx="4114800" cy="1691640"/>
          </a:xfrm>
          <a:prstGeom prst="roundRect">
            <a:avLst>
              <a:gd fmla="val 4324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4700016" y="1755648"/>
            <a:ext cx="4041648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4754880" y="16002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4"/>
          <p:cNvSpPr/>
          <p:nvPr/>
        </p:nvSpPr>
        <p:spPr>
          <a:xfrm>
            <a:off x="4855464" y="16002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4"/>
          <p:cNvSpPr/>
          <p:nvPr/>
        </p:nvSpPr>
        <p:spPr>
          <a:xfrm>
            <a:off x="4956048" y="16002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4"/>
          <p:cNvSpPr/>
          <p:nvPr/>
        </p:nvSpPr>
        <p:spPr>
          <a:xfrm>
            <a:off x="5120640" y="1577340"/>
            <a:ext cx="347472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 txBox="1"/>
          <p:nvPr/>
        </p:nvSpPr>
        <p:spPr>
          <a:xfrm>
            <a:off x="5157216" y="1577340"/>
            <a:ext cx="340156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expected-result.html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5020056" y="1865376"/>
            <a:ext cx="68580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 txBox="1"/>
          <p:nvPr/>
        </p:nvSpPr>
        <p:spPr>
          <a:xfrm>
            <a:off x="5056632" y="1865376"/>
            <a:ext cx="612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NORMAL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/>
          <p:nvPr/>
        </p:nvSpPr>
        <p:spPr>
          <a:xfrm>
            <a:off x="6894576" y="186537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4"/>
          <p:cNvSpPr txBox="1"/>
          <p:nvPr/>
        </p:nvSpPr>
        <p:spPr>
          <a:xfrm>
            <a:off x="6931152" y="186537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HOVER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4"/>
          <p:cNvSpPr/>
          <p:nvPr/>
        </p:nvSpPr>
        <p:spPr>
          <a:xfrm>
            <a:off x="5020056" y="2258568"/>
            <a:ext cx="1463040" cy="457200"/>
          </a:xfrm>
          <a:prstGeom prst="roundRect">
            <a:avLst>
              <a:gd fmla="val 2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4"/>
          <p:cNvSpPr txBox="1"/>
          <p:nvPr/>
        </p:nvSpPr>
        <p:spPr>
          <a:xfrm>
            <a:off x="5056632" y="2258568"/>
            <a:ext cx="1389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6894576" y="2258568"/>
            <a:ext cx="1463040" cy="457200"/>
          </a:xfrm>
          <a:prstGeom prst="roundRect">
            <a:avLst>
              <a:gd fmla="val 20000" name="adj"/>
            </a:avLst>
          </a:prstGeom>
          <a:solidFill>
            <a:srgbClr val="1E3A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4"/>
          <p:cNvSpPr txBox="1"/>
          <p:nvPr/>
        </p:nvSpPr>
        <p:spPr>
          <a:xfrm>
            <a:off x="6931152" y="2258568"/>
            <a:ext cx="1389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5" name="Google Shape;55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9016" y="25786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14"/>
          <p:cNvSpPr/>
          <p:nvPr/>
        </p:nvSpPr>
        <p:spPr>
          <a:xfrm>
            <a:off x="4663440" y="3383280"/>
            <a:ext cx="4114800" cy="1158494"/>
          </a:xfrm>
          <a:prstGeom prst="roundRect">
            <a:avLst>
              <a:gd fmla="val 7893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4"/>
          <p:cNvSpPr txBox="1"/>
          <p:nvPr/>
        </p:nvSpPr>
        <p:spPr>
          <a:xfrm>
            <a:off x="4782312" y="3502152"/>
            <a:ext cx="3877056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"btn"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Click me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.btn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/* your CSS here */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4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564" name="Google Shape;5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15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4  ·  CSS BOX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5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CSS Box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5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Every HTML element is a 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5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5"/>
          <p:cNvSpPr/>
          <p:nvPr/>
        </p:nvSpPr>
        <p:spPr>
          <a:xfrm>
            <a:off x="365760" y="1508760"/>
            <a:ext cx="4572000" cy="3154680"/>
          </a:xfrm>
          <a:prstGeom prst="roundRect">
            <a:avLst>
              <a:gd fmla="val 2319" name="adj"/>
            </a:avLst>
          </a:prstGeom>
          <a:solidFill>
            <a:srgbClr val="FEF3C7"/>
          </a:solidFill>
          <a:ln cap="flat" cmpd="sng" w="19050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5"/>
          <p:cNvSpPr txBox="1"/>
          <p:nvPr/>
        </p:nvSpPr>
        <p:spPr>
          <a:xfrm>
            <a:off x="365760" y="157276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5"/>
          <p:cNvSpPr/>
          <p:nvPr/>
        </p:nvSpPr>
        <p:spPr>
          <a:xfrm>
            <a:off x="822960" y="1965960"/>
            <a:ext cx="3657600" cy="2240280"/>
          </a:xfrm>
          <a:prstGeom prst="rect">
            <a:avLst/>
          </a:prstGeom>
          <a:solidFill>
            <a:srgbClr val="BBF7D0"/>
          </a:solidFill>
          <a:ln cap="flat" cmpd="sng" w="508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1965960" y="1856232"/>
            <a:ext cx="1371600" cy="219456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5"/>
          <p:cNvSpPr txBox="1"/>
          <p:nvPr/>
        </p:nvSpPr>
        <p:spPr>
          <a:xfrm>
            <a:off x="2002536" y="1856232"/>
            <a:ext cx="12984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5"/>
          <p:cNvSpPr txBox="1"/>
          <p:nvPr/>
        </p:nvSpPr>
        <p:spPr>
          <a:xfrm>
            <a:off x="822960" y="213055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5"/>
          <p:cNvSpPr/>
          <p:nvPr/>
        </p:nvSpPr>
        <p:spPr>
          <a:xfrm>
            <a:off x="1371600" y="2514600"/>
            <a:ext cx="2560320" cy="1234440"/>
          </a:xfrm>
          <a:prstGeom prst="rect">
            <a:avLst/>
          </a:prstGeom>
          <a:solidFill>
            <a:srgbClr val="DBEAFE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5"/>
          <p:cNvSpPr txBox="1"/>
          <p:nvPr/>
        </p:nvSpPr>
        <p:spPr>
          <a:xfrm>
            <a:off x="1371600" y="2514600"/>
            <a:ext cx="2560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text · image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5"/>
          <p:cNvSpPr/>
          <p:nvPr/>
        </p:nvSpPr>
        <p:spPr>
          <a:xfrm>
            <a:off x="5303520" y="1508760"/>
            <a:ext cx="347472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5413248" y="1636776"/>
            <a:ext cx="420624" cy="420624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9" name="Google Shape;5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4198" y="1737726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15"/>
          <p:cNvSpPr txBox="1"/>
          <p:nvPr/>
        </p:nvSpPr>
        <p:spPr>
          <a:xfrm>
            <a:off x="5943600" y="1581912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space between boxes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5"/>
          <p:cNvSpPr/>
          <p:nvPr/>
        </p:nvSpPr>
        <p:spPr>
          <a:xfrm>
            <a:off x="7498080" y="1728216"/>
            <a:ext cx="1188720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5"/>
          <p:cNvSpPr txBox="1"/>
          <p:nvPr/>
        </p:nvSpPr>
        <p:spPr>
          <a:xfrm>
            <a:off x="7534656" y="1728216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= OUTSIDE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5303520" y="2304288"/>
            <a:ext cx="347472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5413248" y="2432304"/>
            <a:ext cx="420624" cy="42062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5" name="Google Shape;58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4198" y="2533254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15"/>
          <p:cNvSpPr txBox="1"/>
          <p:nvPr/>
        </p:nvSpPr>
        <p:spPr>
          <a:xfrm>
            <a:off x="5943600" y="237744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line around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5"/>
          <p:cNvSpPr/>
          <p:nvPr/>
        </p:nvSpPr>
        <p:spPr>
          <a:xfrm>
            <a:off x="7498080" y="2523744"/>
            <a:ext cx="118872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5"/>
          <p:cNvSpPr txBox="1"/>
          <p:nvPr/>
        </p:nvSpPr>
        <p:spPr>
          <a:xfrm>
            <a:off x="7534656" y="2523744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= 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5"/>
          <p:cNvSpPr/>
          <p:nvPr/>
        </p:nvSpPr>
        <p:spPr>
          <a:xfrm>
            <a:off x="5303520" y="3099816"/>
            <a:ext cx="347472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5413248" y="3227832"/>
            <a:ext cx="420624" cy="420624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1" name="Google Shape;59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14198" y="3328782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15"/>
          <p:cNvSpPr txBox="1"/>
          <p:nvPr/>
        </p:nvSpPr>
        <p:spPr>
          <a:xfrm>
            <a:off x="5943600" y="3172968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space around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/>
          <p:nvPr/>
        </p:nvSpPr>
        <p:spPr>
          <a:xfrm>
            <a:off x="7498080" y="3319272"/>
            <a:ext cx="118872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5"/>
          <p:cNvSpPr txBox="1"/>
          <p:nvPr/>
        </p:nvSpPr>
        <p:spPr>
          <a:xfrm>
            <a:off x="7534656" y="3319272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= INSIDE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5303520" y="3895344"/>
            <a:ext cx="347472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5413248" y="4023360"/>
            <a:ext cx="420624" cy="420624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7" name="Google Shape;59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14198" y="4124310"/>
            <a:ext cx="218724" cy="218724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5"/>
          <p:cNvSpPr txBox="1"/>
          <p:nvPr/>
        </p:nvSpPr>
        <p:spPr>
          <a:xfrm>
            <a:off x="5943600" y="3968496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we display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7498080" y="4114800"/>
            <a:ext cx="118872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 txBox="1"/>
          <p:nvPr/>
        </p:nvSpPr>
        <p:spPr>
          <a:xfrm>
            <a:off x="7534656" y="4114800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= TEXT / IMAGE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607" name="Google Shape;6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16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4  ·  CSS BOX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6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6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Space INSIDE the element, around the content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6"/>
          <p:cNvSpPr/>
          <p:nvPr/>
        </p:nvSpPr>
        <p:spPr>
          <a:xfrm>
            <a:off x="365760" y="1508760"/>
            <a:ext cx="841248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6"/>
          <p:cNvSpPr/>
          <p:nvPr/>
        </p:nvSpPr>
        <p:spPr>
          <a:xfrm>
            <a:off x="502920" y="1591056"/>
            <a:ext cx="13258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6"/>
          <p:cNvSpPr txBox="1"/>
          <p:nvPr/>
        </p:nvSpPr>
        <p:spPr>
          <a:xfrm>
            <a:off x="539496" y="1591056"/>
            <a:ext cx="1252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Example 1 · Button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6"/>
          <p:cNvSpPr/>
          <p:nvPr/>
        </p:nvSpPr>
        <p:spPr>
          <a:xfrm>
            <a:off x="502920" y="1847088"/>
            <a:ext cx="274320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6"/>
          <p:cNvSpPr/>
          <p:nvPr/>
        </p:nvSpPr>
        <p:spPr>
          <a:xfrm>
            <a:off x="566928" y="2145538"/>
            <a:ext cx="26151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6"/>
          <p:cNvSpPr txBox="1"/>
          <p:nvPr/>
        </p:nvSpPr>
        <p:spPr>
          <a:xfrm>
            <a:off x="621792" y="1965960"/>
            <a:ext cx="25054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.btn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12px 24px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6"/>
          <p:cNvSpPr/>
          <p:nvPr/>
        </p:nvSpPr>
        <p:spPr>
          <a:xfrm>
            <a:off x="3520440" y="159105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"/>
          <p:cNvSpPr txBox="1"/>
          <p:nvPr/>
        </p:nvSpPr>
        <p:spPr>
          <a:xfrm>
            <a:off x="3557016" y="159105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6"/>
          <p:cNvSpPr/>
          <p:nvPr/>
        </p:nvSpPr>
        <p:spPr>
          <a:xfrm>
            <a:off x="6446520" y="159105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 txBox="1"/>
          <p:nvPr/>
        </p:nvSpPr>
        <p:spPr>
          <a:xfrm>
            <a:off x="6483096" y="159105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6"/>
          <p:cNvSpPr/>
          <p:nvPr/>
        </p:nvSpPr>
        <p:spPr>
          <a:xfrm>
            <a:off x="3611880" y="2148840"/>
            <a:ext cx="868680" cy="274320"/>
          </a:xfrm>
          <a:prstGeom prst="roundRect">
            <a:avLst>
              <a:gd fmla="val 1333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6"/>
          <p:cNvSpPr txBox="1"/>
          <p:nvPr/>
        </p:nvSpPr>
        <p:spPr>
          <a:xfrm>
            <a:off x="3630168" y="2148840"/>
            <a:ext cx="832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4" name="Google Shape;624;p16"/>
          <p:cNvCxnSpPr/>
          <p:nvPr/>
        </p:nvCxnSpPr>
        <p:spPr>
          <a:xfrm>
            <a:off x="5486400" y="228600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16"/>
          <p:cNvSpPr/>
          <p:nvPr/>
        </p:nvSpPr>
        <p:spPr>
          <a:xfrm>
            <a:off x="6446520" y="1965960"/>
            <a:ext cx="1508760" cy="640080"/>
          </a:xfrm>
          <a:prstGeom prst="roundRect">
            <a:avLst>
              <a:gd fmla="val 7143" name="adj"/>
            </a:avLst>
          </a:prstGeom>
          <a:solidFill>
            <a:srgbClr val="93C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6766560" y="2139696"/>
            <a:ext cx="868680" cy="292608"/>
          </a:xfrm>
          <a:prstGeom prst="roundRect">
            <a:avLst>
              <a:gd fmla="val 937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6"/>
          <p:cNvSpPr txBox="1"/>
          <p:nvPr/>
        </p:nvSpPr>
        <p:spPr>
          <a:xfrm>
            <a:off x="6784848" y="2139696"/>
            <a:ext cx="83210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Click 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6"/>
          <p:cNvSpPr txBox="1"/>
          <p:nvPr/>
        </p:nvSpPr>
        <p:spPr>
          <a:xfrm>
            <a:off x="3520440" y="25603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too tight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6"/>
          <p:cNvSpPr txBox="1"/>
          <p:nvPr/>
        </p:nvSpPr>
        <p:spPr>
          <a:xfrm>
            <a:off x="6446520" y="265176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space inside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6"/>
          <p:cNvSpPr/>
          <p:nvPr/>
        </p:nvSpPr>
        <p:spPr>
          <a:xfrm>
            <a:off x="365760" y="3017520"/>
            <a:ext cx="841248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502920" y="3099816"/>
            <a:ext cx="1204976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6"/>
          <p:cNvSpPr txBox="1"/>
          <p:nvPr/>
        </p:nvSpPr>
        <p:spPr>
          <a:xfrm>
            <a:off x="539496" y="3099816"/>
            <a:ext cx="113182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Example 2 · Card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6"/>
          <p:cNvSpPr/>
          <p:nvPr/>
        </p:nvSpPr>
        <p:spPr>
          <a:xfrm>
            <a:off x="502920" y="3364992"/>
            <a:ext cx="274320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566928" y="3663442"/>
            <a:ext cx="26151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6"/>
          <p:cNvSpPr txBox="1"/>
          <p:nvPr/>
        </p:nvSpPr>
        <p:spPr>
          <a:xfrm>
            <a:off x="621792" y="3483864"/>
            <a:ext cx="25054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.card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20px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6"/>
          <p:cNvSpPr/>
          <p:nvPr/>
        </p:nvSpPr>
        <p:spPr>
          <a:xfrm>
            <a:off x="3520440" y="309981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6"/>
          <p:cNvSpPr txBox="1"/>
          <p:nvPr/>
        </p:nvSpPr>
        <p:spPr>
          <a:xfrm>
            <a:off x="3557016" y="30998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6"/>
          <p:cNvSpPr/>
          <p:nvPr/>
        </p:nvSpPr>
        <p:spPr>
          <a:xfrm>
            <a:off x="6446520" y="309981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6"/>
          <p:cNvSpPr txBox="1"/>
          <p:nvPr/>
        </p:nvSpPr>
        <p:spPr>
          <a:xfrm>
            <a:off x="6483096" y="30998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6"/>
          <p:cNvSpPr/>
          <p:nvPr/>
        </p:nvSpPr>
        <p:spPr>
          <a:xfrm>
            <a:off x="3520440" y="3429000"/>
            <a:ext cx="1737360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6"/>
          <p:cNvSpPr txBox="1"/>
          <p:nvPr/>
        </p:nvSpPr>
        <p:spPr>
          <a:xfrm>
            <a:off x="3593592" y="3502152"/>
            <a:ext cx="16276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6"/>
          <p:cNvSpPr txBox="1"/>
          <p:nvPr/>
        </p:nvSpPr>
        <p:spPr>
          <a:xfrm>
            <a:off x="3593592" y="3703320"/>
            <a:ext cx="162763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Some text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3" name="Google Shape;643;p16"/>
          <p:cNvCxnSpPr/>
          <p:nvPr/>
        </p:nvCxnSpPr>
        <p:spPr>
          <a:xfrm>
            <a:off x="5486400" y="3886200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4" name="Google Shape;644;p16"/>
          <p:cNvSpPr/>
          <p:nvPr/>
        </p:nvSpPr>
        <p:spPr>
          <a:xfrm>
            <a:off x="6446520" y="3383280"/>
            <a:ext cx="2103120" cy="1097280"/>
          </a:xfrm>
          <a:prstGeom prst="roundRect">
            <a:avLst>
              <a:gd fmla="val 5000" name="adj"/>
            </a:avLst>
          </a:prstGeom>
          <a:solidFill>
            <a:srgbClr val="BBF7D0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6"/>
          <p:cNvSpPr/>
          <p:nvPr/>
        </p:nvSpPr>
        <p:spPr>
          <a:xfrm>
            <a:off x="6647688" y="3584448"/>
            <a:ext cx="1700784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6"/>
          <p:cNvSpPr txBox="1"/>
          <p:nvPr/>
        </p:nvSpPr>
        <p:spPr>
          <a:xfrm>
            <a:off x="6693408" y="3602736"/>
            <a:ext cx="17007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6"/>
          <p:cNvSpPr txBox="1"/>
          <p:nvPr/>
        </p:nvSpPr>
        <p:spPr>
          <a:xfrm>
            <a:off x="6693408" y="3803904"/>
            <a:ext cx="17007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Some text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6"/>
          <p:cNvSpPr/>
          <p:nvPr/>
        </p:nvSpPr>
        <p:spPr>
          <a:xfrm>
            <a:off x="7223760" y="3099816"/>
            <a:ext cx="68580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6"/>
          <p:cNvSpPr txBox="1"/>
          <p:nvPr/>
        </p:nvSpPr>
        <p:spPr>
          <a:xfrm>
            <a:off x="7260336" y="3099816"/>
            <a:ext cx="612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6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656" name="Google Shape;6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7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4  ·  CSS BOX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7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7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Space OUTSIDE the element, between boxes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7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7"/>
          <p:cNvSpPr/>
          <p:nvPr/>
        </p:nvSpPr>
        <p:spPr>
          <a:xfrm>
            <a:off x="365760" y="1508760"/>
            <a:ext cx="841248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7"/>
          <p:cNvSpPr/>
          <p:nvPr/>
        </p:nvSpPr>
        <p:spPr>
          <a:xfrm>
            <a:off x="502920" y="1591056"/>
            <a:ext cx="1507236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7"/>
          <p:cNvSpPr txBox="1"/>
          <p:nvPr/>
        </p:nvSpPr>
        <p:spPr>
          <a:xfrm>
            <a:off x="539496" y="1591056"/>
            <a:ext cx="14340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Example 1 · Two cards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502920" y="1847088"/>
            <a:ext cx="274320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7"/>
          <p:cNvSpPr/>
          <p:nvPr/>
        </p:nvSpPr>
        <p:spPr>
          <a:xfrm>
            <a:off x="566928" y="2145538"/>
            <a:ext cx="26151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7"/>
          <p:cNvSpPr txBox="1"/>
          <p:nvPr/>
        </p:nvSpPr>
        <p:spPr>
          <a:xfrm>
            <a:off x="621792" y="1965960"/>
            <a:ext cx="25054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.card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20px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7"/>
          <p:cNvSpPr/>
          <p:nvPr/>
        </p:nvSpPr>
        <p:spPr>
          <a:xfrm>
            <a:off x="3520440" y="159105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7"/>
          <p:cNvSpPr txBox="1"/>
          <p:nvPr/>
        </p:nvSpPr>
        <p:spPr>
          <a:xfrm>
            <a:off x="3557016" y="159105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7"/>
          <p:cNvSpPr/>
          <p:nvPr/>
        </p:nvSpPr>
        <p:spPr>
          <a:xfrm>
            <a:off x="6400800" y="159105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7"/>
          <p:cNvSpPr txBox="1"/>
          <p:nvPr/>
        </p:nvSpPr>
        <p:spPr>
          <a:xfrm>
            <a:off x="6437376" y="159105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7"/>
          <p:cNvSpPr/>
          <p:nvPr/>
        </p:nvSpPr>
        <p:spPr>
          <a:xfrm>
            <a:off x="3566160" y="2011680"/>
            <a:ext cx="822960" cy="640080"/>
          </a:xfrm>
          <a:prstGeom prst="roundRect">
            <a:avLst>
              <a:gd fmla="val 7143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7"/>
          <p:cNvSpPr txBox="1"/>
          <p:nvPr/>
        </p:nvSpPr>
        <p:spPr>
          <a:xfrm>
            <a:off x="3602736" y="2011680"/>
            <a:ext cx="749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7"/>
          <p:cNvSpPr/>
          <p:nvPr/>
        </p:nvSpPr>
        <p:spPr>
          <a:xfrm>
            <a:off x="4407408" y="2011680"/>
            <a:ext cx="822960" cy="640080"/>
          </a:xfrm>
          <a:prstGeom prst="roundRect">
            <a:avLst>
              <a:gd fmla="val 7143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7"/>
          <p:cNvSpPr txBox="1"/>
          <p:nvPr/>
        </p:nvSpPr>
        <p:spPr>
          <a:xfrm>
            <a:off x="4443984" y="2011680"/>
            <a:ext cx="749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7"/>
          <p:cNvSpPr txBox="1"/>
          <p:nvPr/>
        </p:nvSpPr>
        <p:spPr>
          <a:xfrm>
            <a:off x="3566160" y="269748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too close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6" name="Google Shape;676;p17"/>
          <p:cNvCxnSpPr/>
          <p:nvPr/>
        </p:nvCxnSpPr>
        <p:spPr>
          <a:xfrm>
            <a:off x="5440680" y="233172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7" name="Google Shape;677;p17"/>
          <p:cNvSpPr/>
          <p:nvPr/>
        </p:nvSpPr>
        <p:spPr>
          <a:xfrm>
            <a:off x="6400800" y="2011680"/>
            <a:ext cx="822960" cy="640080"/>
          </a:xfrm>
          <a:prstGeom prst="roundRect">
            <a:avLst>
              <a:gd fmla="val 7143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7"/>
          <p:cNvSpPr txBox="1"/>
          <p:nvPr/>
        </p:nvSpPr>
        <p:spPr>
          <a:xfrm>
            <a:off x="6437376" y="2011680"/>
            <a:ext cx="749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7"/>
          <p:cNvSpPr/>
          <p:nvPr/>
        </p:nvSpPr>
        <p:spPr>
          <a:xfrm>
            <a:off x="7223760" y="2011680"/>
            <a:ext cx="457200" cy="64008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7"/>
          <p:cNvSpPr/>
          <p:nvPr/>
        </p:nvSpPr>
        <p:spPr>
          <a:xfrm>
            <a:off x="7680960" y="2011680"/>
            <a:ext cx="822960" cy="640080"/>
          </a:xfrm>
          <a:prstGeom prst="roundRect">
            <a:avLst>
              <a:gd fmla="val 7143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7"/>
          <p:cNvSpPr txBox="1"/>
          <p:nvPr/>
        </p:nvSpPr>
        <p:spPr>
          <a:xfrm>
            <a:off x="7717536" y="2011680"/>
            <a:ext cx="7498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7"/>
          <p:cNvSpPr txBox="1"/>
          <p:nvPr/>
        </p:nvSpPr>
        <p:spPr>
          <a:xfrm>
            <a:off x="7223760" y="269748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7"/>
          <p:cNvSpPr/>
          <p:nvPr/>
        </p:nvSpPr>
        <p:spPr>
          <a:xfrm>
            <a:off x="365760" y="3017520"/>
            <a:ext cx="841248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7"/>
          <p:cNvSpPr/>
          <p:nvPr/>
        </p:nvSpPr>
        <p:spPr>
          <a:xfrm>
            <a:off x="502920" y="3099816"/>
            <a:ext cx="1688592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7"/>
          <p:cNvSpPr txBox="1"/>
          <p:nvPr/>
        </p:nvSpPr>
        <p:spPr>
          <a:xfrm>
            <a:off x="539496" y="3099816"/>
            <a:ext cx="1615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Example 2 · Two sections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7"/>
          <p:cNvSpPr/>
          <p:nvPr/>
        </p:nvSpPr>
        <p:spPr>
          <a:xfrm>
            <a:off x="502920" y="3364992"/>
            <a:ext cx="274320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17"/>
          <p:cNvSpPr/>
          <p:nvPr/>
        </p:nvSpPr>
        <p:spPr>
          <a:xfrm>
            <a:off x="566928" y="3663442"/>
            <a:ext cx="26151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7"/>
          <p:cNvSpPr txBox="1"/>
          <p:nvPr/>
        </p:nvSpPr>
        <p:spPr>
          <a:xfrm>
            <a:off x="621792" y="3483864"/>
            <a:ext cx="25054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section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margin-bottom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40px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7"/>
          <p:cNvSpPr/>
          <p:nvPr/>
        </p:nvSpPr>
        <p:spPr>
          <a:xfrm>
            <a:off x="3520440" y="309981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7"/>
          <p:cNvSpPr txBox="1"/>
          <p:nvPr/>
        </p:nvSpPr>
        <p:spPr>
          <a:xfrm>
            <a:off x="3557016" y="30998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7"/>
          <p:cNvSpPr/>
          <p:nvPr/>
        </p:nvSpPr>
        <p:spPr>
          <a:xfrm>
            <a:off x="6446520" y="309981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7"/>
          <p:cNvSpPr txBox="1"/>
          <p:nvPr/>
        </p:nvSpPr>
        <p:spPr>
          <a:xfrm>
            <a:off x="6483096" y="30998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7"/>
          <p:cNvSpPr/>
          <p:nvPr/>
        </p:nvSpPr>
        <p:spPr>
          <a:xfrm>
            <a:off x="3566160" y="3520440"/>
            <a:ext cx="1828800" cy="32004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7"/>
          <p:cNvSpPr txBox="1"/>
          <p:nvPr/>
        </p:nvSpPr>
        <p:spPr>
          <a:xfrm>
            <a:off x="3602736" y="3520440"/>
            <a:ext cx="17556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Section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7"/>
          <p:cNvSpPr/>
          <p:nvPr/>
        </p:nvSpPr>
        <p:spPr>
          <a:xfrm>
            <a:off x="3566160" y="3858768"/>
            <a:ext cx="1828800" cy="32004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7"/>
          <p:cNvSpPr txBox="1"/>
          <p:nvPr/>
        </p:nvSpPr>
        <p:spPr>
          <a:xfrm>
            <a:off x="3602736" y="3858768"/>
            <a:ext cx="17556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Section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7" name="Google Shape;697;p17"/>
          <p:cNvCxnSpPr/>
          <p:nvPr/>
        </p:nvCxnSpPr>
        <p:spPr>
          <a:xfrm>
            <a:off x="5532120" y="3840480"/>
            <a:ext cx="6858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8" name="Google Shape;698;p17"/>
          <p:cNvSpPr/>
          <p:nvPr/>
        </p:nvSpPr>
        <p:spPr>
          <a:xfrm>
            <a:off x="6446520" y="3520440"/>
            <a:ext cx="1828800" cy="32004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7"/>
          <p:cNvSpPr txBox="1"/>
          <p:nvPr/>
        </p:nvSpPr>
        <p:spPr>
          <a:xfrm>
            <a:off x="6483096" y="3520440"/>
            <a:ext cx="17556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Section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7"/>
          <p:cNvSpPr/>
          <p:nvPr/>
        </p:nvSpPr>
        <p:spPr>
          <a:xfrm>
            <a:off x="6446520" y="3840480"/>
            <a:ext cx="1828800" cy="36576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7"/>
          <p:cNvSpPr txBox="1"/>
          <p:nvPr/>
        </p:nvSpPr>
        <p:spPr>
          <a:xfrm>
            <a:off x="6483096" y="3840480"/>
            <a:ext cx="1755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7"/>
          <p:cNvSpPr/>
          <p:nvPr/>
        </p:nvSpPr>
        <p:spPr>
          <a:xfrm>
            <a:off x="6446520" y="4206240"/>
            <a:ext cx="1828800" cy="320040"/>
          </a:xfrm>
          <a:prstGeom prst="roundRect">
            <a:avLst>
              <a:gd fmla="val 11429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7"/>
          <p:cNvSpPr txBox="1"/>
          <p:nvPr/>
        </p:nvSpPr>
        <p:spPr>
          <a:xfrm>
            <a:off x="6483096" y="4206240"/>
            <a:ext cx="175564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Section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7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710" name="Google Shape;71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18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4  ·  CSS BOX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8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Border &amp; border-radius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8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line around the element, and rounded corners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8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8"/>
          <p:cNvSpPr/>
          <p:nvPr/>
        </p:nvSpPr>
        <p:spPr>
          <a:xfrm>
            <a:off x="365760" y="1508760"/>
            <a:ext cx="841248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8"/>
          <p:cNvSpPr/>
          <p:nvPr/>
        </p:nvSpPr>
        <p:spPr>
          <a:xfrm>
            <a:off x="502920" y="1591056"/>
            <a:ext cx="600456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8"/>
          <p:cNvSpPr txBox="1"/>
          <p:nvPr/>
        </p:nvSpPr>
        <p:spPr>
          <a:xfrm>
            <a:off x="539496" y="1591056"/>
            <a:ext cx="527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8"/>
          <p:cNvSpPr/>
          <p:nvPr/>
        </p:nvSpPr>
        <p:spPr>
          <a:xfrm>
            <a:off x="502920" y="1847088"/>
            <a:ext cx="274320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8"/>
          <p:cNvSpPr/>
          <p:nvPr/>
        </p:nvSpPr>
        <p:spPr>
          <a:xfrm>
            <a:off x="566928" y="2145538"/>
            <a:ext cx="26151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8"/>
          <p:cNvSpPr txBox="1"/>
          <p:nvPr/>
        </p:nvSpPr>
        <p:spPr>
          <a:xfrm>
            <a:off x="621792" y="1965960"/>
            <a:ext cx="25054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.box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2px solid blue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3520440" y="159105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8"/>
          <p:cNvSpPr txBox="1"/>
          <p:nvPr/>
        </p:nvSpPr>
        <p:spPr>
          <a:xfrm>
            <a:off x="3557016" y="159105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8"/>
          <p:cNvSpPr/>
          <p:nvPr/>
        </p:nvSpPr>
        <p:spPr>
          <a:xfrm>
            <a:off x="6035040" y="159105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8"/>
          <p:cNvSpPr txBox="1"/>
          <p:nvPr/>
        </p:nvSpPr>
        <p:spPr>
          <a:xfrm>
            <a:off x="6071616" y="159105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3566160" y="1965960"/>
            <a:ext cx="1371600" cy="685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8"/>
          <p:cNvSpPr txBox="1"/>
          <p:nvPr/>
        </p:nvSpPr>
        <p:spPr>
          <a:xfrm>
            <a:off x="3602736" y="1965960"/>
            <a:ext cx="12984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Box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7" name="Google Shape;727;p18"/>
          <p:cNvCxnSpPr/>
          <p:nvPr/>
        </p:nvCxnSpPr>
        <p:spPr>
          <a:xfrm>
            <a:off x="5120640" y="2304288"/>
            <a:ext cx="64008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8" name="Google Shape;728;p18"/>
          <p:cNvSpPr/>
          <p:nvPr/>
        </p:nvSpPr>
        <p:spPr>
          <a:xfrm>
            <a:off x="6035040" y="1965960"/>
            <a:ext cx="1371600" cy="685800"/>
          </a:xfrm>
          <a:prstGeom prst="rect">
            <a:avLst/>
          </a:prstGeom>
          <a:solidFill>
            <a:srgbClr val="F8FAFC"/>
          </a:solidFill>
          <a:ln cap="flat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8"/>
          <p:cNvSpPr txBox="1"/>
          <p:nvPr/>
        </p:nvSpPr>
        <p:spPr>
          <a:xfrm>
            <a:off x="6071616" y="1965960"/>
            <a:ext cx="12984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8"/>
          <p:cNvSpPr/>
          <p:nvPr/>
        </p:nvSpPr>
        <p:spPr>
          <a:xfrm>
            <a:off x="7589520" y="1874520"/>
            <a:ext cx="50292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8"/>
          <p:cNvSpPr txBox="1"/>
          <p:nvPr/>
        </p:nvSpPr>
        <p:spPr>
          <a:xfrm>
            <a:off x="7626096" y="1874520"/>
            <a:ext cx="4297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2px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8"/>
          <p:cNvSpPr/>
          <p:nvPr/>
        </p:nvSpPr>
        <p:spPr>
          <a:xfrm>
            <a:off x="7589520" y="2176272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8"/>
          <p:cNvSpPr txBox="1"/>
          <p:nvPr/>
        </p:nvSpPr>
        <p:spPr>
          <a:xfrm>
            <a:off x="7626096" y="2176272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solid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/>
          <p:nvPr/>
        </p:nvSpPr>
        <p:spPr>
          <a:xfrm>
            <a:off x="7589520" y="2478024"/>
            <a:ext cx="54864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8"/>
          <p:cNvSpPr txBox="1"/>
          <p:nvPr/>
        </p:nvSpPr>
        <p:spPr>
          <a:xfrm>
            <a:off x="7626096" y="2478024"/>
            <a:ext cx="475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blue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8"/>
          <p:cNvSpPr txBox="1"/>
          <p:nvPr/>
        </p:nvSpPr>
        <p:spPr>
          <a:xfrm>
            <a:off x="3520440" y="269748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width · style · color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8"/>
          <p:cNvSpPr/>
          <p:nvPr/>
        </p:nvSpPr>
        <p:spPr>
          <a:xfrm>
            <a:off x="365760" y="3017520"/>
            <a:ext cx="841248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8"/>
          <p:cNvSpPr/>
          <p:nvPr/>
        </p:nvSpPr>
        <p:spPr>
          <a:xfrm>
            <a:off x="502920" y="3099816"/>
            <a:ext cx="102362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8"/>
          <p:cNvSpPr txBox="1"/>
          <p:nvPr/>
        </p:nvSpPr>
        <p:spPr>
          <a:xfrm>
            <a:off x="539496" y="3099816"/>
            <a:ext cx="9504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Border-radius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8"/>
          <p:cNvSpPr/>
          <p:nvPr/>
        </p:nvSpPr>
        <p:spPr>
          <a:xfrm>
            <a:off x="502920" y="3364992"/>
            <a:ext cx="274320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8"/>
          <p:cNvSpPr/>
          <p:nvPr/>
        </p:nvSpPr>
        <p:spPr>
          <a:xfrm>
            <a:off x="566928" y="3663442"/>
            <a:ext cx="26151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8"/>
          <p:cNvSpPr txBox="1"/>
          <p:nvPr/>
        </p:nvSpPr>
        <p:spPr>
          <a:xfrm>
            <a:off x="621792" y="3483864"/>
            <a:ext cx="25054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.box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border-radius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12px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8"/>
          <p:cNvSpPr/>
          <p:nvPr/>
        </p:nvSpPr>
        <p:spPr>
          <a:xfrm>
            <a:off x="3520440" y="309981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8"/>
          <p:cNvSpPr txBox="1"/>
          <p:nvPr/>
        </p:nvSpPr>
        <p:spPr>
          <a:xfrm>
            <a:off x="3557016" y="30998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8"/>
          <p:cNvSpPr/>
          <p:nvPr/>
        </p:nvSpPr>
        <p:spPr>
          <a:xfrm>
            <a:off x="5440680" y="309981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8"/>
          <p:cNvSpPr txBox="1"/>
          <p:nvPr/>
        </p:nvSpPr>
        <p:spPr>
          <a:xfrm>
            <a:off x="5477256" y="30998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8"/>
          <p:cNvSpPr/>
          <p:nvPr/>
        </p:nvSpPr>
        <p:spPr>
          <a:xfrm>
            <a:off x="3566160" y="3474720"/>
            <a:ext cx="73152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8" name="Google Shape;748;p18"/>
          <p:cNvCxnSpPr/>
          <p:nvPr/>
        </p:nvCxnSpPr>
        <p:spPr>
          <a:xfrm>
            <a:off x="4480560" y="384048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9" name="Google Shape;749;p18"/>
          <p:cNvSpPr/>
          <p:nvPr/>
        </p:nvSpPr>
        <p:spPr>
          <a:xfrm>
            <a:off x="5440680" y="3474720"/>
            <a:ext cx="731520" cy="731520"/>
          </a:xfrm>
          <a:prstGeom prst="roundRect">
            <a:avLst>
              <a:gd fmla="val 275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8"/>
          <p:cNvSpPr/>
          <p:nvPr/>
        </p:nvSpPr>
        <p:spPr>
          <a:xfrm>
            <a:off x="5440680" y="4279392"/>
            <a:ext cx="77724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8"/>
          <p:cNvSpPr txBox="1"/>
          <p:nvPr/>
        </p:nvSpPr>
        <p:spPr>
          <a:xfrm>
            <a:off x="5477256" y="4279392"/>
            <a:ext cx="704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12px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8"/>
          <p:cNvSpPr txBox="1"/>
          <p:nvPr/>
        </p:nvSpPr>
        <p:spPr>
          <a:xfrm>
            <a:off x="6400800" y="37033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8"/>
          <p:cNvSpPr/>
          <p:nvPr/>
        </p:nvSpPr>
        <p:spPr>
          <a:xfrm>
            <a:off x="6949440" y="3099816"/>
            <a:ext cx="68580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8"/>
          <p:cNvSpPr txBox="1"/>
          <p:nvPr/>
        </p:nvSpPr>
        <p:spPr>
          <a:xfrm>
            <a:off x="6986016" y="3099816"/>
            <a:ext cx="612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CIRCLE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8"/>
          <p:cNvSpPr/>
          <p:nvPr/>
        </p:nvSpPr>
        <p:spPr>
          <a:xfrm>
            <a:off x="6949440" y="3474720"/>
            <a:ext cx="731520" cy="7315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6" name="Google Shape;7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2320" y="3657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18"/>
          <p:cNvSpPr/>
          <p:nvPr/>
        </p:nvSpPr>
        <p:spPr>
          <a:xfrm>
            <a:off x="6949440" y="4279392"/>
            <a:ext cx="77724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8"/>
          <p:cNvSpPr txBox="1"/>
          <p:nvPr/>
        </p:nvSpPr>
        <p:spPr>
          <a:xfrm>
            <a:off x="6986016" y="4279392"/>
            <a:ext cx="704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50%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8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765" name="Google Shape;7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19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4  ·  CSS BOX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9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Width &amp; Height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9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size of the content 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9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9"/>
          <p:cNvSpPr/>
          <p:nvPr/>
        </p:nvSpPr>
        <p:spPr>
          <a:xfrm>
            <a:off x="365760" y="1508760"/>
            <a:ext cx="3291840" cy="999744"/>
          </a:xfrm>
          <a:prstGeom prst="roundRect">
            <a:avLst>
              <a:gd fmla="val 9146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9"/>
          <p:cNvSpPr/>
          <p:nvPr/>
        </p:nvSpPr>
        <p:spPr>
          <a:xfrm>
            <a:off x="429768" y="1813560"/>
            <a:ext cx="3163824" cy="199644"/>
          </a:xfrm>
          <a:prstGeom prst="roundRect">
            <a:avLst>
              <a:gd fmla="val 18321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9"/>
          <p:cNvSpPr/>
          <p:nvPr/>
        </p:nvSpPr>
        <p:spPr>
          <a:xfrm>
            <a:off x="429768" y="2004060"/>
            <a:ext cx="3163824" cy="199644"/>
          </a:xfrm>
          <a:prstGeom prst="roundRect">
            <a:avLst>
              <a:gd fmla="val 18321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9"/>
          <p:cNvSpPr txBox="1"/>
          <p:nvPr/>
        </p:nvSpPr>
        <p:spPr>
          <a:xfrm>
            <a:off x="484632" y="1627632"/>
            <a:ext cx="305409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.box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200px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100px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9"/>
          <p:cNvSpPr/>
          <p:nvPr/>
        </p:nvSpPr>
        <p:spPr>
          <a:xfrm>
            <a:off x="365760" y="2926080"/>
            <a:ext cx="3291840" cy="809244"/>
          </a:xfrm>
          <a:prstGeom prst="roundRect">
            <a:avLst>
              <a:gd fmla="val 11299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9"/>
          <p:cNvSpPr/>
          <p:nvPr/>
        </p:nvSpPr>
        <p:spPr>
          <a:xfrm>
            <a:off x="429768" y="3230880"/>
            <a:ext cx="3163824" cy="199644"/>
          </a:xfrm>
          <a:prstGeom prst="roundRect">
            <a:avLst>
              <a:gd fmla="val 18321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9"/>
          <p:cNvSpPr txBox="1"/>
          <p:nvPr/>
        </p:nvSpPr>
        <p:spPr>
          <a:xfrm>
            <a:off x="484632" y="3044952"/>
            <a:ext cx="305409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.child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50%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9"/>
          <p:cNvSpPr/>
          <p:nvPr/>
        </p:nvSpPr>
        <p:spPr>
          <a:xfrm>
            <a:off x="365760" y="3931920"/>
            <a:ext cx="3291840" cy="685800"/>
          </a:xfrm>
          <a:prstGeom prst="roundRect">
            <a:avLst>
              <a:gd fmla="val 13333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9"/>
          <p:cNvSpPr txBox="1"/>
          <p:nvPr/>
        </p:nvSpPr>
        <p:spPr>
          <a:xfrm>
            <a:off x="548640" y="3931920"/>
            <a:ext cx="3017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Content box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width and height size this inner part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9"/>
          <p:cNvSpPr/>
          <p:nvPr/>
        </p:nvSpPr>
        <p:spPr>
          <a:xfrm>
            <a:off x="3840480" y="1508760"/>
            <a:ext cx="2514600" cy="315468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9"/>
          <p:cNvSpPr/>
          <p:nvPr/>
        </p:nvSpPr>
        <p:spPr>
          <a:xfrm>
            <a:off x="3977640" y="1600200"/>
            <a:ext cx="1567688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9"/>
          <p:cNvSpPr txBox="1"/>
          <p:nvPr/>
        </p:nvSpPr>
        <p:spPr>
          <a:xfrm>
            <a:off x="4014216" y="1600200"/>
            <a:ext cx="1494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Example 1 · fixed size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9"/>
          <p:cNvSpPr/>
          <p:nvPr/>
        </p:nvSpPr>
        <p:spPr>
          <a:xfrm>
            <a:off x="4114800" y="2743200"/>
            <a:ext cx="1371600" cy="685800"/>
          </a:xfrm>
          <a:prstGeom prst="rect">
            <a:avLst/>
          </a:prstGeom>
          <a:solidFill>
            <a:srgbClr val="DBEAFE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9"/>
          <p:cNvSpPr txBox="1"/>
          <p:nvPr/>
        </p:nvSpPr>
        <p:spPr>
          <a:xfrm>
            <a:off x="4151376" y="2743200"/>
            <a:ext cx="12984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.box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4" name="Google Shape;784;p19"/>
          <p:cNvCxnSpPr/>
          <p:nvPr/>
        </p:nvCxnSpPr>
        <p:spPr>
          <a:xfrm>
            <a:off x="4114800" y="2606040"/>
            <a:ext cx="1371600" cy="0"/>
          </a:xfrm>
          <a:prstGeom prst="straightConnector1">
            <a:avLst/>
          </a:prstGeom>
          <a:noFill/>
          <a:ln cap="flat" cmpd="sng" w="19050">
            <a:solidFill>
              <a:srgbClr val="2563E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5" name="Google Shape;785;p19"/>
          <p:cNvSpPr txBox="1"/>
          <p:nvPr/>
        </p:nvSpPr>
        <p:spPr>
          <a:xfrm>
            <a:off x="3931920" y="233172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width: 200px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6" name="Google Shape;786;p19"/>
          <p:cNvCxnSpPr/>
          <p:nvPr/>
        </p:nvCxnSpPr>
        <p:spPr>
          <a:xfrm>
            <a:off x="5623560" y="2743200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2563EB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7" name="Google Shape;787;p19"/>
          <p:cNvSpPr txBox="1"/>
          <p:nvPr/>
        </p:nvSpPr>
        <p:spPr>
          <a:xfrm>
            <a:off x="5669280" y="2871216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height: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100px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9"/>
          <p:cNvSpPr/>
          <p:nvPr/>
        </p:nvSpPr>
        <p:spPr>
          <a:xfrm>
            <a:off x="6537960" y="1508760"/>
            <a:ext cx="2240280" cy="3154680"/>
          </a:xfrm>
          <a:prstGeom prst="roundRect">
            <a:avLst>
              <a:gd fmla="val 489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9"/>
          <p:cNvSpPr/>
          <p:nvPr/>
        </p:nvSpPr>
        <p:spPr>
          <a:xfrm>
            <a:off x="6675120" y="1600200"/>
            <a:ext cx="162814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9"/>
          <p:cNvSpPr txBox="1"/>
          <p:nvPr/>
        </p:nvSpPr>
        <p:spPr>
          <a:xfrm>
            <a:off x="6711696" y="1600200"/>
            <a:ext cx="15549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Example 2 · % of parent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9"/>
          <p:cNvSpPr/>
          <p:nvPr/>
        </p:nvSpPr>
        <p:spPr>
          <a:xfrm>
            <a:off x="6720840" y="2560320"/>
            <a:ext cx="187452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9"/>
          <p:cNvSpPr txBox="1"/>
          <p:nvPr/>
        </p:nvSpPr>
        <p:spPr>
          <a:xfrm>
            <a:off x="6812280" y="25603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parent  100%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9"/>
          <p:cNvSpPr/>
          <p:nvPr/>
        </p:nvSpPr>
        <p:spPr>
          <a:xfrm>
            <a:off x="6720840" y="2560320"/>
            <a:ext cx="93726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9"/>
          <p:cNvSpPr txBox="1"/>
          <p:nvPr/>
        </p:nvSpPr>
        <p:spPr>
          <a:xfrm>
            <a:off x="6757416" y="2560320"/>
            <a:ext cx="8641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9"/>
          <p:cNvSpPr/>
          <p:nvPr/>
        </p:nvSpPr>
        <p:spPr>
          <a:xfrm>
            <a:off x="6720840" y="3291840"/>
            <a:ext cx="187452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9"/>
          <p:cNvSpPr txBox="1"/>
          <p:nvPr/>
        </p:nvSpPr>
        <p:spPr>
          <a:xfrm>
            <a:off x="6812280" y="329184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smaller parent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9"/>
          <p:cNvSpPr/>
          <p:nvPr/>
        </p:nvSpPr>
        <p:spPr>
          <a:xfrm>
            <a:off x="6720840" y="3291840"/>
            <a:ext cx="5486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9"/>
          <p:cNvSpPr txBox="1"/>
          <p:nvPr/>
        </p:nvSpPr>
        <p:spPr>
          <a:xfrm>
            <a:off x="6739128" y="3291840"/>
            <a:ext cx="512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9"/>
          <p:cNvSpPr txBox="1"/>
          <p:nvPr/>
        </p:nvSpPr>
        <p:spPr>
          <a:xfrm>
            <a:off x="6675120" y="40233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Child adapts to its parent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9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806" name="Google Shape;8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20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5  ·  TEXT AND FONTS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0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Font family &amp; color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0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the typeface and the text color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0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0"/>
          <p:cNvSpPr/>
          <p:nvPr/>
        </p:nvSpPr>
        <p:spPr>
          <a:xfrm>
            <a:off x="365760" y="1508760"/>
            <a:ext cx="3291840" cy="974344"/>
          </a:xfrm>
          <a:prstGeom prst="roundRect">
            <a:avLst>
              <a:gd fmla="val 9385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0"/>
          <p:cNvSpPr/>
          <p:nvPr/>
        </p:nvSpPr>
        <p:spPr>
          <a:xfrm>
            <a:off x="429768" y="1807210"/>
            <a:ext cx="316382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0"/>
          <p:cNvSpPr/>
          <p:nvPr/>
        </p:nvSpPr>
        <p:spPr>
          <a:xfrm>
            <a:off x="429768" y="1991360"/>
            <a:ext cx="316382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0"/>
          <p:cNvSpPr txBox="1"/>
          <p:nvPr/>
        </p:nvSpPr>
        <p:spPr>
          <a:xfrm>
            <a:off x="484632" y="1627632"/>
            <a:ext cx="3054096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Arial, sans-serif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#2563EB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0"/>
          <p:cNvSpPr/>
          <p:nvPr/>
        </p:nvSpPr>
        <p:spPr>
          <a:xfrm>
            <a:off x="365760" y="2697480"/>
            <a:ext cx="3291840" cy="27432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0"/>
          <p:cNvSpPr txBox="1"/>
          <p:nvPr/>
        </p:nvSpPr>
        <p:spPr>
          <a:xfrm>
            <a:off x="402336" y="2697480"/>
            <a:ext cx="32186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Fallback: Arial → any sans-serif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0"/>
          <p:cNvSpPr/>
          <p:nvPr/>
        </p:nvSpPr>
        <p:spPr>
          <a:xfrm>
            <a:off x="3840480" y="1508760"/>
            <a:ext cx="155448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20"/>
          <p:cNvSpPr txBox="1"/>
          <p:nvPr/>
        </p:nvSpPr>
        <p:spPr>
          <a:xfrm>
            <a:off x="3840480" y="155448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800"/>
              <a:buFont typeface="Times New Roman"/>
              <a:buNone/>
            </a:pPr>
            <a:r>
              <a:rPr b="1" i="0" lang="en-US" sz="3800" u="none" cap="none" strike="noStrik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0"/>
          <p:cNvSpPr txBox="1"/>
          <p:nvPr/>
        </p:nvSpPr>
        <p:spPr>
          <a:xfrm>
            <a:off x="3840480" y="237744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serif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0"/>
          <p:cNvSpPr txBox="1"/>
          <p:nvPr/>
        </p:nvSpPr>
        <p:spPr>
          <a:xfrm>
            <a:off x="3840480" y="2633472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Times New Roman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0"/>
          <p:cNvSpPr/>
          <p:nvPr/>
        </p:nvSpPr>
        <p:spPr>
          <a:xfrm>
            <a:off x="5486400" y="1508760"/>
            <a:ext cx="155448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20"/>
          <p:cNvSpPr txBox="1"/>
          <p:nvPr/>
        </p:nvSpPr>
        <p:spPr>
          <a:xfrm>
            <a:off x="5486400" y="155448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0"/>
          <p:cNvSpPr txBox="1"/>
          <p:nvPr/>
        </p:nvSpPr>
        <p:spPr>
          <a:xfrm>
            <a:off x="5486400" y="237744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sans-serif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0"/>
          <p:cNvSpPr txBox="1"/>
          <p:nvPr/>
        </p:nvSpPr>
        <p:spPr>
          <a:xfrm>
            <a:off x="5486400" y="2633472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0"/>
          <p:cNvSpPr/>
          <p:nvPr/>
        </p:nvSpPr>
        <p:spPr>
          <a:xfrm>
            <a:off x="7132320" y="1508760"/>
            <a:ext cx="155448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0"/>
          <p:cNvSpPr txBox="1"/>
          <p:nvPr/>
        </p:nvSpPr>
        <p:spPr>
          <a:xfrm>
            <a:off x="7132320" y="1554480"/>
            <a:ext cx="1554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800"/>
              <a:buFont typeface="Courier New"/>
              <a:buNone/>
            </a:pPr>
            <a:r>
              <a:rPr b="1" i="0" lang="en-US" sz="38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0"/>
          <p:cNvSpPr txBox="1"/>
          <p:nvPr/>
        </p:nvSpPr>
        <p:spPr>
          <a:xfrm>
            <a:off x="7132320" y="237744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monospace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0"/>
          <p:cNvSpPr txBox="1"/>
          <p:nvPr/>
        </p:nvSpPr>
        <p:spPr>
          <a:xfrm>
            <a:off x="7132320" y="2633472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Courier New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0"/>
          <p:cNvSpPr/>
          <p:nvPr/>
        </p:nvSpPr>
        <p:spPr>
          <a:xfrm>
            <a:off x="365760" y="3154680"/>
            <a:ext cx="274320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0"/>
          <p:cNvSpPr/>
          <p:nvPr/>
        </p:nvSpPr>
        <p:spPr>
          <a:xfrm>
            <a:off x="548640" y="3337560"/>
            <a:ext cx="914400" cy="1097280"/>
          </a:xfrm>
          <a:prstGeom prst="roundRect">
            <a:avLst>
              <a:gd fmla="val 1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0"/>
          <p:cNvSpPr/>
          <p:nvPr/>
        </p:nvSpPr>
        <p:spPr>
          <a:xfrm>
            <a:off x="1645920" y="338328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0"/>
          <p:cNvSpPr txBox="1"/>
          <p:nvPr/>
        </p:nvSpPr>
        <p:spPr>
          <a:xfrm>
            <a:off x="1682496" y="33832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0"/>
          <p:cNvSpPr txBox="1"/>
          <p:nvPr/>
        </p:nvSpPr>
        <p:spPr>
          <a:xfrm>
            <a:off x="1645920" y="37033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color: blue;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0"/>
          <p:cNvSpPr/>
          <p:nvPr/>
        </p:nvSpPr>
        <p:spPr>
          <a:xfrm>
            <a:off x="3200400" y="3154680"/>
            <a:ext cx="274320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0"/>
          <p:cNvSpPr/>
          <p:nvPr/>
        </p:nvSpPr>
        <p:spPr>
          <a:xfrm>
            <a:off x="3383280" y="3337560"/>
            <a:ext cx="914400" cy="1097280"/>
          </a:xfrm>
          <a:prstGeom prst="roundRect">
            <a:avLst>
              <a:gd fmla="val 1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0"/>
          <p:cNvSpPr/>
          <p:nvPr/>
        </p:nvSpPr>
        <p:spPr>
          <a:xfrm>
            <a:off x="4480560" y="338328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20"/>
          <p:cNvSpPr txBox="1"/>
          <p:nvPr/>
        </p:nvSpPr>
        <p:spPr>
          <a:xfrm>
            <a:off x="4517136" y="33832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Hex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0"/>
          <p:cNvSpPr txBox="1"/>
          <p:nvPr/>
        </p:nvSpPr>
        <p:spPr>
          <a:xfrm>
            <a:off x="4480560" y="37033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color: #2563EB;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0"/>
          <p:cNvSpPr/>
          <p:nvPr/>
        </p:nvSpPr>
        <p:spPr>
          <a:xfrm>
            <a:off x="6035040" y="3154680"/>
            <a:ext cx="274320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0"/>
          <p:cNvSpPr/>
          <p:nvPr/>
        </p:nvSpPr>
        <p:spPr>
          <a:xfrm>
            <a:off x="6217920" y="3337560"/>
            <a:ext cx="914400" cy="1097280"/>
          </a:xfrm>
          <a:prstGeom prst="roundRect">
            <a:avLst>
              <a:gd fmla="val 1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0"/>
          <p:cNvSpPr/>
          <p:nvPr/>
        </p:nvSpPr>
        <p:spPr>
          <a:xfrm>
            <a:off x="7315200" y="338328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20"/>
          <p:cNvSpPr txBox="1"/>
          <p:nvPr/>
        </p:nvSpPr>
        <p:spPr>
          <a:xfrm>
            <a:off x="7351776" y="33832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0"/>
          <p:cNvSpPr txBox="1"/>
          <p:nvPr/>
        </p:nvSpPr>
        <p:spPr>
          <a:xfrm>
            <a:off x="7315200" y="370332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color: rgb(37, 99, 235);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0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850" name="Google Shape;8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21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5  ·  TEXT AND FONTS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1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Font size, weight &amp; style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1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Make text bigger, bolder or italic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1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1"/>
          <p:cNvSpPr/>
          <p:nvPr/>
        </p:nvSpPr>
        <p:spPr>
          <a:xfrm>
            <a:off x="365760" y="1508760"/>
            <a:ext cx="2743200" cy="31546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1"/>
          <p:cNvSpPr/>
          <p:nvPr/>
        </p:nvSpPr>
        <p:spPr>
          <a:xfrm>
            <a:off x="502920" y="1645920"/>
            <a:ext cx="2468880" cy="421894"/>
          </a:xfrm>
          <a:prstGeom prst="roundRect">
            <a:avLst>
              <a:gd fmla="val 21674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21"/>
          <p:cNvSpPr/>
          <p:nvPr/>
        </p:nvSpPr>
        <p:spPr>
          <a:xfrm>
            <a:off x="566928" y="1760220"/>
            <a:ext cx="234086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1"/>
          <p:cNvSpPr txBox="1"/>
          <p:nvPr/>
        </p:nvSpPr>
        <p:spPr>
          <a:xfrm>
            <a:off x="621792" y="1764792"/>
            <a:ext cx="2231136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28px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1"/>
          <p:cNvSpPr/>
          <p:nvPr/>
        </p:nvSpPr>
        <p:spPr>
          <a:xfrm>
            <a:off x="548640" y="251460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21"/>
          <p:cNvSpPr txBox="1"/>
          <p:nvPr/>
        </p:nvSpPr>
        <p:spPr>
          <a:xfrm>
            <a:off x="585216" y="251460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1"/>
          <p:cNvSpPr txBox="1"/>
          <p:nvPr/>
        </p:nvSpPr>
        <p:spPr>
          <a:xfrm>
            <a:off x="1325880" y="2423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2" name="Google Shape;862;p21"/>
          <p:cNvCxnSpPr/>
          <p:nvPr/>
        </p:nvCxnSpPr>
        <p:spPr>
          <a:xfrm>
            <a:off x="1737360" y="301752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3" name="Google Shape;863;p21"/>
          <p:cNvSpPr/>
          <p:nvPr/>
        </p:nvSpPr>
        <p:spPr>
          <a:xfrm>
            <a:off x="548640" y="365760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1"/>
          <p:cNvSpPr txBox="1"/>
          <p:nvPr/>
        </p:nvSpPr>
        <p:spPr>
          <a:xfrm>
            <a:off x="585216" y="365760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1"/>
          <p:cNvSpPr txBox="1"/>
          <p:nvPr/>
        </p:nvSpPr>
        <p:spPr>
          <a:xfrm>
            <a:off x="1325880" y="347472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Hello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1"/>
          <p:cNvSpPr txBox="1"/>
          <p:nvPr/>
        </p:nvSpPr>
        <p:spPr>
          <a:xfrm>
            <a:off x="502920" y="42519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12px  →  28px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1"/>
          <p:cNvSpPr/>
          <p:nvPr/>
        </p:nvSpPr>
        <p:spPr>
          <a:xfrm>
            <a:off x="3200400" y="1508760"/>
            <a:ext cx="2743200" cy="31546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21"/>
          <p:cNvSpPr/>
          <p:nvPr/>
        </p:nvSpPr>
        <p:spPr>
          <a:xfrm>
            <a:off x="3337560" y="1645920"/>
            <a:ext cx="2468880" cy="421894"/>
          </a:xfrm>
          <a:prstGeom prst="roundRect">
            <a:avLst>
              <a:gd fmla="val 21674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1"/>
          <p:cNvSpPr/>
          <p:nvPr/>
        </p:nvSpPr>
        <p:spPr>
          <a:xfrm>
            <a:off x="3401568" y="1760220"/>
            <a:ext cx="234086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1"/>
          <p:cNvSpPr txBox="1"/>
          <p:nvPr/>
        </p:nvSpPr>
        <p:spPr>
          <a:xfrm>
            <a:off x="3456432" y="1764792"/>
            <a:ext cx="2231136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bold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1"/>
          <p:cNvSpPr/>
          <p:nvPr/>
        </p:nvSpPr>
        <p:spPr>
          <a:xfrm>
            <a:off x="3383280" y="251460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21"/>
          <p:cNvSpPr txBox="1"/>
          <p:nvPr/>
        </p:nvSpPr>
        <p:spPr>
          <a:xfrm>
            <a:off x="3419856" y="251460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1"/>
          <p:cNvSpPr txBox="1"/>
          <p:nvPr/>
        </p:nvSpPr>
        <p:spPr>
          <a:xfrm>
            <a:off x="4160520" y="2423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Hello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4" name="Google Shape;874;p21"/>
          <p:cNvCxnSpPr/>
          <p:nvPr/>
        </p:nvCxnSpPr>
        <p:spPr>
          <a:xfrm>
            <a:off x="4572000" y="301752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5" name="Google Shape;875;p21"/>
          <p:cNvSpPr/>
          <p:nvPr/>
        </p:nvSpPr>
        <p:spPr>
          <a:xfrm>
            <a:off x="3383280" y="365760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21"/>
          <p:cNvSpPr txBox="1"/>
          <p:nvPr/>
        </p:nvSpPr>
        <p:spPr>
          <a:xfrm>
            <a:off x="3419856" y="365760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1"/>
          <p:cNvSpPr txBox="1"/>
          <p:nvPr/>
        </p:nvSpPr>
        <p:spPr>
          <a:xfrm>
            <a:off x="4160520" y="347472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Hello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1"/>
          <p:cNvSpPr txBox="1"/>
          <p:nvPr/>
        </p:nvSpPr>
        <p:spPr>
          <a:xfrm>
            <a:off x="3337560" y="42519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normal  →  bold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1"/>
          <p:cNvSpPr/>
          <p:nvPr/>
        </p:nvSpPr>
        <p:spPr>
          <a:xfrm>
            <a:off x="6035040" y="1508760"/>
            <a:ext cx="2743200" cy="31546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1"/>
          <p:cNvSpPr/>
          <p:nvPr/>
        </p:nvSpPr>
        <p:spPr>
          <a:xfrm>
            <a:off x="6172200" y="1645920"/>
            <a:ext cx="2468880" cy="421894"/>
          </a:xfrm>
          <a:prstGeom prst="roundRect">
            <a:avLst>
              <a:gd fmla="val 21674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21"/>
          <p:cNvSpPr/>
          <p:nvPr/>
        </p:nvSpPr>
        <p:spPr>
          <a:xfrm>
            <a:off x="6236208" y="1760220"/>
            <a:ext cx="234086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21"/>
          <p:cNvSpPr txBox="1"/>
          <p:nvPr/>
        </p:nvSpPr>
        <p:spPr>
          <a:xfrm>
            <a:off x="6291072" y="1764792"/>
            <a:ext cx="2231136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font-style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italic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1"/>
          <p:cNvSpPr/>
          <p:nvPr/>
        </p:nvSpPr>
        <p:spPr>
          <a:xfrm>
            <a:off x="6217920" y="251460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1"/>
          <p:cNvSpPr txBox="1"/>
          <p:nvPr/>
        </p:nvSpPr>
        <p:spPr>
          <a:xfrm>
            <a:off x="6254496" y="251460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1"/>
          <p:cNvSpPr txBox="1"/>
          <p:nvPr/>
        </p:nvSpPr>
        <p:spPr>
          <a:xfrm>
            <a:off x="6995160" y="24231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Hello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6" name="Google Shape;886;p21"/>
          <p:cNvCxnSpPr/>
          <p:nvPr/>
        </p:nvCxnSpPr>
        <p:spPr>
          <a:xfrm>
            <a:off x="7406640" y="301752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7" name="Google Shape;887;p21"/>
          <p:cNvSpPr/>
          <p:nvPr/>
        </p:nvSpPr>
        <p:spPr>
          <a:xfrm>
            <a:off x="6217920" y="365760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21"/>
          <p:cNvSpPr txBox="1"/>
          <p:nvPr/>
        </p:nvSpPr>
        <p:spPr>
          <a:xfrm>
            <a:off x="6254496" y="365760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1"/>
          <p:cNvSpPr txBox="1"/>
          <p:nvPr/>
        </p:nvSpPr>
        <p:spPr>
          <a:xfrm>
            <a:off x="6995160" y="347472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Hello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21"/>
          <p:cNvSpPr txBox="1"/>
          <p:nvPr/>
        </p:nvSpPr>
        <p:spPr>
          <a:xfrm>
            <a:off x="6172200" y="42519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normal  →  italic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1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897" name="Google Shape;8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22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5  ·  TEXT AND FONTS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2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Text decoration &amp; alignment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2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Underline, strike, and place the 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2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2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2"/>
          <p:cNvSpPr/>
          <p:nvPr/>
        </p:nvSpPr>
        <p:spPr>
          <a:xfrm>
            <a:off x="548640" y="1618488"/>
            <a:ext cx="1300734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2"/>
          <p:cNvSpPr txBox="1"/>
          <p:nvPr/>
        </p:nvSpPr>
        <p:spPr>
          <a:xfrm>
            <a:off x="585216" y="1618488"/>
            <a:ext cx="122758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text-decoration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2"/>
          <p:cNvSpPr/>
          <p:nvPr/>
        </p:nvSpPr>
        <p:spPr>
          <a:xfrm>
            <a:off x="548640" y="1965960"/>
            <a:ext cx="374904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2"/>
          <p:cNvSpPr/>
          <p:nvPr/>
        </p:nvSpPr>
        <p:spPr>
          <a:xfrm>
            <a:off x="612648" y="2264410"/>
            <a:ext cx="362102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2"/>
          <p:cNvSpPr txBox="1"/>
          <p:nvPr/>
        </p:nvSpPr>
        <p:spPr>
          <a:xfrm>
            <a:off x="667512" y="2084832"/>
            <a:ext cx="35112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text-decoration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2"/>
          <p:cNvSpPr/>
          <p:nvPr/>
        </p:nvSpPr>
        <p:spPr>
          <a:xfrm>
            <a:off x="548640" y="2926080"/>
            <a:ext cx="3749040" cy="457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2"/>
          <p:cNvSpPr/>
          <p:nvPr/>
        </p:nvSpPr>
        <p:spPr>
          <a:xfrm>
            <a:off x="658368" y="3035808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2"/>
          <p:cNvSpPr txBox="1"/>
          <p:nvPr/>
        </p:nvSpPr>
        <p:spPr>
          <a:xfrm>
            <a:off x="694944" y="3035808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underline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2"/>
          <p:cNvSpPr txBox="1"/>
          <p:nvPr/>
        </p:nvSpPr>
        <p:spPr>
          <a:xfrm>
            <a:off x="1965960" y="29260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Underline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2"/>
          <p:cNvSpPr/>
          <p:nvPr/>
        </p:nvSpPr>
        <p:spPr>
          <a:xfrm>
            <a:off x="548640" y="3474720"/>
            <a:ext cx="3749040" cy="457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2"/>
          <p:cNvSpPr/>
          <p:nvPr/>
        </p:nvSpPr>
        <p:spPr>
          <a:xfrm>
            <a:off x="658368" y="3584448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22"/>
          <p:cNvSpPr txBox="1"/>
          <p:nvPr/>
        </p:nvSpPr>
        <p:spPr>
          <a:xfrm>
            <a:off x="694944" y="3584448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line-through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2"/>
          <p:cNvSpPr txBox="1"/>
          <p:nvPr/>
        </p:nvSpPr>
        <p:spPr>
          <a:xfrm>
            <a:off x="1965960" y="34747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sng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Old price $99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2"/>
          <p:cNvSpPr/>
          <p:nvPr/>
        </p:nvSpPr>
        <p:spPr>
          <a:xfrm>
            <a:off x="548640" y="4023360"/>
            <a:ext cx="3749040" cy="457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2"/>
          <p:cNvSpPr/>
          <p:nvPr/>
        </p:nvSpPr>
        <p:spPr>
          <a:xfrm>
            <a:off x="658368" y="4133088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2"/>
          <p:cNvSpPr txBox="1"/>
          <p:nvPr/>
        </p:nvSpPr>
        <p:spPr>
          <a:xfrm>
            <a:off x="694944" y="4133088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2"/>
          <p:cNvSpPr txBox="1"/>
          <p:nvPr/>
        </p:nvSpPr>
        <p:spPr>
          <a:xfrm>
            <a:off x="1965960" y="4023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Read more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2"/>
          <p:cNvSpPr/>
          <p:nvPr/>
        </p:nvSpPr>
        <p:spPr>
          <a:xfrm>
            <a:off x="466344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2"/>
          <p:cNvSpPr/>
          <p:nvPr/>
        </p:nvSpPr>
        <p:spPr>
          <a:xfrm>
            <a:off x="4846320" y="1618488"/>
            <a:ext cx="946404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2"/>
          <p:cNvSpPr txBox="1"/>
          <p:nvPr/>
        </p:nvSpPr>
        <p:spPr>
          <a:xfrm>
            <a:off x="4882896" y="1618488"/>
            <a:ext cx="8732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2"/>
          <p:cNvSpPr/>
          <p:nvPr/>
        </p:nvSpPr>
        <p:spPr>
          <a:xfrm>
            <a:off x="4846320" y="1965960"/>
            <a:ext cx="374904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2"/>
          <p:cNvSpPr/>
          <p:nvPr/>
        </p:nvSpPr>
        <p:spPr>
          <a:xfrm>
            <a:off x="4910328" y="2264410"/>
            <a:ext cx="362102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2"/>
          <p:cNvSpPr txBox="1"/>
          <p:nvPr/>
        </p:nvSpPr>
        <p:spPr>
          <a:xfrm>
            <a:off x="4965192" y="2084832"/>
            <a:ext cx="351129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p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2"/>
          <p:cNvSpPr/>
          <p:nvPr/>
        </p:nvSpPr>
        <p:spPr>
          <a:xfrm>
            <a:off x="4846320" y="3035808"/>
            <a:ext cx="77724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2"/>
          <p:cNvSpPr txBox="1"/>
          <p:nvPr/>
        </p:nvSpPr>
        <p:spPr>
          <a:xfrm>
            <a:off x="4882896" y="3035808"/>
            <a:ext cx="704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2"/>
          <p:cNvSpPr/>
          <p:nvPr/>
        </p:nvSpPr>
        <p:spPr>
          <a:xfrm>
            <a:off x="5760720" y="2926080"/>
            <a:ext cx="2834640" cy="457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2"/>
          <p:cNvSpPr txBox="1"/>
          <p:nvPr/>
        </p:nvSpPr>
        <p:spPr>
          <a:xfrm>
            <a:off x="5897880" y="29260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Hello CSS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2"/>
          <p:cNvSpPr/>
          <p:nvPr/>
        </p:nvSpPr>
        <p:spPr>
          <a:xfrm>
            <a:off x="4846320" y="3584448"/>
            <a:ext cx="77724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2"/>
          <p:cNvSpPr txBox="1"/>
          <p:nvPr/>
        </p:nvSpPr>
        <p:spPr>
          <a:xfrm>
            <a:off x="4882896" y="3584448"/>
            <a:ext cx="704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2"/>
          <p:cNvSpPr/>
          <p:nvPr/>
        </p:nvSpPr>
        <p:spPr>
          <a:xfrm>
            <a:off x="5760720" y="3474720"/>
            <a:ext cx="2834640" cy="457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2"/>
          <p:cNvSpPr txBox="1"/>
          <p:nvPr/>
        </p:nvSpPr>
        <p:spPr>
          <a:xfrm>
            <a:off x="5897880" y="347472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Hello CSS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2"/>
          <p:cNvSpPr/>
          <p:nvPr/>
        </p:nvSpPr>
        <p:spPr>
          <a:xfrm>
            <a:off x="4846320" y="4133088"/>
            <a:ext cx="77724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2"/>
          <p:cNvSpPr txBox="1"/>
          <p:nvPr/>
        </p:nvSpPr>
        <p:spPr>
          <a:xfrm>
            <a:off x="4882896" y="4133088"/>
            <a:ext cx="704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right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22"/>
          <p:cNvSpPr/>
          <p:nvPr/>
        </p:nvSpPr>
        <p:spPr>
          <a:xfrm>
            <a:off x="5760720" y="4023360"/>
            <a:ext cx="2834640" cy="457200"/>
          </a:xfrm>
          <a:prstGeom prst="roundRect">
            <a:avLst>
              <a:gd fmla="val 16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2"/>
          <p:cNvSpPr txBox="1"/>
          <p:nvPr/>
        </p:nvSpPr>
        <p:spPr>
          <a:xfrm>
            <a:off x="5897880" y="40233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Hello CSS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2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944" name="Google Shape;9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23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5  ·  TEXT AND FONTS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23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Line, letter &amp; word spacing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3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Make text easier to read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3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3"/>
          <p:cNvSpPr/>
          <p:nvPr/>
        </p:nvSpPr>
        <p:spPr>
          <a:xfrm>
            <a:off x="365760" y="1508760"/>
            <a:ext cx="2743200" cy="31546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3"/>
          <p:cNvSpPr/>
          <p:nvPr/>
        </p:nvSpPr>
        <p:spPr>
          <a:xfrm>
            <a:off x="502920" y="1645920"/>
            <a:ext cx="2468880" cy="421894"/>
          </a:xfrm>
          <a:prstGeom prst="roundRect">
            <a:avLst>
              <a:gd fmla="val 21674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3"/>
          <p:cNvSpPr/>
          <p:nvPr/>
        </p:nvSpPr>
        <p:spPr>
          <a:xfrm>
            <a:off x="566928" y="1760220"/>
            <a:ext cx="234086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3"/>
          <p:cNvSpPr txBox="1"/>
          <p:nvPr/>
        </p:nvSpPr>
        <p:spPr>
          <a:xfrm>
            <a:off x="621792" y="1764792"/>
            <a:ext cx="2231136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line-height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1.8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3"/>
          <p:cNvSpPr/>
          <p:nvPr/>
        </p:nvSpPr>
        <p:spPr>
          <a:xfrm>
            <a:off x="548640" y="256032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3"/>
          <p:cNvSpPr txBox="1"/>
          <p:nvPr/>
        </p:nvSpPr>
        <p:spPr>
          <a:xfrm>
            <a:off x="585216" y="256032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3"/>
          <p:cNvSpPr txBox="1"/>
          <p:nvPr/>
        </p:nvSpPr>
        <p:spPr>
          <a:xfrm>
            <a:off x="1280160" y="251460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 makes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web 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beautiful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6" name="Google Shape;956;p23"/>
          <p:cNvCxnSpPr/>
          <p:nvPr/>
        </p:nvCxnSpPr>
        <p:spPr>
          <a:xfrm>
            <a:off x="1737360" y="320040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7" name="Google Shape;957;p23"/>
          <p:cNvSpPr/>
          <p:nvPr/>
        </p:nvSpPr>
        <p:spPr>
          <a:xfrm>
            <a:off x="548640" y="370332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3"/>
          <p:cNvSpPr txBox="1"/>
          <p:nvPr/>
        </p:nvSpPr>
        <p:spPr>
          <a:xfrm>
            <a:off x="585216" y="370332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3"/>
          <p:cNvSpPr txBox="1"/>
          <p:nvPr/>
        </p:nvSpPr>
        <p:spPr>
          <a:xfrm>
            <a:off x="1280160" y="361188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 makes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web 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1818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beautiful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3"/>
          <p:cNvSpPr/>
          <p:nvPr/>
        </p:nvSpPr>
        <p:spPr>
          <a:xfrm>
            <a:off x="3200400" y="1508760"/>
            <a:ext cx="2743200" cy="31546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23"/>
          <p:cNvSpPr/>
          <p:nvPr/>
        </p:nvSpPr>
        <p:spPr>
          <a:xfrm>
            <a:off x="3337560" y="1645920"/>
            <a:ext cx="2468880" cy="421894"/>
          </a:xfrm>
          <a:prstGeom prst="roundRect">
            <a:avLst>
              <a:gd fmla="val 21674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3"/>
          <p:cNvSpPr/>
          <p:nvPr/>
        </p:nvSpPr>
        <p:spPr>
          <a:xfrm>
            <a:off x="3401568" y="1760220"/>
            <a:ext cx="234086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3"/>
          <p:cNvSpPr txBox="1"/>
          <p:nvPr/>
        </p:nvSpPr>
        <p:spPr>
          <a:xfrm>
            <a:off x="3456432" y="1764792"/>
            <a:ext cx="2231136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letter-spacing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4px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3"/>
          <p:cNvSpPr/>
          <p:nvPr/>
        </p:nvSpPr>
        <p:spPr>
          <a:xfrm>
            <a:off x="3383280" y="256032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3"/>
          <p:cNvSpPr txBox="1"/>
          <p:nvPr/>
        </p:nvSpPr>
        <p:spPr>
          <a:xfrm>
            <a:off x="3419856" y="256032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3"/>
          <p:cNvSpPr txBox="1"/>
          <p:nvPr/>
        </p:nvSpPr>
        <p:spPr>
          <a:xfrm>
            <a:off x="4114800" y="25146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SPACING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7" name="Google Shape;967;p23"/>
          <p:cNvCxnSpPr/>
          <p:nvPr/>
        </p:nvCxnSpPr>
        <p:spPr>
          <a:xfrm>
            <a:off x="4572000" y="320040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8" name="Google Shape;968;p23"/>
          <p:cNvSpPr/>
          <p:nvPr/>
        </p:nvSpPr>
        <p:spPr>
          <a:xfrm>
            <a:off x="3383280" y="370332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3"/>
          <p:cNvSpPr txBox="1"/>
          <p:nvPr/>
        </p:nvSpPr>
        <p:spPr>
          <a:xfrm>
            <a:off x="3419856" y="370332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3"/>
          <p:cNvSpPr txBox="1"/>
          <p:nvPr/>
        </p:nvSpPr>
        <p:spPr>
          <a:xfrm>
            <a:off x="4114800" y="36118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SPACING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3"/>
          <p:cNvSpPr/>
          <p:nvPr/>
        </p:nvSpPr>
        <p:spPr>
          <a:xfrm>
            <a:off x="6035040" y="1508760"/>
            <a:ext cx="2743200" cy="315468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3"/>
          <p:cNvSpPr/>
          <p:nvPr/>
        </p:nvSpPr>
        <p:spPr>
          <a:xfrm>
            <a:off x="6172200" y="1645920"/>
            <a:ext cx="2468880" cy="421894"/>
          </a:xfrm>
          <a:prstGeom prst="roundRect">
            <a:avLst>
              <a:gd fmla="val 21674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3"/>
          <p:cNvSpPr/>
          <p:nvPr/>
        </p:nvSpPr>
        <p:spPr>
          <a:xfrm>
            <a:off x="6236208" y="1760220"/>
            <a:ext cx="234086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3"/>
          <p:cNvSpPr txBox="1"/>
          <p:nvPr/>
        </p:nvSpPr>
        <p:spPr>
          <a:xfrm>
            <a:off x="6291072" y="1764792"/>
            <a:ext cx="2231136" cy="18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word-spacing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20px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3"/>
          <p:cNvSpPr/>
          <p:nvPr/>
        </p:nvSpPr>
        <p:spPr>
          <a:xfrm>
            <a:off x="6217920" y="256032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3"/>
          <p:cNvSpPr txBox="1"/>
          <p:nvPr/>
        </p:nvSpPr>
        <p:spPr>
          <a:xfrm>
            <a:off x="6254496" y="256032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3"/>
          <p:cNvSpPr txBox="1"/>
          <p:nvPr/>
        </p:nvSpPr>
        <p:spPr>
          <a:xfrm>
            <a:off x="6949440" y="251460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 is fun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8" name="Google Shape;978;p23"/>
          <p:cNvCxnSpPr/>
          <p:nvPr/>
        </p:nvCxnSpPr>
        <p:spPr>
          <a:xfrm>
            <a:off x="7406640" y="320040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9" name="Google Shape;979;p23"/>
          <p:cNvSpPr/>
          <p:nvPr/>
        </p:nvSpPr>
        <p:spPr>
          <a:xfrm>
            <a:off x="6217920" y="370332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3"/>
          <p:cNvSpPr txBox="1"/>
          <p:nvPr/>
        </p:nvSpPr>
        <p:spPr>
          <a:xfrm>
            <a:off x="6254496" y="370332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3"/>
          <p:cNvSpPr txBox="1"/>
          <p:nvPr/>
        </p:nvSpPr>
        <p:spPr>
          <a:xfrm>
            <a:off x="6949440" y="361188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      is      fun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3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988" name="Google Shape;9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24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PRACTICE  ·  CHALLENGE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4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Challenge 2 — Build a card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4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Box Model + Text: padding, border, radius, fonts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4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4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4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5" name="Google Shape;99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24"/>
          <p:cNvSpPr txBox="1"/>
          <p:nvPr/>
        </p:nvSpPr>
        <p:spPr>
          <a:xfrm>
            <a:off x="1143000" y="162763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Style the .card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4"/>
          <p:cNvSpPr/>
          <p:nvPr/>
        </p:nvSpPr>
        <p:spPr>
          <a:xfrm>
            <a:off x="548640" y="2286000"/>
            <a:ext cx="3749040" cy="329184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8" name="Google Shape;99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23500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24"/>
          <p:cNvSpPr txBox="1"/>
          <p:nvPr/>
        </p:nvSpPr>
        <p:spPr>
          <a:xfrm>
            <a:off x="960120" y="228600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Card width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4"/>
          <p:cNvSpPr/>
          <p:nvPr/>
        </p:nvSpPr>
        <p:spPr>
          <a:xfrm>
            <a:off x="2331720" y="2331720"/>
            <a:ext cx="187452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4"/>
          <p:cNvSpPr txBox="1"/>
          <p:nvPr/>
        </p:nvSpPr>
        <p:spPr>
          <a:xfrm>
            <a:off x="2368296" y="2331720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width: 260px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4"/>
          <p:cNvSpPr/>
          <p:nvPr/>
        </p:nvSpPr>
        <p:spPr>
          <a:xfrm>
            <a:off x="548640" y="2679192"/>
            <a:ext cx="3749040" cy="329184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3" name="Google Shape;100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27432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24"/>
          <p:cNvSpPr txBox="1"/>
          <p:nvPr/>
        </p:nvSpPr>
        <p:spPr>
          <a:xfrm>
            <a:off x="960120" y="2679192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Space inside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4"/>
          <p:cNvSpPr/>
          <p:nvPr/>
        </p:nvSpPr>
        <p:spPr>
          <a:xfrm>
            <a:off x="2331720" y="2724912"/>
            <a:ext cx="187452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4"/>
          <p:cNvSpPr txBox="1"/>
          <p:nvPr/>
        </p:nvSpPr>
        <p:spPr>
          <a:xfrm>
            <a:off x="2368296" y="2724912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padding: 20px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4"/>
          <p:cNvSpPr/>
          <p:nvPr/>
        </p:nvSpPr>
        <p:spPr>
          <a:xfrm>
            <a:off x="548640" y="3072384"/>
            <a:ext cx="3749040" cy="329184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8" name="Google Shape;100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13639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24"/>
          <p:cNvSpPr txBox="1"/>
          <p:nvPr/>
        </p:nvSpPr>
        <p:spPr>
          <a:xfrm>
            <a:off x="960120" y="307238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Thin border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4"/>
          <p:cNvSpPr/>
          <p:nvPr/>
        </p:nvSpPr>
        <p:spPr>
          <a:xfrm>
            <a:off x="2331720" y="3118104"/>
            <a:ext cx="187452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4"/>
          <p:cNvSpPr txBox="1"/>
          <p:nvPr/>
        </p:nvSpPr>
        <p:spPr>
          <a:xfrm>
            <a:off x="2368296" y="3118104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border: 1px solid #ddd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4"/>
          <p:cNvSpPr/>
          <p:nvPr/>
        </p:nvSpPr>
        <p:spPr>
          <a:xfrm>
            <a:off x="548640" y="3465576"/>
            <a:ext cx="3749040" cy="329184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3" name="Google Shape;10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52958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24"/>
          <p:cNvSpPr txBox="1"/>
          <p:nvPr/>
        </p:nvSpPr>
        <p:spPr>
          <a:xfrm>
            <a:off x="960120" y="3465576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Rounded card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4"/>
          <p:cNvSpPr/>
          <p:nvPr/>
        </p:nvSpPr>
        <p:spPr>
          <a:xfrm>
            <a:off x="2331720" y="3511296"/>
            <a:ext cx="187452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24"/>
          <p:cNvSpPr txBox="1"/>
          <p:nvPr/>
        </p:nvSpPr>
        <p:spPr>
          <a:xfrm>
            <a:off x="2368296" y="3511296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border-radius: 12px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24"/>
          <p:cNvSpPr/>
          <p:nvPr/>
        </p:nvSpPr>
        <p:spPr>
          <a:xfrm>
            <a:off x="548640" y="3858768"/>
            <a:ext cx="3749040" cy="329184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8" name="Google Shape;101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9227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24"/>
          <p:cNvSpPr txBox="1"/>
          <p:nvPr/>
        </p:nvSpPr>
        <p:spPr>
          <a:xfrm>
            <a:off x="960120" y="385876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Round avatar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4"/>
          <p:cNvSpPr/>
          <p:nvPr/>
        </p:nvSpPr>
        <p:spPr>
          <a:xfrm>
            <a:off x="2331720" y="3904488"/>
            <a:ext cx="187452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4"/>
          <p:cNvSpPr txBox="1"/>
          <p:nvPr/>
        </p:nvSpPr>
        <p:spPr>
          <a:xfrm>
            <a:off x="2368296" y="3904488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border-radius: 50%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4"/>
          <p:cNvSpPr/>
          <p:nvPr/>
        </p:nvSpPr>
        <p:spPr>
          <a:xfrm>
            <a:off x="548640" y="4251960"/>
            <a:ext cx="3749040" cy="329184"/>
          </a:xfrm>
          <a:prstGeom prst="roundRect">
            <a:avLst>
              <a:gd fmla="val 2222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3" name="Google Shape;102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4315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24"/>
          <p:cNvSpPr txBox="1"/>
          <p:nvPr/>
        </p:nvSpPr>
        <p:spPr>
          <a:xfrm>
            <a:off x="960120" y="4251960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Centered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4"/>
          <p:cNvSpPr/>
          <p:nvPr/>
        </p:nvSpPr>
        <p:spPr>
          <a:xfrm>
            <a:off x="2331720" y="4297680"/>
            <a:ext cx="187452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24"/>
          <p:cNvSpPr txBox="1"/>
          <p:nvPr/>
        </p:nvSpPr>
        <p:spPr>
          <a:xfrm>
            <a:off x="2368296" y="4297680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text-align: center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24"/>
          <p:cNvSpPr/>
          <p:nvPr/>
        </p:nvSpPr>
        <p:spPr>
          <a:xfrm>
            <a:off x="4663440" y="1508760"/>
            <a:ext cx="4114800" cy="1828800"/>
          </a:xfrm>
          <a:prstGeom prst="roundRect">
            <a:avLst>
              <a:gd fmla="val 4000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24"/>
          <p:cNvSpPr/>
          <p:nvPr/>
        </p:nvSpPr>
        <p:spPr>
          <a:xfrm>
            <a:off x="4700016" y="1755648"/>
            <a:ext cx="4041648" cy="1545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4"/>
          <p:cNvSpPr/>
          <p:nvPr/>
        </p:nvSpPr>
        <p:spPr>
          <a:xfrm>
            <a:off x="4754880" y="16002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24"/>
          <p:cNvSpPr/>
          <p:nvPr/>
        </p:nvSpPr>
        <p:spPr>
          <a:xfrm>
            <a:off x="4855464" y="16002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4"/>
          <p:cNvSpPr/>
          <p:nvPr/>
        </p:nvSpPr>
        <p:spPr>
          <a:xfrm>
            <a:off x="4956048" y="16002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24"/>
          <p:cNvSpPr/>
          <p:nvPr/>
        </p:nvSpPr>
        <p:spPr>
          <a:xfrm>
            <a:off x="5120640" y="1577340"/>
            <a:ext cx="347472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24"/>
          <p:cNvSpPr txBox="1"/>
          <p:nvPr/>
        </p:nvSpPr>
        <p:spPr>
          <a:xfrm>
            <a:off x="5157216" y="1577340"/>
            <a:ext cx="340156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expected-result.html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24"/>
          <p:cNvSpPr/>
          <p:nvPr/>
        </p:nvSpPr>
        <p:spPr>
          <a:xfrm>
            <a:off x="4974336" y="1828800"/>
            <a:ext cx="1737360" cy="1399032"/>
          </a:xfrm>
          <a:prstGeom prst="roundRect">
            <a:avLst>
              <a:gd fmla="val 6536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24"/>
          <p:cNvSpPr/>
          <p:nvPr/>
        </p:nvSpPr>
        <p:spPr>
          <a:xfrm>
            <a:off x="5614416" y="190195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6" name="Google Shape;103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2432" y="2029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37" name="Google Shape;1037;p24"/>
          <p:cNvSpPr txBox="1"/>
          <p:nvPr/>
        </p:nvSpPr>
        <p:spPr>
          <a:xfrm>
            <a:off x="4974336" y="239572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F172A"/>
                </a:solidFill>
              </a:rPr>
              <a:t>Haroun Ben Ameur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24"/>
          <p:cNvSpPr txBox="1"/>
          <p:nvPr/>
        </p:nvSpPr>
        <p:spPr>
          <a:xfrm>
            <a:off x="4974336" y="2596896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Web developer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24"/>
          <p:cNvSpPr/>
          <p:nvPr/>
        </p:nvSpPr>
        <p:spPr>
          <a:xfrm>
            <a:off x="5431536" y="2807208"/>
            <a:ext cx="822960" cy="23774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24"/>
          <p:cNvSpPr txBox="1"/>
          <p:nvPr/>
        </p:nvSpPr>
        <p:spPr>
          <a:xfrm>
            <a:off x="5468112" y="280720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Follow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4"/>
          <p:cNvSpPr/>
          <p:nvPr/>
        </p:nvSpPr>
        <p:spPr>
          <a:xfrm>
            <a:off x="7077456" y="1892808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4"/>
          <p:cNvSpPr txBox="1"/>
          <p:nvPr/>
        </p:nvSpPr>
        <p:spPr>
          <a:xfrm>
            <a:off x="7114032" y="1892808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4"/>
          <p:cNvSpPr/>
          <p:nvPr/>
        </p:nvSpPr>
        <p:spPr>
          <a:xfrm>
            <a:off x="7077456" y="2258568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4"/>
          <p:cNvSpPr txBox="1"/>
          <p:nvPr/>
        </p:nvSpPr>
        <p:spPr>
          <a:xfrm>
            <a:off x="7114032" y="2258568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border-radius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24"/>
          <p:cNvSpPr/>
          <p:nvPr/>
        </p:nvSpPr>
        <p:spPr>
          <a:xfrm>
            <a:off x="7077456" y="2624328"/>
            <a:ext cx="82296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24"/>
          <p:cNvSpPr txBox="1"/>
          <p:nvPr/>
        </p:nvSpPr>
        <p:spPr>
          <a:xfrm>
            <a:off x="7114032" y="26243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text-align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4"/>
          <p:cNvSpPr/>
          <p:nvPr/>
        </p:nvSpPr>
        <p:spPr>
          <a:xfrm>
            <a:off x="4663440" y="3456432"/>
            <a:ext cx="4114800" cy="1266444"/>
          </a:xfrm>
          <a:prstGeom prst="roundRect">
            <a:avLst>
              <a:gd fmla="val 7220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4"/>
          <p:cNvSpPr txBox="1"/>
          <p:nvPr/>
        </p:nvSpPr>
        <p:spPr>
          <a:xfrm>
            <a:off x="4782312" y="3575304"/>
            <a:ext cx="3877056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"card"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&lt;img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"avatar"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&lt;h2&gt;</a:t>
            </a:r>
            <a:r>
              <a:rPr lang="en-US" sz="9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Haroun Ben Ameur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&lt;/h2&gt;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Web developer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&lt;button&gt;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Follow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4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055" name="Google Shape;10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6" name="Google Shape;1056;p25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6  ·  CSS DISPLAY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5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 Display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5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How an element behaves in the page 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5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5"/>
          <p:cNvSpPr/>
          <p:nvPr/>
        </p:nvSpPr>
        <p:spPr>
          <a:xfrm>
            <a:off x="365760" y="1508760"/>
            <a:ext cx="2697480" cy="2743200"/>
          </a:xfrm>
          <a:prstGeom prst="roundRect">
            <a:avLst>
              <a:gd fmla="val 406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25"/>
          <p:cNvSpPr/>
          <p:nvPr/>
        </p:nvSpPr>
        <p:spPr>
          <a:xfrm>
            <a:off x="502920" y="1618488"/>
            <a:ext cx="137160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5"/>
          <p:cNvSpPr txBox="1"/>
          <p:nvPr/>
        </p:nvSpPr>
        <p:spPr>
          <a:xfrm>
            <a:off x="539496" y="161848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display: inline;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5"/>
          <p:cNvSpPr/>
          <p:nvPr/>
        </p:nvSpPr>
        <p:spPr>
          <a:xfrm>
            <a:off x="502920" y="1965960"/>
            <a:ext cx="2423160" cy="109728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5"/>
          <p:cNvSpPr/>
          <p:nvPr/>
        </p:nvSpPr>
        <p:spPr>
          <a:xfrm>
            <a:off x="594360" y="2377440"/>
            <a:ext cx="685800" cy="219456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5"/>
          <p:cNvSpPr txBox="1"/>
          <p:nvPr/>
        </p:nvSpPr>
        <p:spPr>
          <a:xfrm>
            <a:off x="630936" y="2377440"/>
            <a:ext cx="612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25"/>
          <p:cNvSpPr/>
          <p:nvPr/>
        </p:nvSpPr>
        <p:spPr>
          <a:xfrm>
            <a:off x="1335024" y="2377440"/>
            <a:ext cx="502920" cy="219456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25"/>
          <p:cNvSpPr txBox="1"/>
          <p:nvPr/>
        </p:nvSpPr>
        <p:spPr>
          <a:xfrm>
            <a:off x="1371600" y="2377440"/>
            <a:ext cx="4297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25"/>
          <p:cNvSpPr/>
          <p:nvPr/>
        </p:nvSpPr>
        <p:spPr>
          <a:xfrm>
            <a:off x="1892808" y="2377440"/>
            <a:ext cx="731520" cy="219456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25"/>
          <p:cNvSpPr txBox="1"/>
          <p:nvPr/>
        </p:nvSpPr>
        <p:spPr>
          <a:xfrm>
            <a:off x="1929384" y="237744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5"/>
          <p:cNvSpPr txBox="1"/>
          <p:nvPr/>
        </p:nvSpPr>
        <p:spPr>
          <a:xfrm>
            <a:off x="594360" y="2697480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width/height ignored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5"/>
          <p:cNvSpPr/>
          <p:nvPr/>
        </p:nvSpPr>
        <p:spPr>
          <a:xfrm>
            <a:off x="502920" y="3200400"/>
            <a:ext cx="2423160" cy="36576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5"/>
          <p:cNvSpPr txBox="1"/>
          <p:nvPr/>
        </p:nvSpPr>
        <p:spPr>
          <a:xfrm>
            <a:off x="640080" y="32004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line?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3" name="Google Shape;107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0" y="32826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25"/>
          <p:cNvSpPr/>
          <p:nvPr/>
        </p:nvSpPr>
        <p:spPr>
          <a:xfrm>
            <a:off x="502920" y="3657600"/>
            <a:ext cx="2423160" cy="36576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5"/>
          <p:cNvSpPr txBox="1"/>
          <p:nvPr/>
        </p:nvSpPr>
        <p:spPr>
          <a:xfrm>
            <a:off x="640080" y="3657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Width &amp; height?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6" name="Google Shape;10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0" y="37398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25"/>
          <p:cNvSpPr/>
          <p:nvPr/>
        </p:nvSpPr>
        <p:spPr>
          <a:xfrm>
            <a:off x="502920" y="4434840"/>
            <a:ext cx="242316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5"/>
          <p:cNvSpPr txBox="1"/>
          <p:nvPr/>
        </p:nvSpPr>
        <p:spPr>
          <a:xfrm>
            <a:off x="539496" y="4434840"/>
            <a:ext cx="2350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5"/>
          <p:cNvSpPr/>
          <p:nvPr/>
        </p:nvSpPr>
        <p:spPr>
          <a:xfrm>
            <a:off x="3223260" y="1508760"/>
            <a:ext cx="2697480" cy="2743200"/>
          </a:xfrm>
          <a:prstGeom prst="roundRect">
            <a:avLst>
              <a:gd fmla="val 406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5"/>
          <p:cNvSpPr/>
          <p:nvPr/>
        </p:nvSpPr>
        <p:spPr>
          <a:xfrm>
            <a:off x="3360420" y="1618488"/>
            <a:ext cx="1300734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25"/>
          <p:cNvSpPr txBox="1"/>
          <p:nvPr/>
        </p:nvSpPr>
        <p:spPr>
          <a:xfrm>
            <a:off x="3396996" y="1618488"/>
            <a:ext cx="122758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display: block;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25"/>
          <p:cNvSpPr/>
          <p:nvPr/>
        </p:nvSpPr>
        <p:spPr>
          <a:xfrm>
            <a:off x="3360420" y="1965960"/>
            <a:ext cx="2423160" cy="109728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25"/>
          <p:cNvSpPr/>
          <p:nvPr/>
        </p:nvSpPr>
        <p:spPr>
          <a:xfrm>
            <a:off x="3451860" y="2057400"/>
            <a:ext cx="2240280" cy="256032"/>
          </a:xfrm>
          <a:prstGeom prst="roundRect">
            <a:avLst>
              <a:gd fmla="val 14286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5"/>
          <p:cNvSpPr txBox="1"/>
          <p:nvPr/>
        </p:nvSpPr>
        <p:spPr>
          <a:xfrm>
            <a:off x="3488436" y="2057400"/>
            <a:ext cx="2167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5"/>
          <p:cNvSpPr/>
          <p:nvPr/>
        </p:nvSpPr>
        <p:spPr>
          <a:xfrm>
            <a:off x="3451860" y="2368296"/>
            <a:ext cx="2240280" cy="256032"/>
          </a:xfrm>
          <a:prstGeom prst="roundRect">
            <a:avLst>
              <a:gd fmla="val 14286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5"/>
          <p:cNvSpPr txBox="1"/>
          <p:nvPr/>
        </p:nvSpPr>
        <p:spPr>
          <a:xfrm>
            <a:off x="3488436" y="2368296"/>
            <a:ext cx="2167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5"/>
          <p:cNvSpPr/>
          <p:nvPr/>
        </p:nvSpPr>
        <p:spPr>
          <a:xfrm>
            <a:off x="3451860" y="2679192"/>
            <a:ext cx="2240280" cy="256032"/>
          </a:xfrm>
          <a:prstGeom prst="roundRect">
            <a:avLst>
              <a:gd fmla="val 1428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5"/>
          <p:cNvSpPr txBox="1"/>
          <p:nvPr/>
        </p:nvSpPr>
        <p:spPr>
          <a:xfrm>
            <a:off x="3488436" y="2679192"/>
            <a:ext cx="21671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5"/>
          <p:cNvSpPr/>
          <p:nvPr/>
        </p:nvSpPr>
        <p:spPr>
          <a:xfrm>
            <a:off x="3360420" y="3200400"/>
            <a:ext cx="2423160" cy="36576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5"/>
          <p:cNvSpPr txBox="1"/>
          <p:nvPr/>
        </p:nvSpPr>
        <p:spPr>
          <a:xfrm>
            <a:off x="3497580" y="32004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line?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1" name="Google Shape;109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7820" y="32826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25"/>
          <p:cNvSpPr/>
          <p:nvPr/>
        </p:nvSpPr>
        <p:spPr>
          <a:xfrm>
            <a:off x="3360420" y="3657600"/>
            <a:ext cx="2423160" cy="36576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25"/>
          <p:cNvSpPr txBox="1"/>
          <p:nvPr/>
        </p:nvSpPr>
        <p:spPr>
          <a:xfrm>
            <a:off x="3497580" y="3657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Width &amp; height?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4" name="Google Shape;109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7820" y="37398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25"/>
          <p:cNvSpPr/>
          <p:nvPr/>
        </p:nvSpPr>
        <p:spPr>
          <a:xfrm>
            <a:off x="3360420" y="4434840"/>
            <a:ext cx="242316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25"/>
          <p:cNvSpPr txBox="1"/>
          <p:nvPr/>
        </p:nvSpPr>
        <p:spPr>
          <a:xfrm>
            <a:off x="3396996" y="4434840"/>
            <a:ext cx="2350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  &lt;p&gt;  &lt;h1&gt;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25"/>
          <p:cNvSpPr/>
          <p:nvPr/>
        </p:nvSpPr>
        <p:spPr>
          <a:xfrm>
            <a:off x="6080760" y="1508760"/>
            <a:ext cx="2697480" cy="2743200"/>
          </a:xfrm>
          <a:prstGeom prst="roundRect">
            <a:avLst>
              <a:gd fmla="val 406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25"/>
          <p:cNvSpPr/>
          <p:nvPr/>
        </p:nvSpPr>
        <p:spPr>
          <a:xfrm>
            <a:off x="6217920" y="1618488"/>
            <a:ext cx="1796796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5"/>
          <p:cNvSpPr txBox="1"/>
          <p:nvPr/>
        </p:nvSpPr>
        <p:spPr>
          <a:xfrm>
            <a:off x="6254496" y="1618488"/>
            <a:ext cx="17236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display: inline-block;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5"/>
          <p:cNvSpPr/>
          <p:nvPr/>
        </p:nvSpPr>
        <p:spPr>
          <a:xfrm>
            <a:off x="6217920" y="1965960"/>
            <a:ext cx="2423160" cy="1097280"/>
          </a:xfrm>
          <a:prstGeom prst="roundRect">
            <a:avLst>
              <a:gd fmla="val 5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5"/>
          <p:cNvSpPr/>
          <p:nvPr/>
        </p:nvSpPr>
        <p:spPr>
          <a:xfrm>
            <a:off x="6355080" y="2240280"/>
            <a:ext cx="685800" cy="548640"/>
          </a:xfrm>
          <a:prstGeom prst="roundRect">
            <a:avLst>
              <a:gd fmla="val 833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5"/>
          <p:cNvSpPr txBox="1"/>
          <p:nvPr/>
        </p:nvSpPr>
        <p:spPr>
          <a:xfrm>
            <a:off x="6391656" y="2240280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5"/>
          <p:cNvSpPr/>
          <p:nvPr/>
        </p:nvSpPr>
        <p:spPr>
          <a:xfrm>
            <a:off x="7132320" y="2240280"/>
            <a:ext cx="685800" cy="548640"/>
          </a:xfrm>
          <a:prstGeom prst="roundRect">
            <a:avLst>
              <a:gd fmla="val 8333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25"/>
          <p:cNvSpPr txBox="1"/>
          <p:nvPr/>
        </p:nvSpPr>
        <p:spPr>
          <a:xfrm>
            <a:off x="7168896" y="2240280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25"/>
          <p:cNvSpPr/>
          <p:nvPr/>
        </p:nvSpPr>
        <p:spPr>
          <a:xfrm>
            <a:off x="7909560" y="2240280"/>
            <a:ext cx="685800" cy="548640"/>
          </a:xfrm>
          <a:prstGeom prst="roundRect">
            <a:avLst>
              <a:gd fmla="val 833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5"/>
          <p:cNvSpPr txBox="1"/>
          <p:nvPr/>
        </p:nvSpPr>
        <p:spPr>
          <a:xfrm>
            <a:off x="7946136" y="2240280"/>
            <a:ext cx="61264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5"/>
          <p:cNvSpPr/>
          <p:nvPr/>
        </p:nvSpPr>
        <p:spPr>
          <a:xfrm>
            <a:off x="6217920" y="3200400"/>
            <a:ext cx="2423160" cy="36576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25"/>
          <p:cNvSpPr txBox="1"/>
          <p:nvPr/>
        </p:nvSpPr>
        <p:spPr>
          <a:xfrm>
            <a:off x="6355080" y="32004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New line?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9" name="Google Shape;11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5320" y="32826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25"/>
          <p:cNvSpPr/>
          <p:nvPr/>
        </p:nvSpPr>
        <p:spPr>
          <a:xfrm>
            <a:off x="6217920" y="3657600"/>
            <a:ext cx="2423160" cy="365760"/>
          </a:xfrm>
          <a:prstGeom prst="roundRect">
            <a:avLst>
              <a:gd fmla="val 20000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5"/>
          <p:cNvSpPr txBox="1"/>
          <p:nvPr/>
        </p:nvSpPr>
        <p:spPr>
          <a:xfrm>
            <a:off x="6355080" y="36576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Width &amp; height?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2" name="Google Shape;111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5320" y="37398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25"/>
          <p:cNvSpPr/>
          <p:nvPr/>
        </p:nvSpPr>
        <p:spPr>
          <a:xfrm>
            <a:off x="6217920" y="4434840"/>
            <a:ext cx="242316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25"/>
          <p:cNvSpPr txBox="1"/>
          <p:nvPr/>
        </p:nvSpPr>
        <p:spPr>
          <a:xfrm>
            <a:off x="6254496" y="4434840"/>
            <a:ext cx="2350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&lt;button&gt;  &lt;img&gt;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5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121" name="Google Shape;11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26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7  ·  FLEXBOX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6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Flexbox: the container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6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Organize elements with one line of CSS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26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26"/>
          <p:cNvSpPr/>
          <p:nvPr/>
        </p:nvSpPr>
        <p:spPr>
          <a:xfrm>
            <a:off x="365760" y="1508760"/>
            <a:ext cx="246888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6"/>
          <p:cNvSpPr/>
          <p:nvPr/>
        </p:nvSpPr>
        <p:spPr>
          <a:xfrm>
            <a:off x="475488" y="1645920"/>
            <a:ext cx="411480" cy="4114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8" name="Google Shape;112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243" y="174467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26"/>
          <p:cNvSpPr txBox="1"/>
          <p:nvPr/>
        </p:nvSpPr>
        <p:spPr>
          <a:xfrm>
            <a:off x="987552" y="15544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.container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0" name="Google Shape;1130;p26"/>
          <p:cNvCxnSpPr/>
          <p:nvPr/>
        </p:nvCxnSpPr>
        <p:spPr>
          <a:xfrm>
            <a:off x="2880360" y="1847088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1" name="Google Shape;1131;p26"/>
          <p:cNvSpPr/>
          <p:nvPr/>
        </p:nvSpPr>
        <p:spPr>
          <a:xfrm>
            <a:off x="3337560" y="1508760"/>
            <a:ext cx="246888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26"/>
          <p:cNvSpPr/>
          <p:nvPr/>
        </p:nvSpPr>
        <p:spPr>
          <a:xfrm>
            <a:off x="3447288" y="1645920"/>
            <a:ext cx="411480" cy="411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3" name="Google Shape;113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6043" y="174467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26"/>
          <p:cNvSpPr txBox="1"/>
          <p:nvPr/>
        </p:nvSpPr>
        <p:spPr>
          <a:xfrm>
            <a:off x="3959352" y="15544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display: flex;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5" name="Google Shape;1135;p26"/>
          <p:cNvCxnSpPr/>
          <p:nvPr/>
        </p:nvCxnSpPr>
        <p:spPr>
          <a:xfrm>
            <a:off x="5852160" y="1847088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6" name="Google Shape;1136;p26"/>
          <p:cNvSpPr/>
          <p:nvPr/>
        </p:nvSpPr>
        <p:spPr>
          <a:xfrm>
            <a:off x="6309360" y="1508760"/>
            <a:ext cx="2468880" cy="685800"/>
          </a:xfrm>
          <a:prstGeom prst="roundRect">
            <a:avLst>
              <a:gd fmla="val 16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6"/>
          <p:cNvSpPr/>
          <p:nvPr/>
        </p:nvSpPr>
        <p:spPr>
          <a:xfrm>
            <a:off x="6419088" y="1645920"/>
            <a:ext cx="411480" cy="41148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8" name="Google Shape;1138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7843" y="1744675"/>
            <a:ext cx="213970" cy="21397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26"/>
          <p:cNvSpPr txBox="1"/>
          <p:nvPr/>
        </p:nvSpPr>
        <p:spPr>
          <a:xfrm>
            <a:off x="6931152" y="155448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Children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become flex items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26"/>
          <p:cNvSpPr/>
          <p:nvPr/>
        </p:nvSpPr>
        <p:spPr>
          <a:xfrm>
            <a:off x="365760" y="2514600"/>
            <a:ext cx="2743200" cy="809244"/>
          </a:xfrm>
          <a:prstGeom prst="roundRect">
            <a:avLst>
              <a:gd fmla="val 11299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6"/>
          <p:cNvSpPr/>
          <p:nvPr/>
        </p:nvSpPr>
        <p:spPr>
          <a:xfrm>
            <a:off x="429768" y="2819400"/>
            <a:ext cx="2615184" cy="199644"/>
          </a:xfrm>
          <a:prstGeom prst="roundRect">
            <a:avLst>
              <a:gd fmla="val 18321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26"/>
          <p:cNvSpPr txBox="1"/>
          <p:nvPr/>
        </p:nvSpPr>
        <p:spPr>
          <a:xfrm>
            <a:off x="484632" y="2633472"/>
            <a:ext cx="250545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.container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6"/>
          <p:cNvSpPr/>
          <p:nvPr/>
        </p:nvSpPr>
        <p:spPr>
          <a:xfrm>
            <a:off x="365760" y="3520440"/>
            <a:ext cx="1188720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6"/>
          <p:cNvSpPr txBox="1"/>
          <p:nvPr/>
        </p:nvSpPr>
        <p:spPr>
          <a:xfrm>
            <a:off x="402336" y="3520440"/>
            <a:ext cx="11155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flex container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6"/>
          <p:cNvSpPr/>
          <p:nvPr/>
        </p:nvSpPr>
        <p:spPr>
          <a:xfrm>
            <a:off x="1691640" y="3520440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6"/>
          <p:cNvSpPr txBox="1"/>
          <p:nvPr/>
        </p:nvSpPr>
        <p:spPr>
          <a:xfrm>
            <a:off x="1728216" y="3520440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flex items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26"/>
          <p:cNvSpPr/>
          <p:nvPr/>
        </p:nvSpPr>
        <p:spPr>
          <a:xfrm>
            <a:off x="3383280" y="237744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6"/>
          <p:cNvSpPr txBox="1"/>
          <p:nvPr/>
        </p:nvSpPr>
        <p:spPr>
          <a:xfrm>
            <a:off x="3419856" y="237744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6"/>
          <p:cNvSpPr/>
          <p:nvPr/>
        </p:nvSpPr>
        <p:spPr>
          <a:xfrm>
            <a:off x="6355080" y="237744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6"/>
          <p:cNvSpPr txBox="1"/>
          <p:nvPr/>
        </p:nvSpPr>
        <p:spPr>
          <a:xfrm>
            <a:off x="6391656" y="237744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6"/>
          <p:cNvSpPr/>
          <p:nvPr/>
        </p:nvSpPr>
        <p:spPr>
          <a:xfrm>
            <a:off x="3383280" y="2651760"/>
            <a:ext cx="2194560" cy="173736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6"/>
          <p:cNvSpPr/>
          <p:nvPr/>
        </p:nvSpPr>
        <p:spPr>
          <a:xfrm>
            <a:off x="3465576" y="2734056"/>
            <a:ext cx="202996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26"/>
          <p:cNvSpPr txBox="1"/>
          <p:nvPr/>
        </p:nvSpPr>
        <p:spPr>
          <a:xfrm>
            <a:off x="3502152" y="2734056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6"/>
          <p:cNvSpPr/>
          <p:nvPr/>
        </p:nvSpPr>
        <p:spPr>
          <a:xfrm>
            <a:off x="3465576" y="3191256"/>
            <a:ext cx="202996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6"/>
          <p:cNvSpPr txBox="1"/>
          <p:nvPr/>
        </p:nvSpPr>
        <p:spPr>
          <a:xfrm>
            <a:off x="3502152" y="3191256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26"/>
          <p:cNvSpPr/>
          <p:nvPr/>
        </p:nvSpPr>
        <p:spPr>
          <a:xfrm>
            <a:off x="3465576" y="3648456"/>
            <a:ext cx="202996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26"/>
          <p:cNvSpPr txBox="1"/>
          <p:nvPr/>
        </p:nvSpPr>
        <p:spPr>
          <a:xfrm>
            <a:off x="3502152" y="3648456"/>
            <a:ext cx="195681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8" name="Google Shape;1158;p26"/>
          <p:cNvCxnSpPr/>
          <p:nvPr/>
        </p:nvCxnSpPr>
        <p:spPr>
          <a:xfrm>
            <a:off x="5669280" y="352044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9" name="Google Shape;1159;p26"/>
          <p:cNvSpPr/>
          <p:nvPr/>
        </p:nvSpPr>
        <p:spPr>
          <a:xfrm>
            <a:off x="6355080" y="2651760"/>
            <a:ext cx="2423160" cy="173736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6"/>
          <p:cNvSpPr/>
          <p:nvPr/>
        </p:nvSpPr>
        <p:spPr>
          <a:xfrm>
            <a:off x="6437376" y="2734056"/>
            <a:ext cx="548640" cy="548640"/>
          </a:xfrm>
          <a:prstGeom prst="roundRect">
            <a:avLst>
              <a:gd fmla="val 833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6"/>
          <p:cNvSpPr txBox="1"/>
          <p:nvPr/>
        </p:nvSpPr>
        <p:spPr>
          <a:xfrm>
            <a:off x="6473952" y="2734056"/>
            <a:ext cx="475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26"/>
          <p:cNvSpPr/>
          <p:nvPr/>
        </p:nvSpPr>
        <p:spPr>
          <a:xfrm>
            <a:off x="7059168" y="2734056"/>
            <a:ext cx="548640" cy="548640"/>
          </a:xfrm>
          <a:prstGeom prst="roundRect">
            <a:avLst>
              <a:gd fmla="val 8333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26"/>
          <p:cNvSpPr txBox="1"/>
          <p:nvPr/>
        </p:nvSpPr>
        <p:spPr>
          <a:xfrm>
            <a:off x="7095744" y="2734056"/>
            <a:ext cx="475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26"/>
          <p:cNvSpPr/>
          <p:nvPr/>
        </p:nvSpPr>
        <p:spPr>
          <a:xfrm>
            <a:off x="7680960" y="2734056"/>
            <a:ext cx="548640" cy="548640"/>
          </a:xfrm>
          <a:prstGeom prst="roundRect">
            <a:avLst>
              <a:gd fmla="val 833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26"/>
          <p:cNvSpPr txBox="1"/>
          <p:nvPr/>
        </p:nvSpPr>
        <p:spPr>
          <a:xfrm>
            <a:off x="7717536" y="2734056"/>
            <a:ext cx="47548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26"/>
          <p:cNvSpPr/>
          <p:nvPr/>
        </p:nvSpPr>
        <p:spPr>
          <a:xfrm>
            <a:off x="365760" y="3931920"/>
            <a:ext cx="2743200" cy="457200"/>
          </a:xfrm>
          <a:prstGeom prst="roundRect">
            <a:avLst>
              <a:gd fmla="val 2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26"/>
          <p:cNvSpPr txBox="1"/>
          <p:nvPr/>
        </p:nvSpPr>
        <p:spPr>
          <a:xfrm>
            <a:off x="402336" y="3931920"/>
            <a:ext cx="2670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Parent rule → children move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6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174" name="Google Shape;117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27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7  ·  FLEXBOX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7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flex-direction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7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Rows or columns: choose the main axis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7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27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7"/>
          <p:cNvSpPr/>
          <p:nvPr/>
        </p:nvSpPr>
        <p:spPr>
          <a:xfrm>
            <a:off x="548640" y="1645920"/>
            <a:ext cx="3749040" cy="974344"/>
          </a:xfrm>
          <a:prstGeom prst="roundRect">
            <a:avLst>
              <a:gd fmla="val 9385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27"/>
          <p:cNvSpPr/>
          <p:nvPr/>
        </p:nvSpPr>
        <p:spPr>
          <a:xfrm>
            <a:off x="612648" y="2128520"/>
            <a:ext cx="362102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27"/>
          <p:cNvSpPr txBox="1"/>
          <p:nvPr/>
        </p:nvSpPr>
        <p:spPr>
          <a:xfrm>
            <a:off x="667512" y="1764792"/>
            <a:ext cx="3511296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.container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flex-direction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7"/>
          <p:cNvSpPr/>
          <p:nvPr/>
        </p:nvSpPr>
        <p:spPr>
          <a:xfrm>
            <a:off x="548640" y="2788920"/>
            <a:ext cx="3749040" cy="109728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27"/>
          <p:cNvSpPr/>
          <p:nvPr/>
        </p:nvSpPr>
        <p:spPr>
          <a:xfrm>
            <a:off x="630936" y="2871216"/>
            <a:ext cx="640080" cy="548640"/>
          </a:xfrm>
          <a:prstGeom prst="roundRect">
            <a:avLst>
              <a:gd fmla="val 833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7"/>
          <p:cNvSpPr txBox="1"/>
          <p:nvPr/>
        </p:nvSpPr>
        <p:spPr>
          <a:xfrm>
            <a:off x="667512" y="2871216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7"/>
          <p:cNvSpPr/>
          <p:nvPr/>
        </p:nvSpPr>
        <p:spPr>
          <a:xfrm>
            <a:off x="1344168" y="2871216"/>
            <a:ext cx="640080" cy="548640"/>
          </a:xfrm>
          <a:prstGeom prst="roundRect">
            <a:avLst>
              <a:gd fmla="val 8333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7"/>
          <p:cNvSpPr txBox="1"/>
          <p:nvPr/>
        </p:nvSpPr>
        <p:spPr>
          <a:xfrm>
            <a:off x="1380744" y="2871216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7"/>
          <p:cNvSpPr/>
          <p:nvPr/>
        </p:nvSpPr>
        <p:spPr>
          <a:xfrm>
            <a:off x="2057400" y="2871216"/>
            <a:ext cx="640080" cy="548640"/>
          </a:xfrm>
          <a:prstGeom prst="roundRect">
            <a:avLst>
              <a:gd fmla="val 833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7"/>
          <p:cNvSpPr txBox="1"/>
          <p:nvPr/>
        </p:nvSpPr>
        <p:spPr>
          <a:xfrm>
            <a:off x="2093976" y="2871216"/>
            <a:ext cx="5669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0" name="Google Shape;1190;p27"/>
          <p:cNvCxnSpPr/>
          <p:nvPr/>
        </p:nvCxnSpPr>
        <p:spPr>
          <a:xfrm>
            <a:off x="640080" y="4069080"/>
            <a:ext cx="1737360" cy="0"/>
          </a:xfrm>
          <a:prstGeom prst="straightConnector1">
            <a:avLst/>
          </a:prstGeom>
          <a:noFill/>
          <a:ln cap="flat" cmpd="sng" w="317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1" name="Google Shape;1191;p27"/>
          <p:cNvSpPr txBox="1"/>
          <p:nvPr/>
        </p:nvSpPr>
        <p:spPr>
          <a:xfrm>
            <a:off x="2514600" y="395935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main axis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7"/>
          <p:cNvSpPr/>
          <p:nvPr/>
        </p:nvSpPr>
        <p:spPr>
          <a:xfrm>
            <a:off x="548640" y="4297680"/>
            <a:ext cx="973963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7"/>
          <p:cNvSpPr txBox="1"/>
          <p:nvPr/>
        </p:nvSpPr>
        <p:spPr>
          <a:xfrm>
            <a:off x="585216" y="4297680"/>
            <a:ext cx="90081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row-reverse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7"/>
          <p:cNvSpPr/>
          <p:nvPr/>
        </p:nvSpPr>
        <p:spPr>
          <a:xfrm>
            <a:off x="466344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7"/>
          <p:cNvSpPr/>
          <p:nvPr/>
        </p:nvSpPr>
        <p:spPr>
          <a:xfrm>
            <a:off x="4846320" y="1645920"/>
            <a:ext cx="3749040" cy="974344"/>
          </a:xfrm>
          <a:prstGeom prst="roundRect">
            <a:avLst>
              <a:gd fmla="val 9385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7"/>
          <p:cNvSpPr/>
          <p:nvPr/>
        </p:nvSpPr>
        <p:spPr>
          <a:xfrm>
            <a:off x="4910328" y="2128520"/>
            <a:ext cx="362102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27"/>
          <p:cNvSpPr txBox="1"/>
          <p:nvPr/>
        </p:nvSpPr>
        <p:spPr>
          <a:xfrm>
            <a:off x="4965192" y="1764792"/>
            <a:ext cx="3511296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.container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flex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flex-direction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column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7"/>
          <p:cNvSpPr/>
          <p:nvPr/>
        </p:nvSpPr>
        <p:spPr>
          <a:xfrm>
            <a:off x="4846320" y="2788920"/>
            <a:ext cx="2377440" cy="141732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7"/>
          <p:cNvSpPr/>
          <p:nvPr/>
        </p:nvSpPr>
        <p:spPr>
          <a:xfrm>
            <a:off x="4928616" y="2871216"/>
            <a:ext cx="914400" cy="329184"/>
          </a:xfrm>
          <a:prstGeom prst="roundRect">
            <a:avLst>
              <a:gd fmla="val 13889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27"/>
          <p:cNvSpPr txBox="1"/>
          <p:nvPr/>
        </p:nvSpPr>
        <p:spPr>
          <a:xfrm>
            <a:off x="4965192" y="2871216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7"/>
          <p:cNvSpPr/>
          <p:nvPr/>
        </p:nvSpPr>
        <p:spPr>
          <a:xfrm>
            <a:off x="4928616" y="3273552"/>
            <a:ext cx="914400" cy="329184"/>
          </a:xfrm>
          <a:prstGeom prst="roundRect">
            <a:avLst>
              <a:gd fmla="val 13889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2" name="Google Shape;1202;p27"/>
          <p:cNvSpPr txBox="1"/>
          <p:nvPr/>
        </p:nvSpPr>
        <p:spPr>
          <a:xfrm>
            <a:off x="4965192" y="3273552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27"/>
          <p:cNvSpPr/>
          <p:nvPr/>
        </p:nvSpPr>
        <p:spPr>
          <a:xfrm>
            <a:off x="4928616" y="3675888"/>
            <a:ext cx="914400" cy="329184"/>
          </a:xfrm>
          <a:prstGeom prst="roundRect">
            <a:avLst>
              <a:gd fmla="val 1388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27"/>
          <p:cNvSpPr txBox="1"/>
          <p:nvPr/>
        </p:nvSpPr>
        <p:spPr>
          <a:xfrm>
            <a:off x="4965192" y="3675888"/>
            <a:ext cx="84124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5" name="Google Shape;1205;p27"/>
          <p:cNvCxnSpPr/>
          <p:nvPr/>
        </p:nvCxnSpPr>
        <p:spPr>
          <a:xfrm>
            <a:off x="7589520" y="2834640"/>
            <a:ext cx="0" cy="1325880"/>
          </a:xfrm>
          <a:prstGeom prst="straightConnector1">
            <a:avLst/>
          </a:prstGeom>
          <a:noFill/>
          <a:ln cap="flat" cmpd="sng" w="317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6" name="Google Shape;1206;p27"/>
          <p:cNvSpPr txBox="1"/>
          <p:nvPr/>
        </p:nvSpPr>
        <p:spPr>
          <a:xfrm>
            <a:off x="7726680" y="33375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main axis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27"/>
          <p:cNvSpPr/>
          <p:nvPr/>
        </p:nvSpPr>
        <p:spPr>
          <a:xfrm>
            <a:off x="4846320" y="4315968"/>
            <a:ext cx="117475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27"/>
          <p:cNvSpPr txBox="1"/>
          <p:nvPr/>
        </p:nvSpPr>
        <p:spPr>
          <a:xfrm>
            <a:off x="4882896" y="4315968"/>
            <a:ext cx="110159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column-reverse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27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215" name="Google Shape;121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28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7  ·  FLEXBOX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28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justify-content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8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Align the items along the main axis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8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8"/>
          <p:cNvSpPr/>
          <p:nvPr/>
        </p:nvSpPr>
        <p:spPr>
          <a:xfrm>
            <a:off x="365760" y="1508760"/>
            <a:ext cx="269748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8"/>
          <p:cNvSpPr txBox="1"/>
          <p:nvPr/>
        </p:nvSpPr>
        <p:spPr>
          <a:xfrm>
            <a:off x="502920" y="160020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flex-start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8"/>
          <p:cNvSpPr/>
          <p:nvPr/>
        </p:nvSpPr>
        <p:spPr>
          <a:xfrm>
            <a:off x="502920" y="1892808"/>
            <a:ext cx="242316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8"/>
          <p:cNvSpPr/>
          <p:nvPr/>
        </p:nvSpPr>
        <p:spPr>
          <a:xfrm>
            <a:off x="585216" y="20208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8"/>
          <p:cNvSpPr txBox="1"/>
          <p:nvPr/>
        </p:nvSpPr>
        <p:spPr>
          <a:xfrm>
            <a:off x="621792" y="20208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28"/>
          <p:cNvSpPr/>
          <p:nvPr/>
        </p:nvSpPr>
        <p:spPr>
          <a:xfrm>
            <a:off x="1042416" y="20208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8"/>
          <p:cNvSpPr txBox="1"/>
          <p:nvPr/>
        </p:nvSpPr>
        <p:spPr>
          <a:xfrm>
            <a:off x="1078992" y="20208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8"/>
          <p:cNvSpPr/>
          <p:nvPr/>
        </p:nvSpPr>
        <p:spPr>
          <a:xfrm>
            <a:off x="1499616" y="20208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28"/>
          <p:cNvSpPr txBox="1"/>
          <p:nvPr/>
        </p:nvSpPr>
        <p:spPr>
          <a:xfrm>
            <a:off x="1536192" y="20208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9" name="Google Shape;1229;p28"/>
          <p:cNvCxnSpPr/>
          <p:nvPr/>
        </p:nvCxnSpPr>
        <p:spPr>
          <a:xfrm>
            <a:off x="548640" y="2743200"/>
            <a:ext cx="23317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0" name="Google Shape;1230;p28"/>
          <p:cNvSpPr txBox="1"/>
          <p:nvPr/>
        </p:nvSpPr>
        <p:spPr>
          <a:xfrm>
            <a:off x="548640" y="256032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main axis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8"/>
          <p:cNvSpPr/>
          <p:nvPr/>
        </p:nvSpPr>
        <p:spPr>
          <a:xfrm>
            <a:off x="3223260" y="1508760"/>
            <a:ext cx="269748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28"/>
          <p:cNvSpPr txBox="1"/>
          <p:nvPr/>
        </p:nvSpPr>
        <p:spPr>
          <a:xfrm>
            <a:off x="3360420" y="160020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8"/>
          <p:cNvSpPr/>
          <p:nvPr/>
        </p:nvSpPr>
        <p:spPr>
          <a:xfrm>
            <a:off x="3360420" y="1892808"/>
            <a:ext cx="242316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8"/>
          <p:cNvSpPr/>
          <p:nvPr/>
        </p:nvSpPr>
        <p:spPr>
          <a:xfrm>
            <a:off x="3922776" y="20208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8"/>
          <p:cNvSpPr txBox="1"/>
          <p:nvPr/>
        </p:nvSpPr>
        <p:spPr>
          <a:xfrm>
            <a:off x="3959352" y="20208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8"/>
          <p:cNvSpPr/>
          <p:nvPr/>
        </p:nvSpPr>
        <p:spPr>
          <a:xfrm>
            <a:off x="4379976" y="20208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28"/>
          <p:cNvSpPr txBox="1"/>
          <p:nvPr/>
        </p:nvSpPr>
        <p:spPr>
          <a:xfrm>
            <a:off x="4416552" y="20208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8"/>
          <p:cNvSpPr/>
          <p:nvPr/>
        </p:nvSpPr>
        <p:spPr>
          <a:xfrm>
            <a:off x="4837176" y="20208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28"/>
          <p:cNvSpPr txBox="1"/>
          <p:nvPr/>
        </p:nvSpPr>
        <p:spPr>
          <a:xfrm>
            <a:off x="4873752" y="20208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0" name="Google Shape;1240;p28"/>
          <p:cNvCxnSpPr/>
          <p:nvPr/>
        </p:nvCxnSpPr>
        <p:spPr>
          <a:xfrm>
            <a:off x="3406140" y="2743200"/>
            <a:ext cx="23317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1" name="Google Shape;1241;p28"/>
          <p:cNvSpPr txBox="1"/>
          <p:nvPr/>
        </p:nvSpPr>
        <p:spPr>
          <a:xfrm>
            <a:off x="3406140" y="256032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main axis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8"/>
          <p:cNvSpPr/>
          <p:nvPr/>
        </p:nvSpPr>
        <p:spPr>
          <a:xfrm>
            <a:off x="6080760" y="1508760"/>
            <a:ext cx="269748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8"/>
          <p:cNvSpPr txBox="1"/>
          <p:nvPr/>
        </p:nvSpPr>
        <p:spPr>
          <a:xfrm>
            <a:off x="6217920" y="160020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flex-end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8"/>
          <p:cNvSpPr/>
          <p:nvPr/>
        </p:nvSpPr>
        <p:spPr>
          <a:xfrm>
            <a:off x="6217920" y="1892808"/>
            <a:ext cx="242316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28"/>
          <p:cNvSpPr/>
          <p:nvPr/>
        </p:nvSpPr>
        <p:spPr>
          <a:xfrm>
            <a:off x="7260336" y="20208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8"/>
          <p:cNvSpPr txBox="1"/>
          <p:nvPr/>
        </p:nvSpPr>
        <p:spPr>
          <a:xfrm>
            <a:off x="7296912" y="20208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28"/>
          <p:cNvSpPr/>
          <p:nvPr/>
        </p:nvSpPr>
        <p:spPr>
          <a:xfrm>
            <a:off x="7717536" y="20208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8"/>
          <p:cNvSpPr txBox="1"/>
          <p:nvPr/>
        </p:nvSpPr>
        <p:spPr>
          <a:xfrm>
            <a:off x="7754112" y="20208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28"/>
          <p:cNvSpPr/>
          <p:nvPr/>
        </p:nvSpPr>
        <p:spPr>
          <a:xfrm>
            <a:off x="8174736" y="20208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28"/>
          <p:cNvSpPr txBox="1"/>
          <p:nvPr/>
        </p:nvSpPr>
        <p:spPr>
          <a:xfrm>
            <a:off x="8211312" y="20208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1" name="Google Shape;1251;p28"/>
          <p:cNvCxnSpPr/>
          <p:nvPr/>
        </p:nvCxnSpPr>
        <p:spPr>
          <a:xfrm>
            <a:off x="6263640" y="2743200"/>
            <a:ext cx="23317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2" name="Google Shape;1252;p28"/>
          <p:cNvSpPr txBox="1"/>
          <p:nvPr/>
        </p:nvSpPr>
        <p:spPr>
          <a:xfrm>
            <a:off x="6263640" y="256032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main axis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8"/>
          <p:cNvSpPr/>
          <p:nvPr/>
        </p:nvSpPr>
        <p:spPr>
          <a:xfrm>
            <a:off x="365760" y="3108960"/>
            <a:ext cx="269748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28"/>
          <p:cNvSpPr txBox="1"/>
          <p:nvPr/>
        </p:nvSpPr>
        <p:spPr>
          <a:xfrm>
            <a:off x="502920" y="320040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space-between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8"/>
          <p:cNvSpPr/>
          <p:nvPr/>
        </p:nvSpPr>
        <p:spPr>
          <a:xfrm>
            <a:off x="502920" y="3493008"/>
            <a:ext cx="242316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28"/>
          <p:cNvSpPr/>
          <p:nvPr/>
        </p:nvSpPr>
        <p:spPr>
          <a:xfrm>
            <a:off x="585216" y="36210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28"/>
          <p:cNvSpPr txBox="1"/>
          <p:nvPr/>
        </p:nvSpPr>
        <p:spPr>
          <a:xfrm>
            <a:off x="621792" y="36210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28"/>
          <p:cNvSpPr/>
          <p:nvPr/>
        </p:nvSpPr>
        <p:spPr>
          <a:xfrm>
            <a:off x="1522476" y="36210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28"/>
          <p:cNvSpPr txBox="1"/>
          <p:nvPr/>
        </p:nvSpPr>
        <p:spPr>
          <a:xfrm>
            <a:off x="1559052" y="36210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8"/>
          <p:cNvSpPr/>
          <p:nvPr/>
        </p:nvSpPr>
        <p:spPr>
          <a:xfrm>
            <a:off x="2459736" y="36210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28"/>
          <p:cNvSpPr txBox="1"/>
          <p:nvPr/>
        </p:nvSpPr>
        <p:spPr>
          <a:xfrm>
            <a:off x="2496312" y="36210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2" name="Google Shape;1262;p28"/>
          <p:cNvCxnSpPr/>
          <p:nvPr/>
        </p:nvCxnSpPr>
        <p:spPr>
          <a:xfrm>
            <a:off x="548640" y="4343400"/>
            <a:ext cx="23317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3" name="Google Shape;1263;p28"/>
          <p:cNvSpPr txBox="1"/>
          <p:nvPr/>
        </p:nvSpPr>
        <p:spPr>
          <a:xfrm>
            <a:off x="548640" y="416052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main axis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28"/>
          <p:cNvSpPr/>
          <p:nvPr/>
        </p:nvSpPr>
        <p:spPr>
          <a:xfrm>
            <a:off x="3223260" y="3108960"/>
            <a:ext cx="269748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28"/>
          <p:cNvSpPr txBox="1"/>
          <p:nvPr/>
        </p:nvSpPr>
        <p:spPr>
          <a:xfrm>
            <a:off x="3360420" y="320040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space-around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8"/>
          <p:cNvSpPr/>
          <p:nvPr/>
        </p:nvSpPr>
        <p:spPr>
          <a:xfrm>
            <a:off x="3360420" y="3493008"/>
            <a:ext cx="242316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28"/>
          <p:cNvSpPr/>
          <p:nvPr/>
        </p:nvSpPr>
        <p:spPr>
          <a:xfrm>
            <a:off x="3602736" y="36210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28"/>
          <p:cNvSpPr txBox="1"/>
          <p:nvPr/>
        </p:nvSpPr>
        <p:spPr>
          <a:xfrm>
            <a:off x="3639312" y="36210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8"/>
          <p:cNvSpPr/>
          <p:nvPr/>
        </p:nvSpPr>
        <p:spPr>
          <a:xfrm>
            <a:off x="4379976" y="36210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8"/>
          <p:cNvSpPr txBox="1"/>
          <p:nvPr/>
        </p:nvSpPr>
        <p:spPr>
          <a:xfrm>
            <a:off x="4416552" y="36210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28"/>
          <p:cNvSpPr/>
          <p:nvPr/>
        </p:nvSpPr>
        <p:spPr>
          <a:xfrm>
            <a:off x="5157216" y="36210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8"/>
          <p:cNvSpPr txBox="1"/>
          <p:nvPr/>
        </p:nvSpPr>
        <p:spPr>
          <a:xfrm>
            <a:off x="5193792" y="36210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3" name="Google Shape;1273;p28"/>
          <p:cNvCxnSpPr/>
          <p:nvPr/>
        </p:nvCxnSpPr>
        <p:spPr>
          <a:xfrm>
            <a:off x="3406140" y="4343400"/>
            <a:ext cx="23317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4" name="Google Shape;1274;p28"/>
          <p:cNvSpPr txBox="1"/>
          <p:nvPr/>
        </p:nvSpPr>
        <p:spPr>
          <a:xfrm>
            <a:off x="3406140" y="416052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main axis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28"/>
          <p:cNvSpPr/>
          <p:nvPr/>
        </p:nvSpPr>
        <p:spPr>
          <a:xfrm>
            <a:off x="6080760" y="3108960"/>
            <a:ext cx="269748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8"/>
          <p:cNvSpPr txBox="1"/>
          <p:nvPr/>
        </p:nvSpPr>
        <p:spPr>
          <a:xfrm>
            <a:off x="6217920" y="320040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space-evenly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28"/>
          <p:cNvSpPr/>
          <p:nvPr/>
        </p:nvSpPr>
        <p:spPr>
          <a:xfrm>
            <a:off x="6217920" y="3493008"/>
            <a:ext cx="242316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8"/>
          <p:cNvSpPr/>
          <p:nvPr/>
        </p:nvSpPr>
        <p:spPr>
          <a:xfrm>
            <a:off x="6540246" y="36210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28"/>
          <p:cNvSpPr txBox="1"/>
          <p:nvPr/>
        </p:nvSpPr>
        <p:spPr>
          <a:xfrm>
            <a:off x="6576822" y="36210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28"/>
          <p:cNvSpPr/>
          <p:nvPr/>
        </p:nvSpPr>
        <p:spPr>
          <a:xfrm>
            <a:off x="7237476" y="36210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28"/>
          <p:cNvSpPr txBox="1"/>
          <p:nvPr/>
        </p:nvSpPr>
        <p:spPr>
          <a:xfrm>
            <a:off x="7274052" y="36210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28"/>
          <p:cNvSpPr/>
          <p:nvPr/>
        </p:nvSpPr>
        <p:spPr>
          <a:xfrm>
            <a:off x="7934706" y="3621024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28"/>
          <p:cNvSpPr txBox="1"/>
          <p:nvPr/>
        </p:nvSpPr>
        <p:spPr>
          <a:xfrm>
            <a:off x="7971282" y="3621024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4" name="Google Shape;1284;p28"/>
          <p:cNvCxnSpPr/>
          <p:nvPr/>
        </p:nvCxnSpPr>
        <p:spPr>
          <a:xfrm>
            <a:off x="6263640" y="4343400"/>
            <a:ext cx="233172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5" name="Google Shape;1285;p28"/>
          <p:cNvSpPr txBox="1"/>
          <p:nvPr/>
        </p:nvSpPr>
        <p:spPr>
          <a:xfrm>
            <a:off x="6263640" y="4160520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main axis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28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292" name="Google Shape;129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29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7  ·  FLEXBOX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9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align-items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29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Align the items on the cross axis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29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29"/>
          <p:cNvSpPr/>
          <p:nvPr/>
        </p:nvSpPr>
        <p:spPr>
          <a:xfrm>
            <a:off x="365760" y="1508760"/>
            <a:ext cx="2011680" cy="265176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9"/>
          <p:cNvSpPr txBox="1"/>
          <p:nvPr/>
        </p:nvSpPr>
        <p:spPr>
          <a:xfrm>
            <a:off x="457200" y="15819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flex-start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9"/>
          <p:cNvSpPr/>
          <p:nvPr/>
        </p:nvSpPr>
        <p:spPr>
          <a:xfrm>
            <a:off x="502920" y="1874520"/>
            <a:ext cx="1737360" cy="178308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29"/>
          <p:cNvSpPr/>
          <p:nvPr/>
        </p:nvSpPr>
        <p:spPr>
          <a:xfrm>
            <a:off x="585216" y="1956816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9"/>
          <p:cNvSpPr txBox="1"/>
          <p:nvPr/>
        </p:nvSpPr>
        <p:spPr>
          <a:xfrm>
            <a:off x="621792" y="1956816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9"/>
          <p:cNvSpPr/>
          <p:nvPr/>
        </p:nvSpPr>
        <p:spPr>
          <a:xfrm>
            <a:off x="1042416" y="1956816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29"/>
          <p:cNvSpPr txBox="1"/>
          <p:nvPr/>
        </p:nvSpPr>
        <p:spPr>
          <a:xfrm>
            <a:off x="1078992" y="1956816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9"/>
          <p:cNvSpPr/>
          <p:nvPr/>
        </p:nvSpPr>
        <p:spPr>
          <a:xfrm>
            <a:off x="1499616" y="1956816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9"/>
          <p:cNvSpPr txBox="1"/>
          <p:nvPr/>
        </p:nvSpPr>
        <p:spPr>
          <a:xfrm>
            <a:off x="1536192" y="1956816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9"/>
          <p:cNvSpPr txBox="1"/>
          <p:nvPr/>
        </p:nvSpPr>
        <p:spPr>
          <a:xfrm>
            <a:off x="457200" y="3749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29"/>
          <p:cNvSpPr/>
          <p:nvPr/>
        </p:nvSpPr>
        <p:spPr>
          <a:xfrm>
            <a:off x="2514600" y="1508760"/>
            <a:ext cx="2011680" cy="265176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9"/>
          <p:cNvSpPr txBox="1"/>
          <p:nvPr/>
        </p:nvSpPr>
        <p:spPr>
          <a:xfrm>
            <a:off x="2606040" y="15819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9"/>
          <p:cNvSpPr/>
          <p:nvPr/>
        </p:nvSpPr>
        <p:spPr>
          <a:xfrm>
            <a:off x="2651760" y="1874520"/>
            <a:ext cx="1737360" cy="178308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29"/>
          <p:cNvSpPr/>
          <p:nvPr/>
        </p:nvSpPr>
        <p:spPr>
          <a:xfrm>
            <a:off x="2734056" y="2574036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9"/>
          <p:cNvSpPr txBox="1"/>
          <p:nvPr/>
        </p:nvSpPr>
        <p:spPr>
          <a:xfrm>
            <a:off x="2770632" y="2574036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9"/>
          <p:cNvSpPr/>
          <p:nvPr/>
        </p:nvSpPr>
        <p:spPr>
          <a:xfrm>
            <a:off x="3191256" y="2574036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9"/>
          <p:cNvSpPr txBox="1"/>
          <p:nvPr/>
        </p:nvSpPr>
        <p:spPr>
          <a:xfrm>
            <a:off x="3227832" y="2574036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29"/>
          <p:cNvSpPr/>
          <p:nvPr/>
        </p:nvSpPr>
        <p:spPr>
          <a:xfrm>
            <a:off x="3648456" y="2574036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29"/>
          <p:cNvSpPr txBox="1"/>
          <p:nvPr/>
        </p:nvSpPr>
        <p:spPr>
          <a:xfrm>
            <a:off x="3685032" y="2574036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29"/>
          <p:cNvSpPr txBox="1"/>
          <p:nvPr/>
        </p:nvSpPr>
        <p:spPr>
          <a:xfrm>
            <a:off x="2606040" y="3749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middle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9"/>
          <p:cNvSpPr/>
          <p:nvPr/>
        </p:nvSpPr>
        <p:spPr>
          <a:xfrm>
            <a:off x="4663440" y="1508760"/>
            <a:ext cx="2011680" cy="265176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29"/>
          <p:cNvSpPr txBox="1"/>
          <p:nvPr/>
        </p:nvSpPr>
        <p:spPr>
          <a:xfrm>
            <a:off x="4754880" y="15819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flex-end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9"/>
          <p:cNvSpPr/>
          <p:nvPr/>
        </p:nvSpPr>
        <p:spPr>
          <a:xfrm>
            <a:off x="4800600" y="1874520"/>
            <a:ext cx="1737360" cy="178308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9"/>
          <p:cNvSpPr/>
          <p:nvPr/>
        </p:nvSpPr>
        <p:spPr>
          <a:xfrm>
            <a:off x="4882896" y="3191256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9"/>
          <p:cNvSpPr txBox="1"/>
          <p:nvPr/>
        </p:nvSpPr>
        <p:spPr>
          <a:xfrm>
            <a:off x="4919472" y="3191256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29"/>
          <p:cNvSpPr/>
          <p:nvPr/>
        </p:nvSpPr>
        <p:spPr>
          <a:xfrm>
            <a:off x="5340096" y="3191256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29"/>
          <p:cNvSpPr txBox="1"/>
          <p:nvPr/>
        </p:nvSpPr>
        <p:spPr>
          <a:xfrm>
            <a:off x="5376672" y="3191256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29"/>
          <p:cNvSpPr/>
          <p:nvPr/>
        </p:nvSpPr>
        <p:spPr>
          <a:xfrm>
            <a:off x="5797296" y="3191256"/>
            <a:ext cx="384048" cy="38404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29"/>
          <p:cNvSpPr txBox="1"/>
          <p:nvPr/>
        </p:nvSpPr>
        <p:spPr>
          <a:xfrm>
            <a:off x="5833872" y="3191256"/>
            <a:ext cx="31089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29"/>
          <p:cNvSpPr txBox="1"/>
          <p:nvPr/>
        </p:nvSpPr>
        <p:spPr>
          <a:xfrm>
            <a:off x="4754880" y="3749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bottom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29"/>
          <p:cNvSpPr/>
          <p:nvPr/>
        </p:nvSpPr>
        <p:spPr>
          <a:xfrm>
            <a:off x="6812280" y="1508760"/>
            <a:ext cx="2011680" cy="265176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29"/>
          <p:cNvSpPr txBox="1"/>
          <p:nvPr/>
        </p:nvSpPr>
        <p:spPr>
          <a:xfrm>
            <a:off x="6903720" y="1581912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stretch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29"/>
          <p:cNvSpPr/>
          <p:nvPr/>
        </p:nvSpPr>
        <p:spPr>
          <a:xfrm>
            <a:off x="6949440" y="1874520"/>
            <a:ext cx="1737360" cy="1783080"/>
          </a:xfrm>
          <a:prstGeom prst="roundRect">
            <a:avLst>
              <a:gd fmla="val 2632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29"/>
          <p:cNvSpPr/>
          <p:nvPr/>
        </p:nvSpPr>
        <p:spPr>
          <a:xfrm>
            <a:off x="7031736" y="1956816"/>
            <a:ext cx="384048" cy="1618488"/>
          </a:xfrm>
          <a:prstGeom prst="roundRect">
            <a:avLst>
              <a:gd fmla="val 11905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9"/>
          <p:cNvSpPr txBox="1"/>
          <p:nvPr/>
        </p:nvSpPr>
        <p:spPr>
          <a:xfrm>
            <a:off x="7068312" y="1956816"/>
            <a:ext cx="310896" cy="161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29"/>
          <p:cNvSpPr/>
          <p:nvPr/>
        </p:nvSpPr>
        <p:spPr>
          <a:xfrm>
            <a:off x="7488936" y="1956816"/>
            <a:ext cx="384048" cy="1618488"/>
          </a:xfrm>
          <a:prstGeom prst="roundRect">
            <a:avLst>
              <a:gd fmla="val 11905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29"/>
          <p:cNvSpPr txBox="1"/>
          <p:nvPr/>
        </p:nvSpPr>
        <p:spPr>
          <a:xfrm>
            <a:off x="7525512" y="1956816"/>
            <a:ext cx="310896" cy="161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29"/>
          <p:cNvSpPr/>
          <p:nvPr/>
        </p:nvSpPr>
        <p:spPr>
          <a:xfrm>
            <a:off x="7946136" y="1956816"/>
            <a:ext cx="384048" cy="1618488"/>
          </a:xfrm>
          <a:prstGeom prst="roundRect">
            <a:avLst>
              <a:gd fmla="val 1190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29"/>
          <p:cNvSpPr txBox="1"/>
          <p:nvPr/>
        </p:nvSpPr>
        <p:spPr>
          <a:xfrm>
            <a:off x="7982712" y="1956816"/>
            <a:ext cx="310896" cy="1618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29"/>
          <p:cNvSpPr txBox="1"/>
          <p:nvPr/>
        </p:nvSpPr>
        <p:spPr>
          <a:xfrm>
            <a:off x="6903720" y="37490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full height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29"/>
          <p:cNvSpPr/>
          <p:nvPr/>
        </p:nvSpPr>
        <p:spPr>
          <a:xfrm>
            <a:off x="365760" y="4297680"/>
            <a:ext cx="8412480" cy="347472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29"/>
          <p:cNvSpPr txBox="1"/>
          <p:nvPr/>
        </p:nvSpPr>
        <p:spPr>
          <a:xfrm>
            <a:off x="365760" y="429768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cross axis  ↕   is perpendicular to the main axis  ↔  (in flex-direction: row)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29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345" name="Google Shape;13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6" name="Google Shape;1346;p30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7  ·  FLEXBOX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30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flex-wrap &amp; align-content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30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When there is not enough space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30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30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30"/>
          <p:cNvSpPr txBox="1"/>
          <p:nvPr/>
        </p:nvSpPr>
        <p:spPr>
          <a:xfrm>
            <a:off x="548640" y="16002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flex-wrap: nowrap;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0"/>
          <p:cNvSpPr/>
          <p:nvPr/>
        </p:nvSpPr>
        <p:spPr>
          <a:xfrm>
            <a:off x="548640" y="1874520"/>
            <a:ext cx="3749040" cy="59436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30"/>
          <p:cNvSpPr/>
          <p:nvPr/>
        </p:nvSpPr>
        <p:spPr>
          <a:xfrm>
            <a:off x="630936" y="1988820"/>
            <a:ext cx="658368" cy="365760"/>
          </a:xfrm>
          <a:prstGeom prst="roundRect">
            <a:avLst>
              <a:gd fmla="val 125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30"/>
          <p:cNvSpPr txBox="1"/>
          <p:nvPr/>
        </p:nvSpPr>
        <p:spPr>
          <a:xfrm>
            <a:off x="667512" y="1988820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30"/>
          <p:cNvSpPr/>
          <p:nvPr/>
        </p:nvSpPr>
        <p:spPr>
          <a:xfrm>
            <a:off x="1362456" y="1988820"/>
            <a:ext cx="658368" cy="365760"/>
          </a:xfrm>
          <a:prstGeom prst="roundRect">
            <a:avLst>
              <a:gd fmla="val 125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30"/>
          <p:cNvSpPr txBox="1"/>
          <p:nvPr/>
        </p:nvSpPr>
        <p:spPr>
          <a:xfrm>
            <a:off x="1399032" y="1988820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30"/>
          <p:cNvSpPr/>
          <p:nvPr/>
        </p:nvSpPr>
        <p:spPr>
          <a:xfrm>
            <a:off x="2093976" y="1988820"/>
            <a:ext cx="658368" cy="365760"/>
          </a:xfrm>
          <a:prstGeom prst="roundRect">
            <a:avLst>
              <a:gd fmla="val 125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30"/>
          <p:cNvSpPr txBox="1"/>
          <p:nvPr/>
        </p:nvSpPr>
        <p:spPr>
          <a:xfrm>
            <a:off x="2130552" y="1988820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30"/>
          <p:cNvSpPr/>
          <p:nvPr/>
        </p:nvSpPr>
        <p:spPr>
          <a:xfrm>
            <a:off x="2825496" y="1988820"/>
            <a:ext cx="658368" cy="365760"/>
          </a:xfrm>
          <a:prstGeom prst="roundRect">
            <a:avLst>
              <a:gd fmla="val 125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30"/>
          <p:cNvSpPr txBox="1"/>
          <p:nvPr/>
        </p:nvSpPr>
        <p:spPr>
          <a:xfrm>
            <a:off x="2862072" y="1988820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0"/>
          <p:cNvSpPr/>
          <p:nvPr/>
        </p:nvSpPr>
        <p:spPr>
          <a:xfrm>
            <a:off x="3557016" y="1988820"/>
            <a:ext cx="658368" cy="365760"/>
          </a:xfrm>
          <a:prstGeom prst="roundRect">
            <a:avLst>
              <a:gd fmla="val 125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30"/>
          <p:cNvSpPr txBox="1"/>
          <p:nvPr/>
        </p:nvSpPr>
        <p:spPr>
          <a:xfrm>
            <a:off x="3593592" y="1988820"/>
            <a:ext cx="58521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30"/>
          <p:cNvSpPr txBox="1"/>
          <p:nvPr/>
        </p:nvSpPr>
        <p:spPr>
          <a:xfrm>
            <a:off x="548640" y="26060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flex-wrap: wrap;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30"/>
          <p:cNvSpPr/>
          <p:nvPr/>
        </p:nvSpPr>
        <p:spPr>
          <a:xfrm>
            <a:off x="548640" y="2880360"/>
            <a:ext cx="3749040" cy="105156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30"/>
          <p:cNvSpPr/>
          <p:nvPr/>
        </p:nvSpPr>
        <p:spPr>
          <a:xfrm>
            <a:off x="630936" y="2962656"/>
            <a:ext cx="777240" cy="365760"/>
          </a:xfrm>
          <a:prstGeom prst="roundRect">
            <a:avLst>
              <a:gd fmla="val 125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30"/>
          <p:cNvSpPr txBox="1"/>
          <p:nvPr/>
        </p:nvSpPr>
        <p:spPr>
          <a:xfrm>
            <a:off x="667512" y="2962656"/>
            <a:ext cx="704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0"/>
          <p:cNvSpPr/>
          <p:nvPr/>
        </p:nvSpPr>
        <p:spPr>
          <a:xfrm>
            <a:off x="1481328" y="2962656"/>
            <a:ext cx="777240" cy="365760"/>
          </a:xfrm>
          <a:prstGeom prst="roundRect">
            <a:avLst>
              <a:gd fmla="val 125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30"/>
          <p:cNvSpPr txBox="1"/>
          <p:nvPr/>
        </p:nvSpPr>
        <p:spPr>
          <a:xfrm>
            <a:off x="1517904" y="2962656"/>
            <a:ext cx="704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30"/>
          <p:cNvSpPr/>
          <p:nvPr/>
        </p:nvSpPr>
        <p:spPr>
          <a:xfrm>
            <a:off x="2331720" y="2962656"/>
            <a:ext cx="777240" cy="365760"/>
          </a:xfrm>
          <a:prstGeom prst="roundRect">
            <a:avLst>
              <a:gd fmla="val 125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0"/>
          <p:cNvSpPr txBox="1"/>
          <p:nvPr/>
        </p:nvSpPr>
        <p:spPr>
          <a:xfrm>
            <a:off x="2368296" y="2962656"/>
            <a:ext cx="704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30"/>
          <p:cNvSpPr/>
          <p:nvPr/>
        </p:nvSpPr>
        <p:spPr>
          <a:xfrm>
            <a:off x="3182112" y="2962656"/>
            <a:ext cx="777240" cy="365760"/>
          </a:xfrm>
          <a:prstGeom prst="roundRect">
            <a:avLst>
              <a:gd fmla="val 125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30"/>
          <p:cNvSpPr txBox="1"/>
          <p:nvPr/>
        </p:nvSpPr>
        <p:spPr>
          <a:xfrm>
            <a:off x="3218688" y="2962656"/>
            <a:ext cx="704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30"/>
          <p:cNvSpPr/>
          <p:nvPr/>
        </p:nvSpPr>
        <p:spPr>
          <a:xfrm>
            <a:off x="630936" y="3401568"/>
            <a:ext cx="777240" cy="365760"/>
          </a:xfrm>
          <a:prstGeom prst="roundRect">
            <a:avLst>
              <a:gd fmla="val 125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30"/>
          <p:cNvSpPr txBox="1"/>
          <p:nvPr/>
        </p:nvSpPr>
        <p:spPr>
          <a:xfrm>
            <a:off x="667512" y="3401568"/>
            <a:ext cx="7040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0"/>
          <p:cNvSpPr/>
          <p:nvPr/>
        </p:nvSpPr>
        <p:spPr>
          <a:xfrm>
            <a:off x="548640" y="4069080"/>
            <a:ext cx="3749040" cy="457200"/>
          </a:xfrm>
          <a:prstGeom prst="roundRect">
            <a:avLst>
              <a:gd fmla="val 2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30"/>
          <p:cNvSpPr txBox="1"/>
          <p:nvPr/>
        </p:nvSpPr>
        <p:spPr>
          <a:xfrm>
            <a:off x="585216" y="4069080"/>
            <a:ext cx="3675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nowrap: items shrink  ·  wrap: next 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30"/>
          <p:cNvSpPr/>
          <p:nvPr/>
        </p:nvSpPr>
        <p:spPr>
          <a:xfrm>
            <a:off x="466344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30"/>
          <p:cNvSpPr txBox="1"/>
          <p:nvPr/>
        </p:nvSpPr>
        <p:spPr>
          <a:xfrm>
            <a:off x="4846320" y="160020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align-content: center;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30"/>
          <p:cNvSpPr/>
          <p:nvPr/>
        </p:nvSpPr>
        <p:spPr>
          <a:xfrm>
            <a:off x="4846320" y="1874520"/>
            <a:ext cx="3749040" cy="1051560"/>
          </a:xfrm>
          <a:prstGeom prst="roundRect">
            <a:avLst>
              <a:gd fmla="val 4348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30"/>
          <p:cNvSpPr/>
          <p:nvPr/>
        </p:nvSpPr>
        <p:spPr>
          <a:xfrm>
            <a:off x="4928616" y="2089404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30"/>
          <p:cNvSpPr txBox="1"/>
          <p:nvPr/>
        </p:nvSpPr>
        <p:spPr>
          <a:xfrm>
            <a:off x="4965192" y="2089404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0"/>
          <p:cNvSpPr/>
          <p:nvPr/>
        </p:nvSpPr>
        <p:spPr>
          <a:xfrm>
            <a:off x="5779008" y="2089404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0"/>
          <p:cNvSpPr txBox="1"/>
          <p:nvPr/>
        </p:nvSpPr>
        <p:spPr>
          <a:xfrm>
            <a:off x="5815584" y="2089404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30"/>
          <p:cNvSpPr/>
          <p:nvPr/>
        </p:nvSpPr>
        <p:spPr>
          <a:xfrm>
            <a:off x="6629400" y="2089404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30"/>
          <p:cNvSpPr txBox="1"/>
          <p:nvPr/>
        </p:nvSpPr>
        <p:spPr>
          <a:xfrm>
            <a:off x="6665976" y="2089404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0"/>
          <p:cNvSpPr/>
          <p:nvPr/>
        </p:nvSpPr>
        <p:spPr>
          <a:xfrm>
            <a:off x="7479792" y="2089404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30"/>
          <p:cNvSpPr txBox="1"/>
          <p:nvPr/>
        </p:nvSpPr>
        <p:spPr>
          <a:xfrm>
            <a:off x="7516368" y="2089404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0"/>
          <p:cNvSpPr/>
          <p:nvPr/>
        </p:nvSpPr>
        <p:spPr>
          <a:xfrm>
            <a:off x="4928616" y="2436876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30"/>
          <p:cNvSpPr txBox="1"/>
          <p:nvPr/>
        </p:nvSpPr>
        <p:spPr>
          <a:xfrm>
            <a:off x="4965192" y="2436876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0"/>
          <p:cNvSpPr/>
          <p:nvPr/>
        </p:nvSpPr>
        <p:spPr>
          <a:xfrm>
            <a:off x="5779008" y="2436876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0"/>
          <p:cNvSpPr txBox="1"/>
          <p:nvPr/>
        </p:nvSpPr>
        <p:spPr>
          <a:xfrm>
            <a:off x="5815584" y="2436876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0"/>
          <p:cNvSpPr txBox="1"/>
          <p:nvPr/>
        </p:nvSpPr>
        <p:spPr>
          <a:xfrm>
            <a:off x="4846320" y="30632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rPr>
              <a:t>align-content: space-between;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0"/>
          <p:cNvSpPr/>
          <p:nvPr/>
        </p:nvSpPr>
        <p:spPr>
          <a:xfrm>
            <a:off x="4846320" y="3337560"/>
            <a:ext cx="3749040" cy="118872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30"/>
          <p:cNvSpPr/>
          <p:nvPr/>
        </p:nvSpPr>
        <p:spPr>
          <a:xfrm>
            <a:off x="4928616" y="3419856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30"/>
          <p:cNvSpPr txBox="1"/>
          <p:nvPr/>
        </p:nvSpPr>
        <p:spPr>
          <a:xfrm>
            <a:off x="4965192" y="3419856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0"/>
          <p:cNvSpPr/>
          <p:nvPr/>
        </p:nvSpPr>
        <p:spPr>
          <a:xfrm>
            <a:off x="5779008" y="3419856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0"/>
          <p:cNvSpPr txBox="1"/>
          <p:nvPr/>
        </p:nvSpPr>
        <p:spPr>
          <a:xfrm>
            <a:off x="5815584" y="3419856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0"/>
          <p:cNvSpPr/>
          <p:nvPr/>
        </p:nvSpPr>
        <p:spPr>
          <a:xfrm>
            <a:off x="6629400" y="3419856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30"/>
          <p:cNvSpPr txBox="1"/>
          <p:nvPr/>
        </p:nvSpPr>
        <p:spPr>
          <a:xfrm>
            <a:off x="6665976" y="3419856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0"/>
          <p:cNvSpPr/>
          <p:nvPr/>
        </p:nvSpPr>
        <p:spPr>
          <a:xfrm>
            <a:off x="7479792" y="3419856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30"/>
          <p:cNvSpPr txBox="1"/>
          <p:nvPr/>
        </p:nvSpPr>
        <p:spPr>
          <a:xfrm>
            <a:off x="7516368" y="3419856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0"/>
          <p:cNvSpPr/>
          <p:nvPr/>
        </p:nvSpPr>
        <p:spPr>
          <a:xfrm>
            <a:off x="4928616" y="4169664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30"/>
          <p:cNvSpPr txBox="1"/>
          <p:nvPr/>
        </p:nvSpPr>
        <p:spPr>
          <a:xfrm>
            <a:off x="4965192" y="4169664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30"/>
          <p:cNvSpPr/>
          <p:nvPr/>
        </p:nvSpPr>
        <p:spPr>
          <a:xfrm>
            <a:off x="5779008" y="4169664"/>
            <a:ext cx="777240" cy="274320"/>
          </a:xfrm>
          <a:prstGeom prst="roundRect">
            <a:avLst>
              <a:gd fmla="val 16667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30"/>
          <p:cNvSpPr txBox="1"/>
          <p:nvPr/>
        </p:nvSpPr>
        <p:spPr>
          <a:xfrm>
            <a:off x="5815584" y="4169664"/>
            <a:ext cx="7040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0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412" name="Google Shape;141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3" name="Google Shape;1413;p31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8  ·  CSS POSITION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31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 Position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31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Five ways to place an element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1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31"/>
          <p:cNvSpPr/>
          <p:nvPr/>
        </p:nvSpPr>
        <p:spPr>
          <a:xfrm>
            <a:off x="365760" y="1508760"/>
            <a:ext cx="1600200" cy="315468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31"/>
          <p:cNvSpPr txBox="1"/>
          <p:nvPr/>
        </p:nvSpPr>
        <p:spPr>
          <a:xfrm>
            <a:off x="365760" y="16002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31"/>
          <p:cNvSpPr/>
          <p:nvPr/>
        </p:nvSpPr>
        <p:spPr>
          <a:xfrm>
            <a:off x="475488" y="1965960"/>
            <a:ext cx="1380744" cy="1463040"/>
          </a:xfrm>
          <a:prstGeom prst="roundRect">
            <a:avLst>
              <a:gd fmla="val 397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31"/>
          <p:cNvSpPr/>
          <p:nvPr/>
        </p:nvSpPr>
        <p:spPr>
          <a:xfrm>
            <a:off x="585216" y="2075688"/>
            <a:ext cx="1161288" cy="365760"/>
          </a:xfrm>
          <a:prstGeom prst="roundRect">
            <a:avLst>
              <a:gd fmla="val 1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31"/>
          <p:cNvSpPr txBox="1"/>
          <p:nvPr/>
        </p:nvSpPr>
        <p:spPr>
          <a:xfrm>
            <a:off x="621792" y="2075688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31"/>
          <p:cNvSpPr/>
          <p:nvPr/>
        </p:nvSpPr>
        <p:spPr>
          <a:xfrm>
            <a:off x="585216" y="2532888"/>
            <a:ext cx="1161288" cy="365760"/>
          </a:xfrm>
          <a:prstGeom prst="roundRect">
            <a:avLst>
              <a:gd fmla="val 1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31"/>
          <p:cNvSpPr txBox="1"/>
          <p:nvPr/>
        </p:nvSpPr>
        <p:spPr>
          <a:xfrm>
            <a:off x="621792" y="2532888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31"/>
          <p:cNvSpPr/>
          <p:nvPr/>
        </p:nvSpPr>
        <p:spPr>
          <a:xfrm>
            <a:off x="585216" y="2990088"/>
            <a:ext cx="1161288" cy="365760"/>
          </a:xfrm>
          <a:prstGeom prst="roundRect">
            <a:avLst>
              <a:gd fmla="val 1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31"/>
          <p:cNvSpPr txBox="1"/>
          <p:nvPr/>
        </p:nvSpPr>
        <p:spPr>
          <a:xfrm>
            <a:off x="621792" y="2990088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31"/>
          <p:cNvSpPr txBox="1"/>
          <p:nvPr/>
        </p:nvSpPr>
        <p:spPr>
          <a:xfrm>
            <a:off x="457200" y="35661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Normal flow (default)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7" name="Google Shape;142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9848" y="4315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31"/>
          <p:cNvSpPr/>
          <p:nvPr/>
        </p:nvSpPr>
        <p:spPr>
          <a:xfrm>
            <a:off x="2080260" y="1508760"/>
            <a:ext cx="1600200" cy="315468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31"/>
          <p:cNvSpPr txBox="1"/>
          <p:nvPr/>
        </p:nvSpPr>
        <p:spPr>
          <a:xfrm>
            <a:off x="2080260" y="16002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D4ED8"/>
                </a:solidFill>
                <a:latin typeface="Courier New"/>
                <a:ea typeface="Courier New"/>
                <a:cs typeface="Courier New"/>
                <a:sym typeface="Courier New"/>
              </a:rPr>
              <a:t>relative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31"/>
          <p:cNvSpPr/>
          <p:nvPr/>
        </p:nvSpPr>
        <p:spPr>
          <a:xfrm>
            <a:off x="2189988" y="1965960"/>
            <a:ext cx="1380744" cy="1463040"/>
          </a:xfrm>
          <a:prstGeom prst="roundRect">
            <a:avLst>
              <a:gd fmla="val 397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31"/>
          <p:cNvSpPr/>
          <p:nvPr/>
        </p:nvSpPr>
        <p:spPr>
          <a:xfrm>
            <a:off x="2299716" y="2075688"/>
            <a:ext cx="1161288" cy="365760"/>
          </a:xfrm>
          <a:prstGeom prst="roundRect">
            <a:avLst>
              <a:gd fmla="val 1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31"/>
          <p:cNvSpPr txBox="1"/>
          <p:nvPr/>
        </p:nvSpPr>
        <p:spPr>
          <a:xfrm>
            <a:off x="2336292" y="2075688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31"/>
          <p:cNvSpPr/>
          <p:nvPr/>
        </p:nvSpPr>
        <p:spPr>
          <a:xfrm>
            <a:off x="2299716" y="2532888"/>
            <a:ext cx="1161288" cy="36576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31"/>
          <p:cNvSpPr/>
          <p:nvPr/>
        </p:nvSpPr>
        <p:spPr>
          <a:xfrm>
            <a:off x="2482596" y="2651760"/>
            <a:ext cx="1161288" cy="365760"/>
          </a:xfrm>
          <a:prstGeom prst="roundRect">
            <a:avLst>
              <a:gd fmla="val 1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31"/>
          <p:cNvSpPr txBox="1"/>
          <p:nvPr/>
        </p:nvSpPr>
        <p:spPr>
          <a:xfrm>
            <a:off x="2519172" y="2651760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31"/>
          <p:cNvSpPr/>
          <p:nvPr/>
        </p:nvSpPr>
        <p:spPr>
          <a:xfrm>
            <a:off x="2299716" y="2990088"/>
            <a:ext cx="1161288" cy="365760"/>
          </a:xfrm>
          <a:prstGeom prst="roundRect">
            <a:avLst>
              <a:gd fmla="val 1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1"/>
          <p:cNvSpPr txBox="1"/>
          <p:nvPr/>
        </p:nvSpPr>
        <p:spPr>
          <a:xfrm>
            <a:off x="2336292" y="2990088"/>
            <a:ext cx="10881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31"/>
          <p:cNvSpPr txBox="1"/>
          <p:nvPr/>
        </p:nvSpPr>
        <p:spPr>
          <a:xfrm>
            <a:off x="2171700" y="35661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Moves from its own spot, keeps its space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9" name="Google Shape;143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84348" y="4315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31"/>
          <p:cNvSpPr/>
          <p:nvPr/>
        </p:nvSpPr>
        <p:spPr>
          <a:xfrm>
            <a:off x="3794760" y="1508760"/>
            <a:ext cx="1600200" cy="315468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31"/>
          <p:cNvSpPr txBox="1"/>
          <p:nvPr/>
        </p:nvSpPr>
        <p:spPr>
          <a:xfrm>
            <a:off x="3794760" y="16002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B45309"/>
                </a:solidFill>
                <a:latin typeface="Courier New"/>
                <a:ea typeface="Courier New"/>
                <a:cs typeface="Courier New"/>
                <a:sym typeface="Courier New"/>
              </a:rPr>
              <a:t>absolute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31"/>
          <p:cNvSpPr/>
          <p:nvPr/>
        </p:nvSpPr>
        <p:spPr>
          <a:xfrm>
            <a:off x="3904488" y="1965960"/>
            <a:ext cx="1380744" cy="1463040"/>
          </a:xfrm>
          <a:prstGeom prst="roundRect">
            <a:avLst>
              <a:gd fmla="val 397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31"/>
          <p:cNvSpPr/>
          <p:nvPr/>
        </p:nvSpPr>
        <p:spPr>
          <a:xfrm>
            <a:off x="3995928" y="2057400"/>
            <a:ext cx="1197864" cy="1280160"/>
          </a:xfrm>
          <a:prstGeom prst="roundRect">
            <a:avLst>
              <a:gd fmla="val 3053" name="adj"/>
            </a:avLst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31"/>
          <p:cNvSpPr txBox="1"/>
          <p:nvPr/>
        </p:nvSpPr>
        <p:spPr>
          <a:xfrm>
            <a:off x="4041648" y="2651760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parent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31"/>
          <p:cNvSpPr/>
          <p:nvPr/>
        </p:nvSpPr>
        <p:spPr>
          <a:xfrm>
            <a:off x="4718304" y="2112264"/>
            <a:ext cx="384048" cy="310896"/>
          </a:xfrm>
          <a:prstGeom prst="roundRect">
            <a:avLst>
              <a:gd fmla="val 11765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31"/>
          <p:cNvSpPr txBox="1"/>
          <p:nvPr/>
        </p:nvSpPr>
        <p:spPr>
          <a:xfrm>
            <a:off x="4754880" y="211226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31"/>
          <p:cNvSpPr txBox="1"/>
          <p:nvPr/>
        </p:nvSpPr>
        <p:spPr>
          <a:xfrm>
            <a:off x="3886200" y="35661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Placed inside the nearest positioned parent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8" name="Google Shape;144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8848" y="4315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31"/>
          <p:cNvSpPr/>
          <p:nvPr/>
        </p:nvSpPr>
        <p:spPr>
          <a:xfrm>
            <a:off x="5509260" y="1508760"/>
            <a:ext cx="1600200" cy="315468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31"/>
          <p:cNvSpPr txBox="1"/>
          <p:nvPr/>
        </p:nvSpPr>
        <p:spPr>
          <a:xfrm>
            <a:off x="5509260" y="16002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5803D"/>
                </a:solidFill>
                <a:latin typeface="Courier New"/>
                <a:ea typeface="Courier New"/>
                <a:cs typeface="Courier New"/>
                <a:sym typeface="Courier New"/>
              </a:rPr>
              <a:t>fixed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31"/>
          <p:cNvSpPr/>
          <p:nvPr/>
        </p:nvSpPr>
        <p:spPr>
          <a:xfrm>
            <a:off x="5618988" y="1965960"/>
            <a:ext cx="1380744" cy="1463040"/>
          </a:xfrm>
          <a:prstGeom prst="roundRect">
            <a:avLst>
              <a:gd fmla="val 397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1"/>
          <p:cNvSpPr/>
          <p:nvPr/>
        </p:nvSpPr>
        <p:spPr>
          <a:xfrm>
            <a:off x="5710428" y="2057400"/>
            <a:ext cx="1197864" cy="1280160"/>
          </a:xfrm>
          <a:prstGeom prst="roundRect">
            <a:avLst>
              <a:gd fmla="val 305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31"/>
          <p:cNvSpPr/>
          <p:nvPr/>
        </p:nvSpPr>
        <p:spPr>
          <a:xfrm>
            <a:off x="5801868" y="2194560"/>
            <a:ext cx="740664" cy="91440"/>
          </a:xfrm>
          <a:prstGeom prst="roundRect">
            <a:avLst>
              <a:gd fmla="val 3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31"/>
          <p:cNvSpPr/>
          <p:nvPr/>
        </p:nvSpPr>
        <p:spPr>
          <a:xfrm>
            <a:off x="5801868" y="2423160"/>
            <a:ext cx="740664" cy="91440"/>
          </a:xfrm>
          <a:prstGeom prst="roundRect">
            <a:avLst>
              <a:gd fmla="val 3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31"/>
          <p:cNvSpPr/>
          <p:nvPr/>
        </p:nvSpPr>
        <p:spPr>
          <a:xfrm>
            <a:off x="5801868" y="2651760"/>
            <a:ext cx="740664" cy="91440"/>
          </a:xfrm>
          <a:prstGeom prst="roundRect">
            <a:avLst>
              <a:gd fmla="val 3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31"/>
          <p:cNvSpPr/>
          <p:nvPr/>
        </p:nvSpPr>
        <p:spPr>
          <a:xfrm>
            <a:off x="6496812" y="2880360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7" name="Google Shape;145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9964" y="29535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31"/>
          <p:cNvSpPr txBox="1"/>
          <p:nvPr/>
        </p:nvSpPr>
        <p:spPr>
          <a:xfrm>
            <a:off x="5600700" y="35661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Stays on the screen while scrolling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9" name="Google Shape;1459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3348" y="4315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31"/>
          <p:cNvSpPr/>
          <p:nvPr/>
        </p:nvSpPr>
        <p:spPr>
          <a:xfrm>
            <a:off x="7223760" y="1508760"/>
            <a:ext cx="1600200" cy="315468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31"/>
          <p:cNvSpPr txBox="1"/>
          <p:nvPr/>
        </p:nvSpPr>
        <p:spPr>
          <a:xfrm>
            <a:off x="7223760" y="16002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sticky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31"/>
          <p:cNvSpPr/>
          <p:nvPr/>
        </p:nvSpPr>
        <p:spPr>
          <a:xfrm>
            <a:off x="7333488" y="1965960"/>
            <a:ext cx="1380744" cy="1463040"/>
          </a:xfrm>
          <a:prstGeom prst="roundRect">
            <a:avLst>
              <a:gd fmla="val 3974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31"/>
          <p:cNvSpPr/>
          <p:nvPr/>
        </p:nvSpPr>
        <p:spPr>
          <a:xfrm>
            <a:off x="7424928" y="2057400"/>
            <a:ext cx="1197864" cy="1280160"/>
          </a:xfrm>
          <a:prstGeom prst="roundRect">
            <a:avLst>
              <a:gd fmla="val 3053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31"/>
          <p:cNvSpPr/>
          <p:nvPr/>
        </p:nvSpPr>
        <p:spPr>
          <a:xfrm>
            <a:off x="7424928" y="2057400"/>
            <a:ext cx="1197864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31"/>
          <p:cNvSpPr txBox="1"/>
          <p:nvPr/>
        </p:nvSpPr>
        <p:spPr>
          <a:xfrm>
            <a:off x="7461504" y="2057400"/>
            <a:ext cx="11247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menu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31"/>
          <p:cNvSpPr/>
          <p:nvPr/>
        </p:nvSpPr>
        <p:spPr>
          <a:xfrm>
            <a:off x="7516368" y="2514600"/>
            <a:ext cx="740664" cy="91440"/>
          </a:xfrm>
          <a:prstGeom prst="roundRect">
            <a:avLst>
              <a:gd fmla="val 3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31"/>
          <p:cNvSpPr/>
          <p:nvPr/>
        </p:nvSpPr>
        <p:spPr>
          <a:xfrm>
            <a:off x="7516368" y="2743200"/>
            <a:ext cx="740664" cy="91440"/>
          </a:xfrm>
          <a:prstGeom prst="roundRect">
            <a:avLst>
              <a:gd fmla="val 3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31"/>
          <p:cNvSpPr/>
          <p:nvPr/>
        </p:nvSpPr>
        <p:spPr>
          <a:xfrm>
            <a:off x="7516368" y="2971800"/>
            <a:ext cx="740664" cy="91440"/>
          </a:xfrm>
          <a:prstGeom prst="roundRect">
            <a:avLst>
              <a:gd fmla="val 3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9" name="Google Shape;146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02752" y="242316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31"/>
          <p:cNvSpPr txBox="1"/>
          <p:nvPr/>
        </p:nvSpPr>
        <p:spPr>
          <a:xfrm>
            <a:off x="7315200" y="3566160"/>
            <a:ext cx="1417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Normal, then sticks on scroll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1" name="Google Shape;1471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27848" y="4315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72" name="Google Shape;1472;p31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478" name="Google Shape;147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32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8  ·  CSS POSITION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32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Relative &amp; Absolute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32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parent is the reference, the child is placed inside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32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32"/>
          <p:cNvSpPr/>
          <p:nvPr/>
        </p:nvSpPr>
        <p:spPr>
          <a:xfrm>
            <a:off x="365760" y="1508760"/>
            <a:ext cx="3291840" cy="1761744"/>
          </a:xfrm>
          <a:prstGeom prst="roundRect">
            <a:avLst>
              <a:gd fmla="val 5190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32"/>
          <p:cNvSpPr/>
          <p:nvPr/>
        </p:nvSpPr>
        <p:spPr>
          <a:xfrm>
            <a:off x="429768" y="1813560"/>
            <a:ext cx="3163824" cy="199644"/>
          </a:xfrm>
          <a:prstGeom prst="roundRect">
            <a:avLst>
              <a:gd fmla="val 18321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32"/>
          <p:cNvSpPr/>
          <p:nvPr/>
        </p:nvSpPr>
        <p:spPr>
          <a:xfrm>
            <a:off x="429768" y="2385060"/>
            <a:ext cx="3163824" cy="199644"/>
          </a:xfrm>
          <a:prstGeom prst="roundRect">
            <a:avLst>
              <a:gd fmla="val 18321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32"/>
          <p:cNvSpPr txBox="1"/>
          <p:nvPr/>
        </p:nvSpPr>
        <p:spPr>
          <a:xfrm>
            <a:off x="484632" y="1627632"/>
            <a:ext cx="3054096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.card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relative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.badge 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absolute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8px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right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8px</a:t>
            </a: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2"/>
          <p:cNvSpPr/>
          <p:nvPr/>
        </p:nvSpPr>
        <p:spPr>
          <a:xfrm>
            <a:off x="365760" y="3429000"/>
            <a:ext cx="3291840" cy="457200"/>
          </a:xfrm>
          <a:prstGeom prst="roundRect">
            <a:avLst>
              <a:gd fmla="val 2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32"/>
          <p:cNvSpPr/>
          <p:nvPr/>
        </p:nvSpPr>
        <p:spPr>
          <a:xfrm>
            <a:off x="457200" y="3538728"/>
            <a:ext cx="68580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32"/>
          <p:cNvSpPr txBox="1"/>
          <p:nvPr/>
        </p:nvSpPr>
        <p:spPr>
          <a:xfrm>
            <a:off x="493776" y="3538728"/>
            <a:ext cx="612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32"/>
          <p:cNvSpPr txBox="1"/>
          <p:nvPr/>
        </p:nvSpPr>
        <p:spPr>
          <a:xfrm>
            <a:off x="1280160" y="34290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relative = the reference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32"/>
          <p:cNvSpPr/>
          <p:nvPr/>
        </p:nvSpPr>
        <p:spPr>
          <a:xfrm>
            <a:off x="365760" y="4023360"/>
            <a:ext cx="3291840" cy="457200"/>
          </a:xfrm>
          <a:prstGeom prst="roundRect">
            <a:avLst>
              <a:gd fmla="val 2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32"/>
          <p:cNvSpPr/>
          <p:nvPr/>
        </p:nvSpPr>
        <p:spPr>
          <a:xfrm>
            <a:off x="457200" y="4133088"/>
            <a:ext cx="685800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2"/>
          <p:cNvSpPr txBox="1"/>
          <p:nvPr/>
        </p:nvSpPr>
        <p:spPr>
          <a:xfrm>
            <a:off x="493776" y="4133088"/>
            <a:ext cx="612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child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32"/>
          <p:cNvSpPr txBox="1"/>
          <p:nvPr/>
        </p:nvSpPr>
        <p:spPr>
          <a:xfrm>
            <a:off x="1280160" y="40233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absolute = placed inside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2"/>
          <p:cNvSpPr/>
          <p:nvPr/>
        </p:nvSpPr>
        <p:spPr>
          <a:xfrm>
            <a:off x="3931920" y="1508760"/>
            <a:ext cx="2377440" cy="31546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p32"/>
          <p:cNvSpPr/>
          <p:nvPr/>
        </p:nvSpPr>
        <p:spPr>
          <a:xfrm>
            <a:off x="4069080" y="1600200"/>
            <a:ext cx="1265428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2"/>
          <p:cNvSpPr txBox="1"/>
          <p:nvPr/>
        </p:nvSpPr>
        <p:spPr>
          <a:xfrm>
            <a:off x="4105656" y="1600200"/>
            <a:ext cx="11922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Example 1 · badge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2"/>
          <p:cNvSpPr/>
          <p:nvPr/>
        </p:nvSpPr>
        <p:spPr>
          <a:xfrm>
            <a:off x="4069080" y="1920240"/>
            <a:ext cx="2103120" cy="1508760"/>
          </a:xfrm>
          <a:prstGeom prst="roundRect">
            <a:avLst>
              <a:gd fmla="val 4848" name="adj"/>
            </a:avLst>
          </a:prstGeom>
          <a:solidFill>
            <a:srgbClr val="DBEAFE"/>
          </a:solidFill>
          <a:ln cap="flat" cmpd="sng" w="12700">
            <a:solidFill>
              <a:srgbClr val="2563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9" name="Google Shape;149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3317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32"/>
          <p:cNvSpPr/>
          <p:nvPr/>
        </p:nvSpPr>
        <p:spPr>
          <a:xfrm>
            <a:off x="5532120" y="1993392"/>
            <a:ext cx="566928" cy="256032"/>
          </a:xfrm>
          <a:prstGeom prst="roundRect">
            <a:avLst>
              <a:gd fmla="val 50000" name="adj"/>
            </a:avLst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32"/>
          <p:cNvSpPr txBox="1"/>
          <p:nvPr/>
        </p:nvSpPr>
        <p:spPr>
          <a:xfrm>
            <a:off x="5568696" y="1993392"/>
            <a:ext cx="49377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2"/>
          <p:cNvSpPr txBox="1"/>
          <p:nvPr/>
        </p:nvSpPr>
        <p:spPr>
          <a:xfrm>
            <a:off x="4069080" y="3502152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top: 8px; right: 8px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3" name="Google Shape;1503;p32"/>
          <p:cNvSpPr txBox="1"/>
          <p:nvPr/>
        </p:nvSpPr>
        <p:spPr>
          <a:xfrm>
            <a:off x="4069080" y="374904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Sneakers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2"/>
          <p:cNvSpPr txBox="1"/>
          <p:nvPr/>
        </p:nvSpPr>
        <p:spPr>
          <a:xfrm>
            <a:off x="4069080" y="3977640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$59.00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32"/>
          <p:cNvSpPr/>
          <p:nvPr/>
        </p:nvSpPr>
        <p:spPr>
          <a:xfrm>
            <a:off x="4069080" y="4224528"/>
            <a:ext cx="2103120" cy="301752"/>
          </a:xfrm>
          <a:prstGeom prst="roundRect">
            <a:avLst>
              <a:gd fmla="val 18182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32"/>
          <p:cNvSpPr txBox="1"/>
          <p:nvPr/>
        </p:nvSpPr>
        <p:spPr>
          <a:xfrm>
            <a:off x="4105656" y="4224528"/>
            <a:ext cx="2029968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to cart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7" name="Google Shape;1507;p32"/>
          <p:cNvSpPr/>
          <p:nvPr/>
        </p:nvSpPr>
        <p:spPr>
          <a:xfrm>
            <a:off x="6492240" y="1508760"/>
            <a:ext cx="228600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32"/>
          <p:cNvSpPr/>
          <p:nvPr/>
        </p:nvSpPr>
        <p:spPr>
          <a:xfrm>
            <a:off x="6629400" y="1600200"/>
            <a:ext cx="1688592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32"/>
          <p:cNvSpPr txBox="1"/>
          <p:nvPr/>
        </p:nvSpPr>
        <p:spPr>
          <a:xfrm>
            <a:off x="6665976" y="1600200"/>
            <a:ext cx="1615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Example 2 · notification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0" name="Google Shape;151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9480" y="201168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1" name="Google Shape;1511;p32"/>
          <p:cNvSpPr/>
          <p:nvPr/>
        </p:nvSpPr>
        <p:spPr>
          <a:xfrm>
            <a:off x="7772400" y="192024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32"/>
          <p:cNvSpPr txBox="1"/>
          <p:nvPr/>
        </p:nvSpPr>
        <p:spPr>
          <a:xfrm>
            <a:off x="7772400" y="19202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32"/>
          <p:cNvSpPr txBox="1"/>
          <p:nvPr/>
        </p:nvSpPr>
        <p:spPr>
          <a:xfrm>
            <a:off x="6492240" y="274320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badge = absolute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2"/>
          <p:cNvSpPr/>
          <p:nvPr/>
        </p:nvSpPr>
        <p:spPr>
          <a:xfrm>
            <a:off x="6492240" y="3154680"/>
            <a:ext cx="228600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2"/>
          <p:cNvSpPr/>
          <p:nvPr/>
        </p:nvSpPr>
        <p:spPr>
          <a:xfrm>
            <a:off x="6629400" y="3246120"/>
            <a:ext cx="1265428" cy="237744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32"/>
          <p:cNvSpPr txBox="1"/>
          <p:nvPr/>
        </p:nvSpPr>
        <p:spPr>
          <a:xfrm>
            <a:off x="6665976" y="3246120"/>
            <a:ext cx="11922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Example 3 · modal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32"/>
          <p:cNvSpPr/>
          <p:nvPr/>
        </p:nvSpPr>
        <p:spPr>
          <a:xfrm>
            <a:off x="6675120" y="3611880"/>
            <a:ext cx="1920240" cy="868680"/>
          </a:xfrm>
          <a:prstGeom prst="roundRect">
            <a:avLst>
              <a:gd fmla="val 6316" name="adj"/>
            </a:avLst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32"/>
          <p:cNvSpPr txBox="1"/>
          <p:nvPr/>
        </p:nvSpPr>
        <p:spPr>
          <a:xfrm>
            <a:off x="6766560" y="38862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Are you sure?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32"/>
          <p:cNvSpPr/>
          <p:nvPr/>
        </p:nvSpPr>
        <p:spPr>
          <a:xfrm>
            <a:off x="8348472" y="3538728"/>
            <a:ext cx="256032" cy="256032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0" name="Google Shape;152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2480" y="3602736"/>
            <a:ext cx="128016" cy="128016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32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527" name="Google Shape;152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33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8  ·  CSS POSITION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3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Fixed &amp; Sticky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3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Elements that follow you while you scroll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3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3"/>
          <p:cNvSpPr/>
          <p:nvPr/>
        </p:nvSpPr>
        <p:spPr>
          <a:xfrm>
            <a:off x="365760" y="1508760"/>
            <a:ext cx="4114800" cy="2103120"/>
          </a:xfrm>
          <a:prstGeom prst="roundRect">
            <a:avLst>
              <a:gd fmla="val 3478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33"/>
          <p:cNvSpPr/>
          <p:nvPr/>
        </p:nvSpPr>
        <p:spPr>
          <a:xfrm>
            <a:off x="402336" y="1755648"/>
            <a:ext cx="4041648" cy="1819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33"/>
          <p:cNvSpPr/>
          <p:nvPr/>
        </p:nvSpPr>
        <p:spPr>
          <a:xfrm>
            <a:off x="457200" y="16002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33"/>
          <p:cNvSpPr/>
          <p:nvPr/>
        </p:nvSpPr>
        <p:spPr>
          <a:xfrm>
            <a:off x="557784" y="16002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33"/>
          <p:cNvSpPr/>
          <p:nvPr/>
        </p:nvSpPr>
        <p:spPr>
          <a:xfrm>
            <a:off x="658368" y="16002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33"/>
          <p:cNvSpPr/>
          <p:nvPr/>
        </p:nvSpPr>
        <p:spPr>
          <a:xfrm>
            <a:off x="822960" y="1577340"/>
            <a:ext cx="347472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33"/>
          <p:cNvSpPr txBox="1"/>
          <p:nvPr/>
        </p:nvSpPr>
        <p:spPr>
          <a:xfrm>
            <a:off x="859536" y="1577340"/>
            <a:ext cx="340156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position: fixed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3"/>
          <p:cNvSpPr/>
          <p:nvPr/>
        </p:nvSpPr>
        <p:spPr>
          <a:xfrm>
            <a:off x="630936" y="2395728"/>
            <a:ext cx="2377440" cy="109728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33"/>
          <p:cNvSpPr/>
          <p:nvPr/>
        </p:nvSpPr>
        <p:spPr>
          <a:xfrm>
            <a:off x="630936" y="2670048"/>
            <a:ext cx="1920240" cy="109728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33"/>
          <p:cNvSpPr/>
          <p:nvPr/>
        </p:nvSpPr>
        <p:spPr>
          <a:xfrm>
            <a:off x="630936" y="2944368"/>
            <a:ext cx="2377440" cy="109728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3"/>
          <p:cNvSpPr/>
          <p:nvPr/>
        </p:nvSpPr>
        <p:spPr>
          <a:xfrm>
            <a:off x="630936" y="3218688"/>
            <a:ext cx="1920240" cy="109728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33"/>
          <p:cNvSpPr/>
          <p:nvPr/>
        </p:nvSpPr>
        <p:spPr>
          <a:xfrm>
            <a:off x="3758184" y="2889504"/>
            <a:ext cx="502920" cy="50292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4" name="Google Shape;154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95344" y="3026664"/>
            <a:ext cx="228600" cy="22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5" name="Google Shape;1545;p33"/>
          <p:cNvCxnSpPr/>
          <p:nvPr/>
        </p:nvCxnSpPr>
        <p:spPr>
          <a:xfrm>
            <a:off x="4215384" y="2167128"/>
            <a:ext cx="0" cy="630936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6" name="Google Shape;1546;p33"/>
          <p:cNvSpPr txBox="1"/>
          <p:nvPr/>
        </p:nvSpPr>
        <p:spPr>
          <a:xfrm>
            <a:off x="3621024" y="257860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scroll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3"/>
          <p:cNvSpPr/>
          <p:nvPr/>
        </p:nvSpPr>
        <p:spPr>
          <a:xfrm>
            <a:off x="365760" y="3730752"/>
            <a:ext cx="4114800" cy="923544"/>
          </a:xfrm>
          <a:prstGeom prst="roundRect">
            <a:avLst>
              <a:gd fmla="val 9901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3"/>
          <p:cNvSpPr/>
          <p:nvPr/>
        </p:nvSpPr>
        <p:spPr>
          <a:xfrm>
            <a:off x="429768" y="4016502"/>
            <a:ext cx="3986784" cy="180594"/>
          </a:xfrm>
          <a:prstGeom prst="roundRect">
            <a:avLst>
              <a:gd fmla="val 20253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9" name="Google Shape;1549;p33"/>
          <p:cNvSpPr txBox="1"/>
          <p:nvPr/>
        </p:nvSpPr>
        <p:spPr>
          <a:xfrm>
            <a:off x="484632" y="3849624"/>
            <a:ext cx="38770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.chat 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fixed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bottom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20px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right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20px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33"/>
          <p:cNvSpPr/>
          <p:nvPr/>
        </p:nvSpPr>
        <p:spPr>
          <a:xfrm>
            <a:off x="4663440" y="1508760"/>
            <a:ext cx="4114800" cy="2103120"/>
          </a:xfrm>
          <a:prstGeom prst="roundRect">
            <a:avLst>
              <a:gd fmla="val 3478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33"/>
          <p:cNvSpPr/>
          <p:nvPr/>
        </p:nvSpPr>
        <p:spPr>
          <a:xfrm>
            <a:off x="4700016" y="1755648"/>
            <a:ext cx="4041648" cy="1819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33"/>
          <p:cNvSpPr/>
          <p:nvPr/>
        </p:nvSpPr>
        <p:spPr>
          <a:xfrm>
            <a:off x="4754880" y="16002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33"/>
          <p:cNvSpPr/>
          <p:nvPr/>
        </p:nvSpPr>
        <p:spPr>
          <a:xfrm>
            <a:off x="4855464" y="16002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33"/>
          <p:cNvSpPr/>
          <p:nvPr/>
        </p:nvSpPr>
        <p:spPr>
          <a:xfrm>
            <a:off x="4956048" y="16002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33"/>
          <p:cNvSpPr/>
          <p:nvPr/>
        </p:nvSpPr>
        <p:spPr>
          <a:xfrm>
            <a:off x="5120640" y="1577340"/>
            <a:ext cx="347472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3"/>
          <p:cNvSpPr txBox="1"/>
          <p:nvPr/>
        </p:nvSpPr>
        <p:spPr>
          <a:xfrm>
            <a:off x="5157216" y="1577340"/>
            <a:ext cx="340156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position: sticky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33"/>
          <p:cNvSpPr/>
          <p:nvPr/>
        </p:nvSpPr>
        <p:spPr>
          <a:xfrm>
            <a:off x="4837176" y="1801368"/>
            <a:ext cx="3767328" cy="347472"/>
          </a:xfrm>
          <a:prstGeom prst="roundRect">
            <a:avLst>
              <a:gd fmla="val 1052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3"/>
          <p:cNvSpPr txBox="1"/>
          <p:nvPr/>
        </p:nvSpPr>
        <p:spPr>
          <a:xfrm>
            <a:off x="4974336" y="1801368"/>
            <a:ext cx="34930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LOGO     Home     About     Contact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3"/>
          <p:cNvSpPr/>
          <p:nvPr/>
        </p:nvSpPr>
        <p:spPr>
          <a:xfrm>
            <a:off x="4928616" y="2304288"/>
            <a:ext cx="2651760" cy="109728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33"/>
          <p:cNvSpPr/>
          <p:nvPr/>
        </p:nvSpPr>
        <p:spPr>
          <a:xfrm>
            <a:off x="4928616" y="2578608"/>
            <a:ext cx="2194560" cy="109728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33"/>
          <p:cNvSpPr/>
          <p:nvPr/>
        </p:nvSpPr>
        <p:spPr>
          <a:xfrm>
            <a:off x="4928616" y="2852928"/>
            <a:ext cx="2651760" cy="109728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3"/>
          <p:cNvSpPr/>
          <p:nvPr/>
        </p:nvSpPr>
        <p:spPr>
          <a:xfrm>
            <a:off x="4928616" y="3127248"/>
            <a:ext cx="2194560" cy="109728"/>
          </a:xfrm>
          <a:prstGeom prst="roundRect">
            <a:avLst>
              <a:gd fmla="val 33333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3" name="Google Shape;156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8744" y="1847088"/>
            <a:ext cx="219456" cy="219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4" name="Google Shape;1564;p33"/>
          <p:cNvCxnSpPr/>
          <p:nvPr/>
        </p:nvCxnSpPr>
        <p:spPr>
          <a:xfrm>
            <a:off x="8513064" y="2304288"/>
            <a:ext cx="0" cy="1179576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5" name="Google Shape;1565;p33"/>
          <p:cNvSpPr/>
          <p:nvPr/>
        </p:nvSpPr>
        <p:spPr>
          <a:xfrm>
            <a:off x="4663440" y="3730752"/>
            <a:ext cx="4114800" cy="923544"/>
          </a:xfrm>
          <a:prstGeom prst="roundRect">
            <a:avLst>
              <a:gd fmla="val 9901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3"/>
          <p:cNvSpPr/>
          <p:nvPr/>
        </p:nvSpPr>
        <p:spPr>
          <a:xfrm>
            <a:off x="4727448" y="4016502"/>
            <a:ext cx="3986784" cy="180594"/>
          </a:xfrm>
          <a:prstGeom prst="roundRect">
            <a:avLst>
              <a:gd fmla="val 20253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33"/>
          <p:cNvSpPr txBox="1"/>
          <p:nvPr/>
        </p:nvSpPr>
        <p:spPr>
          <a:xfrm>
            <a:off x="4782312" y="3849624"/>
            <a:ext cx="38770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nav 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sticky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8" name="Google Shape;1568;p33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574" name="Google Shape;157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34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PART 9  ·  CSS GRID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34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 Grid: columns &amp; rows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4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Build layouts in two dimensions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8" name="Google Shape;1578;p34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34"/>
          <p:cNvSpPr/>
          <p:nvPr/>
        </p:nvSpPr>
        <p:spPr>
          <a:xfrm>
            <a:off x="365760" y="1508760"/>
            <a:ext cx="3566160" cy="1094994"/>
          </a:xfrm>
          <a:prstGeom prst="roundRect">
            <a:avLst>
              <a:gd fmla="val 8351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34"/>
          <p:cNvSpPr/>
          <p:nvPr/>
        </p:nvSpPr>
        <p:spPr>
          <a:xfrm>
            <a:off x="429768" y="1965960"/>
            <a:ext cx="3438144" cy="180594"/>
          </a:xfrm>
          <a:prstGeom prst="roundRect">
            <a:avLst>
              <a:gd fmla="val 20253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34"/>
          <p:cNvSpPr/>
          <p:nvPr/>
        </p:nvSpPr>
        <p:spPr>
          <a:xfrm>
            <a:off x="429768" y="2137410"/>
            <a:ext cx="3438144" cy="180594"/>
          </a:xfrm>
          <a:prstGeom prst="roundRect">
            <a:avLst>
              <a:gd fmla="val 20253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34"/>
          <p:cNvSpPr txBox="1"/>
          <p:nvPr/>
        </p:nvSpPr>
        <p:spPr>
          <a:xfrm>
            <a:off x="484632" y="1627632"/>
            <a:ext cx="3328416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.grid 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grid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grid-template-columns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100px 200px 100px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grid-template-rows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60px 60px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34"/>
          <p:cNvSpPr/>
          <p:nvPr/>
        </p:nvSpPr>
        <p:spPr>
          <a:xfrm>
            <a:off x="365760" y="3063240"/>
            <a:ext cx="3566160" cy="923544"/>
          </a:xfrm>
          <a:prstGeom prst="roundRect">
            <a:avLst>
              <a:gd fmla="val 9901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34"/>
          <p:cNvSpPr/>
          <p:nvPr/>
        </p:nvSpPr>
        <p:spPr>
          <a:xfrm>
            <a:off x="429768" y="3520440"/>
            <a:ext cx="3438144" cy="180594"/>
          </a:xfrm>
          <a:prstGeom prst="roundRect">
            <a:avLst>
              <a:gd fmla="val 20253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34"/>
          <p:cNvSpPr txBox="1"/>
          <p:nvPr/>
        </p:nvSpPr>
        <p:spPr>
          <a:xfrm>
            <a:off x="484632" y="3182112"/>
            <a:ext cx="332841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.grid 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grid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grid-template-columns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repeat(3, 1fr)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6" name="Google Shape;1586;p34"/>
          <p:cNvSpPr/>
          <p:nvPr/>
        </p:nvSpPr>
        <p:spPr>
          <a:xfrm>
            <a:off x="365760" y="4160520"/>
            <a:ext cx="3566160" cy="457200"/>
          </a:xfrm>
          <a:prstGeom prst="roundRect">
            <a:avLst>
              <a:gd fmla="val 2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34"/>
          <p:cNvSpPr txBox="1"/>
          <p:nvPr/>
        </p:nvSpPr>
        <p:spPr>
          <a:xfrm>
            <a:off x="402336" y="4160520"/>
            <a:ext cx="34930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fr = a fraction of the free space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8" name="Google Shape;1588;p34"/>
          <p:cNvSpPr/>
          <p:nvPr/>
        </p:nvSpPr>
        <p:spPr>
          <a:xfrm>
            <a:off x="4114800" y="1508760"/>
            <a:ext cx="466344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4"/>
          <p:cNvSpPr/>
          <p:nvPr/>
        </p:nvSpPr>
        <p:spPr>
          <a:xfrm>
            <a:off x="4251960" y="1600200"/>
            <a:ext cx="2051304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4"/>
          <p:cNvSpPr txBox="1"/>
          <p:nvPr/>
        </p:nvSpPr>
        <p:spPr>
          <a:xfrm>
            <a:off x="4288536" y="1600200"/>
            <a:ext cx="19781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Example 1 · 3 columns × 2 rows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34"/>
          <p:cNvSpPr txBox="1"/>
          <p:nvPr/>
        </p:nvSpPr>
        <p:spPr>
          <a:xfrm>
            <a:off x="4754880" y="1920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100px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34"/>
          <p:cNvSpPr txBox="1"/>
          <p:nvPr/>
        </p:nvSpPr>
        <p:spPr>
          <a:xfrm>
            <a:off x="5669280" y="192024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200px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34"/>
          <p:cNvSpPr txBox="1"/>
          <p:nvPr/>
        </p:nvSpPr>
        <p:spPr>
          <a:xfrm>
            <a:off x="7498080" y="192024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100px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4" name="Google Shape;1594;p34"/>
          <p:cNvSpPr txBox="1"/>
          <p:nvPr/>
        </p:nvSpPr>
        <p:spPr>
          <a:xfrm>
            <a:off x="4160520" y="2194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60px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5" name="Google Shape;1595;p34"/>
          <p:cNvSpPr txBox="1"/>
          <p:nvPr/>
        </p:nvSpPr>
        <p:spPr>
          <a:xfrm>
            <a:off x="4160520" y="2743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60px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6" name="Google Shape;1596;p34"/>
          <p:cNvSpPr/>
          <p:nvPr/>
        </p:nvSpPr>
        <p:spPr>
          <a:xfrm>
            <a:off x="4773168" y="2212848"/>
            <a:ext cx="877824" cy="512064"/>
          </a:xfrm>
          <a:prstGeom prst="roundRect">
            <a:avLst>
              <a:gd fmla="val 7143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34"/>
          <p:cNvSpPr txBox="1"/>
          <p:nvPr/>
        </p:nvSpPr>
        <p:spPr>
          <a:xfrm>
            <a:off x="4809744" y="22128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4"/>
          <p:cNvSpPr/>
          <p:nvPr/>
        </p:nvSpPr>
        <p:spPr>
          <a:xfrm>
            <a:off x="5687568" y="2212848"/>
            <a:ext cx="1792224" cy="512064"/>
          </a:xfrm>
          <a:prstGeom prst="roundRect">
            <a:avLst>
              <a:gd fmla="val 7143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34"/>
          <p:cNvSpPr txBox="1"/>
          <p:nvPr/>
        </p:nvSpPr>
        <p:spPr>
          <a:xfrm>
            <a:off x="5724144" y="2212848"/>
            <a:ext cx="17190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4"/>
          <p:cNvSpPr/>
          <p:nvPr/>
        </p:nvSpPr>
        <p:spPr>
          <a:xfrm>
            <a:off x="7516368" y="2212848"/>
            <a:ext cx="877824" cy="512064"/>
          </a:xfrm>
          <a:prstGeom prst="roundRect">
            <a:avLst>
              <a:gd fmla="val 7143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4"/>
          <p:cNvSpPr txBox="1"/>
          <p:nvPr/>
        </p:nvSpPr>
        <p:spPr>
          <a:xfrm>
            <a:off x="7552944" y="22128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34"/>
          <p:cNvSpPr/>
          <p:nvPr/>
        </p:nvSpPr>
        <p:spPr>
          <a:xfrm>
            <a:off x="4773168" y="2761488"/>
            <a:ext cx="877824" cy="512064"/>
          </a:xfrm>
          <a:prstGeom prst="roundRect">
            <a:avLst>
              <a:gd fmla="val 7143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4"/>
          <p:cNvSpPr txBox="1"/>
          <p:nvPr/>
        </p:nvSpPr>
        <p:spPr>
          <a:xfrm>
            <a:off x="4809744" y="276148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4" name="Google Shape;1604;p34"/>
          <p:cNvSpPr/>
          <p:nvPr/>
        </p:nvSpPr>
        <p:spPr>
          <a:xfrm>
            <a:off x="5687568" y="2761488"/>
            <a:ext cx="1792224" cy="512064"/>
          </a:xfrm>
          <a:prstGeom prst="roundRect">
            <a:avLst>
              <a:gd fmla="val 7143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34"/>
          <p:cNvSpPr txBox="1"/>
          <p:nvPr/>
        </p:nvSpPr>
        <p:spPr>
          <a:xfrm>
            <a:off x="5724144" y="2761488"/>
            <a:ext cx="17190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34"/>
          <p:cNvSpPr/>
          <p:nvPr/>
        </p:nvSpPr>
        <p:spPr>
          <a:xfrm>
            <a:off x="7516368" y="2761488"/>
            <a:ext cx="877824" cy="512064"/>
          </a:xfrm>
          <a:prstGeom prst="roundRect">
            <a:avLst>
              <a:gd fmla="val 7143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4"/>
          <p:cNvSpPr txBox="1"/>
          <p:nvPr/>
        </p:nvSpPr>
        <p:spPr>
          <a:xfrm>
            <a:off x="7552944" y="276148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4"/>
          <p:cNvSpPr/>
          <p:nvPr/>
        </p:nvSpPr>
        <p:spPr>
          <a:xfrm>
            <a:off x="4251960" y="3520440"/>
            <a:ext cx="1809496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4"/>
          <p:cNvSpPr txBox="1"/>
          <p:nvPr/>
        </p:nvSpPr>
        <p:spPr>
          <a:xfrm>
            <a:off x="4288536" y="3520440"/>
            <a:ext cx="1736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Example 2 · repeat(3, 1fr)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34"/>
          <p:cNvSpPr/>
          <p:nvPr/>
        </p:nvSpPr>
        <p:spPr>
          <a:xfrm>
            <a:off x="4297680" y="3794760"/>
            <a:ext cx="1316736" cy="347472"/>
          </a:xfrm>
          <a:prstGeom prst="roundRect">
            <a:avLst>
              <a:gd fmla="val 10526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4"/>
          <p:cNvSpPr txBox="1"/>
          <p:nvPr/>
        </p:nvSpPr>
        <p:spPr>
          <a:xfrm>
            <a:off x="4334256" y="3794760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34"/>
          <p:cNvSpPr/>
          <p:nvPr/>
        </p:nvSpPr>
        <p:spPr>
          <a:xfrm>
            <a:off x="5669280" y="3794760"/>
            <a:ext cx="1316736" cy="347472"/>
          </a:xfrm>
          <a:prstGeom prst="roundRect">
            <a:avLst>
              <a:gd fmla="val 10526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4"/>
          <p:cNvSpPr txBox="1"/>
          <p:nvPr/>
        </p:nvSpPr>
        <p:spPr>
          <a:xfrm>
            <a:off x="5705856" y="3794760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4"/>
          <p:cNvSpPr/>
          <p:nvPr/>
        </p:nvSpPr>
        <p:spPr>
          <a:xfrm>
            <a:off x="7040880" y="3794760"/>
            <a:ext cx="1316736" cy="347472"/>
          </a:xfrm>
          <a:prstGeom prst="roundRect">
            <a:avLst>
              <a:gd fmla="val 10526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4"/>
          <p:cNvSpPr txBox="1"/>
          <p:nvPr/>
        </p:nvSpPr>
        <p:spPr>
          <a:xfrm>
            <a:off x="7077456" y="3794760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4"/>
          <p:cNvSpPr/>
          <p:nvPr/>
        </p:nvSpPr>
        <p:spPr>
          <a:xfrm>
            <a:off x="4297680" y="4178808"/>
            <a:ext cx="1316736" cy="347472"/>
          </a:xfrm>
          <a:prstGeom prst="roundRect">
            <a:avLst>
              <a:gd fmla="val 10526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4"/>
          <p:cNvSpPr txBox="1"/>
          <p:nvPr/>
        </p:nvSpPr>
        <p:spPr>
          <a:xfrm>
            <a:off x="4334256" y="417880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4"/>
          <p:cNvSpPr/>
          <p:nvPr/>
        </p:nvSpPr>
        <p:spPr>
          <a:xfrm>
            <a:off x="5669280" y="4178808"/>
            <a:ext cx="1316736" cy="347472"/>
          </a:xfrm>
          <a:prstGeom prst="roundRect">
            <a:avLst>
              <a:gd fmla="val 10526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4"/>
          <p:cNvSpPr txBox="1"/>
          <p:nvPr/>
        </p:nvSpPr>
        <p:spPr>
          <a:xfrm>
            <a:off x="5705856" y="417880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34"/>
          <p:cNvSpPr/>
          <p:nvPr/>
        </p:nvSpPr>
        <p:spPr>
          <a:xfrm>
            <a:off x="7040880" y="4178808"/>
            <a:ext cx="1316736" cy="347472"/>
          </a:xfrm>
          <a:prstGeom prst="roundRect">
            <a:avLst>
              <a:gd fmla="val 10526" name="adj"/>
            </a:avLst>
          </a:prstGeom>
          <a:solidFill>
            <a:srgbClr val="DDD6F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4"/>
          <p:cNvSpPr txBox="1"/>
          <p:nvPr/>
        </p:nvSpPr>
        <p:spPr>
          <a:xfrm>
            <a:off x="7077456" y="4178808"/>
            <a:ext cx="124358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4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628" name="Google Shape;162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29" name="Google Shape;1629;p35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PART 9  ·  CSS GRID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35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Grid item positioning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35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where an item starts and ends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35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35"/>
          <p:cNvSpPr/>
          <p:nvPr/>
        </p:nvSpPr>
        <p:spPr>
          <a:xfrm>
            <a:off x="365760" y="1508760"/>
            <a:ext cx="3657600" cy="1342644"/>
          </a:xfrm>
          <a:prstGeom prst="roundRect">
            <a:avLst>
              <a:gd fmla="val 6810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35"/>
          <p:cNvSpPr/>
          <p:nvPr/>
        </p:nvSpPr>
        <p:spPr>
          <a:xfrm>
            <a:off x="429768" y="1807210"/>
            <a:ext cx="35295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5"/>
          <p:cNvSpPr/>
          <p:nvPr/>
        </p:nvSpPr>
        <p:spPr>
          <a:xfrm>
            <a:off x="429768" y="1991360"/>
            <a:ext cx="35295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5"/>
          <p:cNvSpPr/>
          <p:nvPr/>
        </p:nvSpPr>
        <p:spPr>
          <a:xfrm>
            <a:off x="429768" y="2175510"/>
            <a:ext cx="35295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5"/>
          <p:cNvSpPr/>
          <p:nvPr/>
        </p:nvSpPr>
        <p:spPr>
          <a:xfrm>
            <a:off x="429768" y="2359660"/>
            <a:ext cx="35295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5"/>
          <p:cNvSpPr txBox="1"/>
          <p:nvPr/>
        </p:nvSpPr>
        <p:spPr>
          <a:xfrm>
            <a:off x="484632" y="1627632"/>
            <a:ext cx="3419856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.item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grid-column-start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grid-column-end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grid-row-start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grid-row-end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35"/>
          <p:cNvSpPr/>
          <p:nvPr/>
        </p:nvSpPr>
        <p:spPr>
          <a:xfrm>
            <a:off x="365760" y="3063240"/>
            <a:ext cx="3657600" cy="790194"/>
          </a:xfrm>
          <a:prstGeom prst="roundRect">
            <a:avLst>
              <a:gd fmla="val 1157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35"/>
          <p:cNvSpPr/>
          <p:nvPr/>
        </p:nvSpPr>
        <p:spPr>
          <a:xfrm>
            <a:off x="429768" y="3361690"/>
            <a:ext cx="35295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5"/>
          <p:cNvSpPr txBox="1"/>
          <p:nvPr/>
        </p:nvSpPr>
        <p:spPr>
          <a:xfrm>
            <a:off x="484632" y="3182112"/>
            <a:ext cx="341985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.item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justify-self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5"/>
          <p:cNvSpPr/>
          <p:nvPr/>
        </p:nvSpPr>
        <p:spPr>
          <a:xfrm>
            <a:off x="365760" y="4114800"/>
            <a:ext cx="82296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5"/>
          <p:cNvSpPr txBox="1"/>
          <p:nvPr/>
        </p:nvSpPr>
        <p:spPr>
          <a:xfrm>
            <a:off x="402336" y="411480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35"/>
          <p:cNvSpPr/>
          <p:nvPr/>
        </p:nvSpPr>
        <p:spPr>
          <a:xfrm>
            <a:off x="1280160" y="4114800"/>
            <a:ext cx="82296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35"/>
          <p:cNvSpPr txBox="1"/>
          <p:nvPr/>
        </p:nvSpPr>
        <p:spPr>
          <a:xfrm>
            <a:off x="1316736" y="411480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35"/>
          <p:cNvSpPr/>
          <p:nvPr/>
        </p:nvSpPr>
        <p:spPr>
          <a:xfrm>
            <a:off x="2194560" y="4114800"/>
            <a:ext cx="82296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7" name="Google Shape;1647;p35"/>
          <p:cNvSpPr txBox="1"/>
          <p:nvPr/>
        </p:nvSpPr>
        <p:spPr>
          <a:xfrm>
            <a:off x="2231136" y="411480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8" name="Google Shape;1648;p35"/>
          <p:cNvSpPr/>
          <p:nvPr/>
        </p:nvSpPr>
        <p:spPr>
          <a:xfrm>
            <a:off x="3108960" y="4114800"/>
            <a:ext cx="82296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35"/>
          <p:cNvSpPr txBox="1"/>
          <p:nvPr/>
        </p:nvSpPr>
        <p:spPr>
          <a:xfrm>
            <a:off x="3145536" y="411480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stretch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0" name="Google Shape;1650;p35"/>
          <p:cNvSpPr/>
          <p:nvPr/>
        </p:nvSpPr>
        <p:spPr>
          <a:xfrm>
            <a:off x="4206240" y="1508760"/>
            <a:ext cx="45720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35"/>
          <p:cNvSpPr txBox="1"/>
          <p:nvPr/>
        </p:nvSpPr>
        <p:spPr>
          <a:xfrm>
            <a:off x="4709160" y="1673352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35"/>
          <p:cNvSpPr txBox="1"/>
          <p:nvPr/>
        </p:nvSpPr>
        <p:spPr>
          <a:xfrm>
            <a:off x="4462272" y="1865376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35"/>
          <p:cNvSpPr txBox="1"/>
          <p:nvPr/>
        </p:nvSpPr>
        <p:spPr>
          <a:xfrm>
            <a:off x="5989320" y="1673352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5"/>
          <p:cNvSpPr txBox="1"/>
          <p:nvPr/>
        </p:nvSpPr>
        <p:spPr>
          <a:xfrm>
            <a:off x="4462272" y="2432304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35"/>
          <p:cNvSpPr txBox="1"/>
          <p:nvPr/>
        </p:nvSpPr>
        <p:spPr>
          <a:xfrm>
            <a:off x="7269480" y="1673352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35"/>
          <p:cNvSpPr txBox="1"/>
          <p:nvPr/>
        </p:nvSpPr>
        <p:spPr>
          <a:xfrm>
            <a:off x="4462272" y="2999232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35"/>
          <p:cNvSpPr txBox="1"/>
          <p:nvPr/>
        </p:nvSpPr>
        <p:spPr>
          <a:xfrm>
            <a:off x="8549640" y="1673352"/>
            <a:ext cx="274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35"/>
          <p:cNvSpPr txBox="1"/>
          <p:nvPr/>
        </p:nvSpPr>
        <p:spPr>
          <a:xfrm>
            <a:off x="4462272" y="356616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9" name="Google Shape;1659;p35"/>
          <p:cNvSpPr/>
          <p:nvPr/>
        </p:nvSpPr>
        <p:spPr>
          <a:xfrm>
            <a:off x="4873752" y="1993392"/>
            <a:ext cx="1225296" cy="512064"/>
          </a:xfrm>
          <a:prstGeom prst="roundRect">
            <a:avLst>
              <a:gd fmla="val 714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35"/>
          <p:cNvSpPr/>
          <p:nvPr/>
        </p:nvSpPr>
        <p:spPr>
          <a:xfrm>
            <a:off x="6153912" y="1993392"/>
            <a:ext cx="1225296" cy="512064"/>
          </a:xfrm>
          <a:prstGeom prst="roundRect">
            <a:avLst>
              <a:gd fmla="val 714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35"/>
          <p:cNvSpPr/>
          <p:nvPr/>
        </p:nvSpPr>
        <p:spPr>
          <a:xfrm>
            <a:off x="7434072" y="1993392"/>
            <a:ext cx="1225296" cy="512064"/>
          </a:xfrm>
          <a:prstGeom prst="roundRect">
            <a:avLst>
              <a:gd fmla="val 714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5"/>
          <p:cNvSpPr/>
          <p:nvPr/>
        </p:nvSpPr>
        <p:spPr>
          <a:xfrm>
            <a:off x="4873752" y="2560320"/>
            <a:ext cx="1225296" cy="512064"/>
          </a:xfrm>
          <a:prstGeom prst="roundRect">
            <a:avLst>
              <a:gd fmla="val 714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3" name="Google Shape;1663;p35"/>
          <p:cNvSpPr/>
          <p:nvPr/>
        </p:nvSpPr>
        <p:spPr>
          <a:xfrm>
            <a:off x="6153912" y="2560320"/>
            <a:ext cx="1225296" cy="512064"/>
          </a:xfrm>
          <a:prstGeom prst="roundRect">
            <a:avLst>
              <a:gd fmla="val 714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5"/>
          <p:cNvSpPr/>
          <p:nvPr/>
        </p:nvSpPr>
        <p:spPr>
          <a:xfrm>
            <a:off x="7434072" y="2560320"/>
            <a:ext cx="1225296" cy="512064"/>
          </a:xfrm>
          <a:prstGeom prst="roundRect">
            <a:avLst>
              <a:gd fmla="val 714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35"/>
          <p:cNvSpPr/>
          <p:nvPr/>
        </p:nvSpPr>
        <p:spPr>
          <a:xfrm>
            <a:off x="4873752" y="3127248"/>
            <a:ext cx="1225296" cy="512064"/>
          </a:xfrm>
          <a:prstGeom prst="roundRect">
            <a:avLst>
              <a:gd fmla="val 714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5"/>
          <p:cNvSpPr/>
          <p:nvPr/>
        </p:nvSpPr>
        <p:spPr>
          <a:xfrm>
            <a:off x="6153912" y="3127248"/>
            <a:ext cx="1225296" cy="512064"/>
          </a:xfrm>
          <a:prstGeom prst="roundRect">
            <a:avLst>
              <a:gd fmla="val 714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5"/>
          <p:cNvSpPr/>
          <p:nvPr/>
        </p:nvSpPr>
        <p:spPr>
          <a:xfrm>
            <a:off x="7434072" y="3127248"/>
            <a:ext cx="1225296" cy="512064"/>
          </a:xfrm>
          <a:prstGeom prst="roundRect">
            <a:avLst>
              <a:gd fmla="val 7143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5"/>
          <p:cNvSpPr/>
          <p:nvPr/>
        </p:nvSpPr>
        <p:spPr>
          <a:xfrm>
            <a:off x="4873752" y="1993392"/>
            <a:ext cx="2505456" cy="512064"/>
          </a:xfrm>
          <a:prstGeom prst="roundRect">
            <a:avLst>
              <a:gd fmla="val 8929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35"/>
          <p:cNvSpPr txBox="1"/>
          <p:nvPr/>
        </p:nvSpPr>
        <p:spPr>
          <a:xfrm>
            <a:off x="4910328" y="1993392"/>
            <a:ext cx="243230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item  (columns 1 → 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0" name="Google Shape;1670;p35"/>
          <p:cNvSpPr txBox="1"/>
          <p:nvPr/>
        </p:nvSpPr>
        <p:spPr>
          <a:xfrm>
            <a:off x="4297680" y="155448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column lines 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35"/>
          <p:cNvSpPr/>
          <p:nvPr/>
        </p:nvSpPr>
        <p:spPr>
          <a:xfrm>
            <a:off x="4617720" y="3840480"/>
            <a:ext cx="1234440" cy="685800"/>
          </a:xfrm>
          <a:prstGeom prst="roundRect">
            <a:avLst>
              <a:gd fmla="val 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5"/>
          <p:cNvSpPr txBox="1"/>
          <p:nvPr/>
        </p:nvSpPr>
        <p:spPr>
          <a:xfrm>
            <a:off x="4663440" y="385876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35"/>
          <p:cNvSpPr/>
          <p:nvPr/>
        </p:nvSpPr>
        <p:spPr>
          <a:xfrm>
            <a:off x="4663440" y="4114800"/>
            <a:ext cx="411480" cy="320040"/>
          </a:xfrm>
          <a:prstGeom prst="roundRect">
            <a:avLst>
              <a:gd fmla="val 11429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35"/>
          <p:cNvSpPr/>
          <p:nvPr/>
        </p:nvSpPr>
        <p:spPr>
          <a:xfrm>
            <a:off x="5989320" y="3840480"/>
            <a:ext cx="1234440" cy="685800"/>
          </a:xfrm>
          <a:prstGeom prst="roundRect">
            <a:avLst>
              <a:gd fmla="val 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35"/>
          <p:cNvSpPr txBox="1"/>
          <p:nvPr/>
        </p:nvSpPr>
        <p:spPr>
          <a:xfrm>
            <a:off x="6035040" y="385876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center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35"/>
          <p:cNvSpPr/>
          <p:nvPr/>
        </p:nvSpPr>
        <p:spPr>
          <a:xfrm>
            <a:off x="6446520" y="4114800"/>
            <a:ext cx="411480" cy="320040"/>
          </a:xfrm>
          <a:prstGeom prst="roundRect">
            <a:avLst>
              <a:gd fmla="val 11429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7" name="Google Shape;1677;p35"/>
          <p:cNvSpPr/>
          <p:nvPr/>
        </p:nvSpPr>
        <p:spPr>
          <a:xfrm>
            <a:off x="7360920" y="3840480"/>
            <a:ext cx="1234440" cy="685800"/>
          </a:xfrm>
          <a:prstGeom prst="roundRect">
            <a:avLst>
              <a:gd fmla="val 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5"/>
          <p:cNvSpPr txBox="1"/>
          <p:nvPr/>
        </p:nvSpPr>
        <p:spPr>
          <a:xfrm>
            <a:off x="7406640" y="3858768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800"/>
              <a:buFont typeface="Courier New"/>
              <a:buNone/>
            </a:pPr>
            <a:r>
              <a:rPr b="1" i="0" lang="en-US" sz="800" u="none" cap="none" strike="noStrike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35"/>
          <p:cNvSpPr/>
          <p:nvPr/>
        </p:nvSpPr>
        <p:spPr>
          <a:xfrm>
            <a:off x="8138160" y="4114800"/>
            <a:ext cx="411480" cy="320040"/>
          </a:xfrm>
          <a:prstGeom prst="roundRect">
            <a:avLst>
              <a:gd fmla="val 11429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35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686" name="Google Shape;16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7" name="Google Shape;1687;p36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PART 9  ·  CSS GRID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36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Flexbox or Grid?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36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Choose the right tool for the layout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36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36"/>
          <p:cNvSpPr/>
          <p:nvPr/>
        </p:nvSpPr>
        <p:spPr>
          <a:xfrm>
            <a:off x="365760" y="1508760"/>
            <a:ext cx="4114800" cy="265176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36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3" name="Google Shape;169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94" name="Google Shape;1694;p36"/>
          <p:cNvSpPr txBox="1"/>
          <p:nvPr/>
        </p:nvSpPr>
        <p:spPr>
          <a:xfrm>
            <a:off x="1143000" y="16276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Flexbox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 dimension  ·  a row OR a column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36"/>
          <p:cNvSpPr/>
          <p:nvPr/>
        </p:nvSpPr>
        <p:spPr>
          <a:xfrm>
            <a:off x="640080" y="2468880"/>
            <a:ext cx="685800" cy="548640"/>
          </a:xfrm>
          <a:prstGeom prst="roundRect">
            <a:avLst>
              <a:gd fmla="val 1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6"/>
          <p:cNvSpPr/>
          <p:nvPr/>
        </p:nvSpPr>
        <p:spPr>
          <a:xfrm>
            <a:off x="1417320" y="2468880"/>
            <a:ext cx="685800" cy="548640"/>
          </a:xfrm>
          <a:prstGeom prst="roundRect">
            <a:avLst>
              <a:gd fmla="val 1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36"/>
          <p:cNvSpPr/>
          <p:nvPr/>
        </p:nvSpPr>
        <p:spPr>
          <a:xfrm>
            <a:off x="2194560" y="2468880"/>
            <a:ext cx="685800" cy="548640"/>
          </a:xfrm>
          <a:prstGeom prst="roundRect">
            <a:avLst>
              <a:gd fmla="val 1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8" name="Google Shape;1698;p36"/>
          <p:cNvSpPr/>
          <p:nvPr/>
        </p:nvSpPr>
        <p:spPr>
          <a:xfrm>
            <a:off x="2971800" y="2468880"/>
            <a:ext cx="685800" cy="548640"/>
          </a:xfrm>
          <a:prstGeom prst="roundRect">
            <a:avLst>
              <a:gd fmla="val 1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9" name="Google Shape;1699;p36"/>
          <p:cNvCxnSpPr/>
          <p:nvPr/>
        </p:nvCxnSpPr>
        <p:spPr>
          <a:xfrm>
            <a:off x="640080" y="3200400"/>
            <a:ext cx="3108960" cy="0"/>
          </a:xfrm>
          <a:prstGeom prst="straightConnector1">
            <a:avLst/>
          </a:prstGeom>
          <a:noFill/>
          <a:ln cap="flat" cmpd="sng" w="31750">
            <a:solidFill>
              <a:srgbClr val="2563E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0" name="Google Shape;1700;p36"/>
          <p:cNvSpPr/>
          <p:nvPr/>
        </p:nvSpPr>
        <p:spPr>
          <a:xfrm>
            <a:off x="640080" y="3611880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6"/>
          <p:cNvSpPr txBox="1"/>
          <p:nvPr/>
        </p:nvSpPr>
        <p:spPr>
          <a:xfrm>
            <a:off x="676656" y="3611880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Navbar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36"/>
          <p:cNvSpPr/>
          <p:nvPr/>
        </p:nvSpPr>
        <p:spPr>
          <a:xfrm>
            <a:off x="1828800" y="3611880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36"/>
          <p:cNvSpPr txBox="1"/>
          <p:nvPr/>
        </p:nvSpPr>
        <p:spPr>
          <a:xfrm>
            <a:off x="1865376" y="3611880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Buttons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36"/>
          <p:cNvSpPr/>
          <p:nvPr/>
        </p:nvSpPr>
        <p:spPr>
          <a:xfrm>
            <a:off x="3017520" y="3611880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36"/>
          <p:cNvSpPr txBox="1"/>
          <p:nvPr/>
        </p:nvSpPr>
        <p:spPr>
          <a:xfrm>
            <a:off x="3054096" y="3611880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Centering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36"/>
          <p:cNvSpPr/>
          <p:nvPr/>
        </p:nvSpPr>
        <p:spPr>
          <a:xfrm>
            <a:off x="4663440" y="1508760"/>
            <a:ext cx="4114800" cy="265176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6"/>
          <p:cNvSpPr/>
          <p:nvPr/>
        </p:nvSpPr>
        <p:spPr>
          <a:xfrm>
            <a:off x="4846320" y="1645920"/>
            <a:ext cx="457200" cy="4572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8" name="Google Shape;170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6048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36"/>
          <p:cNvSpPr txBox="1"/>
          <p:nvPr/>
        </p:nvSpPr>
        <p:spPr>
          <a:xfrm>
            <a:off x="5440680" y="16276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 dimensions  ·  rows AND columns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36"/>
          <p:cNvSpPr/>
          <p:nvPr/>
        </p:nvSpPr>
        <p:spPr>
          <a:xfrm>
            <a:off x="4937760" y="2377440"/>
            <a:ext cx="685800" cy="384048"/>
          </a:xfrm>
          <a:prstGeom prst="roundRect">
            <a:avLst>
              <a:gd fmla="val 1428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6"/>
          <p:cNvSpPr/>
          <p:nvPr/>
        </p:nvSpPr>
        <p:spPr>
          <a:xfrm>
            <a:off x="5715000" y="2377440"/>
            <a:ext cx="685800" cy="384048"/>
          </a:xfrm>
          <a:prstGeom prst="roundRect">
            <a:avLst>
              <a:gd fmla="val 14286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36"/>
          <p:cNvSpPr/>
          <p:nvPr/>
        </p:nvSpPr>
        <p:spPr>
          <a:xfrm>
            <a:off x="6492240" y="2377440"/>
            <a:ext cx="685800" cy="384048"/>
          </a:xfrm>
          <a:prstGeom prst="roundRect">
            <a:avLst>
              <a:gd fmla="val 14286" name="adj"/>
            </a:avLst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6"/>
          <p:cNvSpPr/>
          <p:nvPr/>
        </p:nvSpPr>
        <p:spPr>
          <a:xfrm>
            <a:off x="4937760" y="2834640"/>
            <a:ext cx="685800" cy="384048"/>
          </a:xfrm>
          <a:prstGeom prst="roundRect">
            <a:avLst>
              <a:gd fmla="val 14286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36"/>
          <p:cNvSpPr/>
          <p:nvPr/>
        </p:nvSpPr>
        <p:spPr>
          <a:xfrm>
            <a:off x="5715000" y="2834640"/>
            <a:ext cx="685800" cy="384048"/>
          </a:xfrm>
          <a:prstGeom prst="roundRect">
            <a:avLst>
              <a:gd fmla="val 14286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6"/>
          <p:cNvSpPr/>
          <p:nvPr/>
        </p:nvSpPr>
        <p:spPr>
          <a:xfrm>
            <a:off x="6492240" y="2834640"/>
            <a:ext cx="685800" cy="384048"/>
          </a:xfrm>
          <a:prstGeom prst="roundRect">
            <a:avLst>
              <a:gd fmla="val 14286" name="adj"/>
            </a:avLst>
          </a:prstGeom>
          <a:solidFill>
            <a:srgbClr val="A78B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6" name="Google Shape;1716;p36"/>
          <p:cNvCxnSpPr/>
          <p:nvPr/>
        </p:nvCxnSpPr>
        <p:spPr>
          <a:xfrm>
            <a:off x="4937760" y="3291840"/>
            <a:ext cx="2286000" cy="0"/>
          </a:xfrm>
          <a:prstGeom prst="straightConnector1">
            <a:avLst/>
          </a:prstGeom>
          <a:noFill/>
          <a:ln cap="flat" cmpd="sng" w="31750">
            <a:solidFill>
              <a:srgbClr val="7C3AE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7" name="Google Shape;1717;p36"/>
          <p:cNvCxnSpPr/>
          <p:nvPr/>
        </p:nvCxnSpPr>
        <p:spPr>
          <a:xfrm>
            <a:off x="7452360" y="2377440"/>
            <a:ext cx="0" cy="822960"/>
          </a:xfrm>
          <a:prstGeom prst="straightConnector1">
            <a:avLst/>
          </a:prstGeom>
          <a:noFill/>
          <a:ln cap="flat" cmpd="sng" w="31750">
            <a:solidFill>
              <a:srgbClr val="7C3A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18" name="Google Shape;1718;p36"/>
          <p:cNvSpPr/>
          <p:nvPr/>
        </p:nvSpPr>
        <p:spPr>
          <a:xfrm>
            <a:off x="4937760" y="3611880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6"/>
          <p:cNvSpPr txBox="1"/>
          <p:nvPr/>
        </p:nvSpPr>
        <p:spPr>
          <a:xfrm>
            <a:off x="4974336" y="3611880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Page layout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6"/>
          <p:cNvSpPr/>
          <p:nvPr/>
        </p:nvSpPr>
        <p:spPr>
          <a:xfrm>
            <a:off x="6126480" y="3611880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36"/>
          <p:cNvSpPr txBox="1"/>
          <p:nvPr/>
        </p:nvSpPr>
        <p:spPr>
          <a:xfrm>
            <a:off x="6163056" y="3611880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Gallery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36"/>
          <p:cNvSpPr/>
          <p:nvPr/>
        </p:nvSpPr>
        <p:spPr>
          <a:xfrm>
            <a:off x="7315200" y="3611880"/>
            <a:ext cx="109728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6"/>
          <p:cNvSpPr txBox="1"/>
          <p:nvPr/>
        </p:nvSpPr>
        <p:spPr>
          <a:xfrm>
            <a:off x="7351776" y="3611880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36"/>
          <p:cNvSpPr/>
          <p:nvPr/>
        </p:nvSpPr>
        <p:spPr>
          <a:xfrm>
            <a:off x="365760" y="4297680"/>
            <a:ext cx="8412480" cy="365760"/>
          </a:xfrm>
          <a:prstGeom prst="roundRect">
            <a:avLst>
              <a:gd fmla="val 50000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6"/>
          <p:cNvSpPr txBox="1"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Tip: use Grid for the page structure and Flexbox inside each block.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36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732" name="Google Shape;173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37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PART 10  ·  RESPONSIVE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37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Responsive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37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One website that adapts to every screen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37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37"/>
          <p:cNvSpPr/>
          <p:nvPr/>
        </p:nvSpPr>
        <p:spPr>
          <a:xfrm>
            <a:off x="365760" y="1600200"/>
            <a:ext cx="3886200" cy="2286000"/>
          </a:xfrm>
          <a:prstGeom prst="roundRect">
            <a:avLst>
              <a:gd fmla="val 3200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7"/>
          <p:cNvSpPr/>
          <p:nvPr/>
        </p:nvSpPr>
        <p:spPr>
          <a:xfrm>
            <a:off x="402336" y="1847088"/>
            <a:ext cx="3813048" cy="2002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37"/>
          <p:cNvSpPr/>
          <p:nvPr/>
        </p:nvSpPr>
        <p:spPr>
          <a:xfrm>
            <a:off x="457200" y="169164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0" name="Google Shape;1740;p37"/>
          <p:cNvSpPr/>
          <p:nvPr/>
        </p:nvSpPr>
        <p:spPr>
          <a:xfrm>
            <a:off x="557784" y="169164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7"/>
          <p:cNvSpPr/>
          <p:nvPr/>
        </p:nvSpPr>
        <p:spPr>
          <a:xfrm>
            <a:off x="658368" y="169164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2" name="Google Shape;1742;p37"/>
          <p:cNvSpPr/>
          <p:nvPr/>
        </p:nvSpPr>
        <p:spPr>
          <a:xfrm>
            <a:off x="822960" y="1668780"/>
            <a:ext cx="324612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37"/>
          <p:cNvSpPr txBox="1"/>
          <p:nvPr/>
        </p:nvSpPr>
        <p:spPr>
          <a:xfrm>
            <a:off x="859536" y="1668780"/>
            <a:ext cx="317296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Desktop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37"/>
          <p:cNvSpPr/>
          <p:nvPr/>
        </p:nvSpPr>
        <p:spPr>
          <a:xfrm>
            <a:off x="585216" y="2075688"/>
            <a:ext cx="1024128" cy="1554480"/>
          </a:xfrm>
          <a:prstGeom prst="roundRect">
            <a:avLst>
              <a:gd fmla="val 714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37"/>
          <p:cNvSpPr txBox="1"/>
          <p:nvPr/>
        </p:nvSpPr>
        <p:spPr>
          <a:xfrm>
            <a:off x="621792" y="2075688"/>
            <a:ext cx="95097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37"/>
          <p:cNvSpPr/>
          <p:nvPr/>
        </p:nvSpPr>
        <p:spPr>
          <a:xfrm>
            <a:off x="1700784" y="2075688"/>
            <a:ext cx="1024128" cy="1554480"/>
          </a:xfrm>
          <a:prstGeom prst="roundRect">
            <a:avLst>
              <a:gd fmla="val 7143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37"/>
          <p:cNvSpPr txBox="1"/>
          <p:nvPr/>
        </p:nvSpPr>
        <p:spPr>
          <a:xfrm>
            <a:off x="1737360" y="2075688"/>
            <a:ext cx="95097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37"/>
          <p:cNvSpPr/>
          <p:nvPr/>
        </p:nvSpPr>
        <p:spPr>
          <a:xfrm>
            <a:off x="2816352" y="2075688"/>
            <a:ext cx="1024128" cy="1554480"/>
          </a:xfrm>
          <a:prstGeom prst="roundRect">
            <a:avLst>
              <a:gd fmla="val 714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37"/>
          <p:cNvSpPr txBox="1"/>
          <p:nvPr/>
        </p:nvSpPr>
        <p:spPr>
          <a:xfrm>
            <a:off x="2852928" y="2075688"/>
            <a:ext cx="95097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0" name="Google Shape;1750;p37"/>
          <p:cNvSpPr/>
          <p:nvPr/>
        </p:nvSpPr>
        <p:spPr>
          <a:xfrm>
            <a:off x="4526280" y="1508760"/>
            <a:ext cx="2331720" cy="2377440"/>
          </a:xfrm>
          <a:prstGeom prst="roundRect">
            <a:avLst>
              <a:gd fmla="val 7059" name="adj"/>
            </a:avLst>
          </a:prstGeom>
          <a:solidFill>
            <a:srgbClr val="1E293B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37"/>
          <p:cNvSpPr/>
          <p:nvPr/>
        </p:nvSpPr>
        <p:spPr>
          <a:xfrm>
            <a:off x="4617720" y="1645920"/>
            <a:ext cx="2148840" cy="2103120"/>
          </a:xfrm>
          <a:prstGeom prst="roundRect">
            <a:avLst>
              <a:gd fmla="val 260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37"/>
          <p:cNvSpPr/>
          <p:nvPr/>
        </p:nvSpPr>
        <p:spPr>
          <a:xfrm>
            <a:off x="4718304" y="1755648"/>
            <a:ext cx="914400" cy="896112"/>
          </a:xfrm>
          <a:prstGeom prst="roundRect">
            <a:avLst>
              <a:gd fmla="val 816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37"/>
          <p:cNvSpPr txBox="1"/>
          <p:nvPr/>
        </p:nvSpPr>
        <p:spPr>
          <a:xfrm>
            <a:off x="4754880" y="1755648"/>
            <a:ext cx="841248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37"/>
          <p:cNvSpPr/>
          <p:nvPr/>
        </p:nvSpPr>
        <p:spPr>
          <a:xfrm>
            <a:off x="5724144" y="1755648"/>
            <a:ext cx="914400" cy="896112"/>
          </a:xfrm>
          <a:prstGeom prst="roundRect">
            <a:avLst>
              <a:gd fmla="val 8163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37"/>
          <p:cNvSpPr txBox="1"/>
          <p:nvPr/>
        </p:nvSpPr>
        <p:spPr>
          <a:xfrm>
            <a:off x="5760720" y="1755648"/>
            <a:ext cx="841248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6" name="Google Shape;1756;p37"/>
          <p:cNvSpPr/>
          <p:nvPr/>
        </p:nvSpPr>
        <p:spPr>
          <a:xfrm>
            <a:off x="4718304" y="2724912"/>
            <a:ext cx="914400" cy="896112"/>
          </a:xfrm>
          <a:prstGeom prst="roundRect">
            <a:avLst>
              <a:gd fmla="val 816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37"/>
          <p:cNvSpPr txBox="1"/>
          <p:nvPr/>
        </p:nvSpPr>
        <p:spPr>
          <a:xfrm>
            <a:off x="4754880" y="2724912"/>
            <a:ext cx="841248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37"/>
          <p:cNvSpPr/>
          <p:nvPr/>
        </p:nvSpPr>
        <p:spPr>
          <a:xfrm>
            <a:off x="7178040" y="1508760"/>
            <a:ext cx="1417320" cy="2377440"/>
          </a:xfrm>
          <a:prstGeom prst="roundRect">
            <a:avLst>
              <a:gd fmla="val 12903" name="adj"/>
            </a:avLst>
          </a:prstGeom>
          <a:solidFill>
            <a:srgbClr val="1E293B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37"/>
          <p:cNvSpPr/>
          <p:nvPr/>
        </p:nvSpPr>
        <p:spPr>
          <a:xfrm>
            <a:off x="7269480" y="1664208"/>
            <a:ext cx="1234440" cy="2057400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37"/>
          <p:cNvSpPr/>
          <p:nvPr/>
        </p:nvSpPr>
        <p:spPr>
          <a:xfrm>
            <a:off x="7360920" y="1737360"/>
            <a:ext cx="1051560" cy="566928"/>
          </a:xfrm>
          <a:prstGeom prst="roundRect">
            <a:avLst>
              <a:gd fmla="val 1290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37"/>
          <p:cNvSpPr txBox="1"/>
          <p:nvPr/>
        </p:nvSpPr>
        <p:spPr>
          <a:xfrm>
            <a:off x="7397496" y="1737360"/>
            <a:ext cx="978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2" name="Google Shape;1762;p37"/>
          <p:cNvSpPr/>
          <p:nvPr/>
        </p:nvSpPr>
        <p:spPr>
          <a:xfrm>
            <a:off x="7360920" y="2377440"/>
            <a:ext cx="1051560" cy="566928"/>
          </a:xfrm>
          <a:prstGeom prst="roundRect">
            <a:avLst>
              <a:gd fmla="val 12903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37"/>
          <p:cNvSpPr txBox="1"/>
          <p:nvPr/>
        </p:nvSpPr>
        <p:spPr>
          <a:xfrm>
            <a:off x="7397496" y="2377440"/>
            <a:ext cx="978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4" name="Google Shape;1764;p37"/>
          <p:cNvSpPr/>
          <p:nvPr/>
        </p:nvSpPr>
        <p:spPr>
          <a:xfrm>
            <a:off x="7360920" y="3017520"/>
            <a:ext cx="1051560" cy="566928"/>
          </a:xfrm>
          <a:prstGeom prst="roundRect">
            <a:avLst>
              <a:gd fmla="val 1290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37"/>
          <p:cNvSpPr txBox="1"/>
          <p:nvPr/>
        </p:nvSpPr>
        <p:spPr>
          <a:xfrm>
            <a:off x="7397496" y="3017520"/>
            <a:ext cx="97840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Card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6" name="Google Shape;176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5940" y="4050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37"/>
          <p:cNvSpPr txBox="1"/>
          <p:nvPr/>
        </p:nvSpPr>
        <p:spPr>
          <a:xfrm>
            <a:off x="2034540" y="4005072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Desktop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 per row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8" name="Google Shape;176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9220" y="4050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69" name="Google Shape;1769;p37"/>
          <p:cNvSpPr txBox="1"/>
          <p:nvPr/>
        </p:nvSpPr>
        <p:spPr>
          <a:xfrm>
            <a:off x="5417820" y="4005072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Tablet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 per row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0" name="Google Shape;177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83780" y="40507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1" name="Google Shape;1771;p37"/>
          <p:cNvSpPr txBox="1"/>
          <p:nvPr/>
        </p:nvSpPr>
        <p:spPr>
          <a:xfrm>
            <a:off x="7612380" y="400507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Mobile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 per row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2" name="Google Shape;1772;p37"/>
          <p:cNvSpPr/>
          <p:nvPr/>
        </p:nvSpPr>
        <p:spPr>
          <a:xfrm>
            <a:off x="365760" y="4343400"/>
            <a:ext cx="8412480" cy="310896"/>
          </a:xfrm>
          <a:prstGeom prst="roundRect">
            <a:avLst>
              <a:gd fmla="val 29412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37"/>
          <p:cNvSpPr txBox="1"/>
          <p:nvPr/>
        </p:nvSpPr>
        <p:spPr>
          <a:xfrm>
            <a:off x="484632" y="4462272"/>
            <a:ext cx="8174736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&lt;meta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"viewport"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"width=device-width, initial-scale=1"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37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780" name="Google Shape;178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81" name="Google Shape;1781;p38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PART 10  ·  RESPONSIVE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38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Media Queries &amp; Breakpoints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38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Change the style depending on the screen width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38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5" name="Google Shape;178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4128" y="15087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86" name="Google Shape;1786;p38"/>
          <p:cNvSpPr/>
          <p:nvPr/>
        </p:nvSpPr>
        <p:spPr>
          <a:xfrm>
            <a:off x="365760" y="1901952"/>
            <a:ext cx="1645920" cy="384048"/>
          </a:xfrm>
          <a:prstGeom prst="roundRect">
            <a:avLst>
              <a:gd fmla="val 19048" name="adj"/>
            </a:avLst>
          </a:prstGeom>
          <a:solidFill>
            <a:srgbClr val="BFD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8"/>
          <p:cNvSpPr txBox="1"/>
          <p:nvPr/>
        </p:nvSpPr>
        <p:spPr>
          <a:xfrm>
            <a:off x="402336" y="1901952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Extra small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38"/>
          <p:cNvSpPr txBox="1"/>
          <p:nvPr/>
        </p:nvSpPr>
        <p:spPr>
          <a:xfrm>
            <a:off x="365760" y="23317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&lt; 576px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89" name="Google Shape;178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5768" y="1508760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790" name="Google Shape;1790;p38"/>
          <p:cNvSpPr/>
          <p:nvPr/>
        </p:nvSpPr>
        <p:spPr>
          <a:xfrm>
            <a:off x="2057400" y="1901952"/>
            <a:ext cx="1645920" cy="384048"/>
          </a:xfrm>
          <a:prstGeom prst="roundRect">
            <a:avLst>
              <a:gd fmla="val 19048" name="adj"/>
            </a:avLst>
          </a:prstGeom>
          <a:solidFill>
            <a:srgbClr val="93C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38"/>
          <p:cNvSpPr txBox="1"/>
          <p:nvPr/>
        </p:nvSpPr>
        <p:spPr>
          <a:xfrm>
            <a:off x="2093976" y="1901952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Small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38"/>
          <p:cNvSpPr txBox="1"/>
          <p:nvPr/>
        </p:nvSpPr>
        <p:spPr>
          <a:xfrm>
            <a:off x="2057400" y="23317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576 → 768px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3" name="Google Shape;179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7408" y="15087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38"/>
          <p:cNvSpPr/>
          <p:nvPr/>
        </p:nvSpPr>
        <p:spPr>
          <a:xfrm>
            <a:off x="3749040" y="1901952"/>
            <a:ext cx="1645920" cy="384048"/>
          </a:xfrm>
          <a:prstGeom prst="roundRect">
            <a:avLst>
              <a:gd fmla="val 19048" name="adj"/>
            </a:avLst>
          </a:prstGeom>
          <a:solidFill>
            <a:srgbClr val="60A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38"/>
          <p:cNvSpPr txBox="1"/>
          <p:nvPr/>
        </p:nvSpPr>
        <p:spPr>
          <a:xfrm>
            <a:off x="3785616" y="1901952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38"/>
          <p:cNvSpPr txBox="1"/>
          <p:nvPr/>
        </p:nvSpPr>
        <p:spPr>
          <a:xfrm>
            <a:off x="3749040" y="23317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768 → 992px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97" name="Google Shape;1797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9048" y="1508760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798" name="Google Shape;1798;p38"/>
          <p:cNvSpPr/>
          <p:nvPr/>
        </p:nvSpPr>
        <p:spPr>
          <a:xfrm>
            <a:off x="5440680" y="1901952"/>
            <a:ext cx="1645920" cy="384048"/>
          </a:xfrm>
          <a:prstGeom prst="roundRect">
            <a:avLst>
              <a:gd fmla="val 19048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38"/>
          <p:cNvSpPr txBox="1"/>
          <p:nvPr/>
        </p:nvSpPr>
        <p:spPr>
          <a:xfrm>
            <a:off x="5477256" y="1901952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38"/>
          <p:cNvSpPr txBox="1"/>
          <p:nvPr/>
        </p:nvSpPr>
        <p:spPr>
          <a:xfrm>
            <a:off x="5440680" y="23317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992 → 1200px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1" name="Google Shape;1801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0688" y="150876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02" name="Google Shape;1802;p38"/>
          <p:cNvSpPr/>
          <p:nvPr/>
        </p:nvSpPr>
        <p:spPr>
          <a:xfrm>
            <a:off x="7132320" y="1901952"/>
            <a:ext cx="1645920" cy="384048"/>
          </a:xfrm>
          <a:prstGeom prst="roundRect">
            <a:avLst>
              <a:gd fmla="val 19048" name="adj"/>
            </a:avLst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3" name="Google Shape;1803;p38"/>
          <p:cNvSpPr txBox="1"/>
          <p:nvPr/>
        </p:nvSpPr>
        <p:spPr>
          <a:xfrm>
            <a:off x="7168896" y="1901952"/>
            <a:ext cx="157276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Extra large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38"/>
          <p:cNvSpPr txBox="1"/>
          <p:nvPr/>
        </p:nvSpPr>
        <p:spPr>
          <a:xfrm>
            <a:off x="7132320" y="233172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1200px 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5" name="Google Shape;1805;p38"/>
          <p:cNvCxnSpPr/>
          <p:nvPr/>
        </p:nvCxnSpPr>
        <p:spPr>
          <a:xfrm>
            <a:off x="365760" y="2697480"/>
            <a:ext cx="8412480" cy="0"/>
          </a:xfrm>
          <a:prstGeom prst="straightConnector1">
            <a:avLst/>
          </a:prstGeom>
          <a:noFill/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6" name="Google Shape;1806;p38"/>
          <p:cNvSpPr txBox="1"/>
          <p:nvPr/>
        </p:nvSpPr>
        <p:spPr>
          <a:xfrm>
            <a:off x="6949440" y="2724912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screen width  →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38"/>
          <p:cNvSpPr/>
          <p:nvPr/>
        </p:nvSpPr>
        <p:spPr>
          <a:xfrm>
            <a:off x="365760" y="3017520"/>
            <a:ext cx="4754880" cy="1158494"/>
          </a:xfrm>
          <a:prstGeom prst="roundRect">
            <a:avLst>
              <a:gd fmla="val 7893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38"/>
          <p:cNvSpPr/>
          <p:nvPr/>
        </p:nvSpPr>
        <p:spPr>
          <a:xfrm>
            <a:off x="429768" y="3131820"/>
            <a:ext cx="462686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38"/>
          <p:cNvSpPr txBox="1"/>
          <p:nvPr/>
        </p:nvSpPr>
        <p:spPr>
          <a:xfrm>
            <a:off x="484632" y="3136392"/>
            <a:ext cx="4517136" cy="920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@media screen and (max-width: 576px)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  .cards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block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38"/>
          <p:cNvSpPr/>
          <p:nvPr/>
        </p:nvSpPr>
        <p:spPr>
          <a:xfrm>
            <a:off x="5349240" y="3017520"/>
            <a:ext cx="34290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8"/>
          <p:cNvSpPr/>
          <p:nvPr/>
        </p:nvSpPr>
        <p:spPr>
          <a:xfrm>
            <a:off x="5486400" y="3154680"/>
            <a:ext cx="457200" cy="237744"/>
          </a:xfrm>
          <a:prstGeom prst="roundRect">
            <a:avLst>
              <a:gd fmla="val 500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38"/>
          <p:cNvSpPr txBox="1"/>
          <p:nvPr/>
        </p:nvSpPr>
        <p:spPr>
          <a:xfrm>
            <a:off x="5522976" y="3154680"/>
            <a:ext cx="3840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38"/>
          <p:cNvSpPr txBox="1"/>
          <p:nvPr/>
        </p:nvSpPr>
        <p:spPr>
          <a:xfrm>
            <a:off x="6035040" y="3127248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screen ≤ 576px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38"/>
          <p:cNvSpPr/>
          <p:nvPr/>
        </p:nvSpPr>
        <p:spPr>
          <a:xfrm>
            <a:off x="5486400" y="3611880"/>
            <a:ext cx="548640" cy="237744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8"/>
          <p:cNvSpPr txBox="1"/>
          <p:nvPr/>
        </p:nvSpPr>
        <p:spPr>
          <a:xfrm>
            <a:off x="5522976" y="3611880"/>
            <a:ext cx="4754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38"/>
          <p:cNvSpPr txBox="1"/>
          <p:nvPr/>
        </p:nvSpPr>
        <p:spPr>
          <a:xfrm>
            <a:off x="6126480" y="35844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cards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7" name="Google Shape;1817;p38"/>
          <p:cNvCxnSpPr/>
          <p:nvPr/>
        </p:nvCxnSpPr>
        <p:spPr>
          <a:xfrm>
            <a:off x="5715000" y="3429000"/>
            <a:ext cx="0" cy="155448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8" name="Google Shape;1818;p38"/>
          <p:cNvSpPr/>
          <p:nvPr/>
        </p:nvSpPr>
        <p:spPr>
          <a:xfrm>
            <a:off x="7635240" y="3127248"/>
            <a:ext cx="868680" cy="1371600"/>
          </a:xfrm>
          <a:prstGeom prst="roundRect">
            <a:avLst>
              <a:gd fmla="val 1263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38"/>
          <p:cNvSpPr/>
          <p:nvPr/>
        </p:nvSpPr>
        <p:spPr>
          <a:xfrm>
            <a:off x="7708392" y="3291840"/>
            <a:ext cx="722376" cy="310896"/>
          </a:xfrm>
          <a:prstGeom prst="roundRect">
            <a:avLst>
              <a:gd fmla="val 14706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0" name="Google Shape;1820;p38"/>
          <p:cNvSpPr/>
          <p:nvPr/>
        </p:nvSpPr>
        <p:spPr>
          <a:xfrm>
            <a:off x="7708392" y="3675888"/>
            <a:ext cx="722376" cy="310896"/>
          </a:xfrm>
          <a:prstGeom prst="roundRect">
            <a:avLst>
              <a:gd fmla="val 14706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38"/>
          <p:cNvSpPr/>
          <p:nvPr/>
        </p:nvSpPr>
        <p:spPr>
          <a:xfrm>
            <a:off x="7708392" y="4059936"/>
            <a:ext cx="722376" cy="310896"/>
          </a:xfrm>
          <a:prstGeom prst="roundRect">
            <a:avLst>
              <a:gd fmla="val 14706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38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828" name="Google Shape;18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9" name="Google Shape;1829;p39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PRACTICE  ·  CHALLENGES 3 · 4 ·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39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Challenges 3, 4 &amp; 5 — Layout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1" name="Google Shape;1831;p39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Flexbox, Grid and Responsive on the same 3 cards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39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39"/>
          <p:cNvSpPr/>
          <p:nvPr/>
        </p:nvSpPr>
        <p:spPr>
          <a:xfrm>
            <a:off x="365760" y="1508760"/>
            <a:ext cx="2697480" cy="3154680"/>
          </a:xfrm>
          <a:prstGeom prst="roundRect">
            <a:avLst>
              <a:gd fmla="val 406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39"/>
          <p:cNvSpPr/>
          <p:nvPr/>
        </p:nvSpPr>
        <p:spPr>
          <a:xfrm>
            <a:off x="502920" y="1627632"/>
            <a:ext cx="384048" cy="384048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5" name="Google Shape;183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092" y="1719804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39"/>
          <p:cNvSpPr txBox="1"/>
          <p:nvPr/>
        </p:nvSpPr>
        <p:spPr>
          <a:xfrm>
            <a:off x="960120" y="1600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Challenge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 cards with Flexbox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39"/>
          <p:cNvSpPr/>
          <p:nvPr/>
        </p:nvSpPr>
        <p:spPr>
          <a:xfrm>
            <a:off x="502920" y="2194560"/>
            <a:ext cx="2423160" cy="301752"/>
          </a:xfrm>
          <a:prstGeom prst="roundRect">
            <a:avLst>
              <a:gd fmla="val 212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8" name="Google Shape;1838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216" y="22631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39"/>
          <p:cNvSpPr txBox="1"/>
          <p:nvPr/>
        </p:nvSpPr>
        <p:spPr>
          <a:xfrm>
            <a:off x="822960" y="2194560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display: flex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39"/>
          <p:cNvSpPr/>
          <p:nvPr/>
        </p:nvSpPr>
        <p:spPr>
          <a:xfrm>
            <a:off x="502920" y="2560320"/>
            <a:ext cx="2423160" cy="301752"/>
          </a:xfrm>
          <a:prstGeom prst="roundRect">
            <a:avLst>
              <a:gd fmla="val 212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1" name="Google Shape;184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216" y="26289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42" name="Google Shape;1842;p39"/>
          <p:cNvSpPr txBox="1"/>
          <p:nvPr/>
        </p:nvSpPr>
        <p:spPr>
          <a:xfrm>
            <a:off x="822960" y="2560320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justify-content: space-between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3" name="Google Shape;1843;p39"/>
          <p:cNvSpPr/>
          <p:nvPr/>
        </p:nvSpPr>
        <p:spPr>
          <a:xfrm>
            <a:off x="502920" y="2926080"/>
            <a:ext cx="2423160" cy="301752"/>
          </a:xfrm>
          <a:prstGeom prst="roundRect">
            <a:avLst>
              <a:gd fmla="val 212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4" name="Google Shape;184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216" y="29946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39"/>
          <p:cNvSpPr txBox="1"/>
          <p:nvPr/>
        </p:nvSpPr>
        <p:spPr>
          <a:xfrm>
            <a:off x="822960" y="2926080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space between the cards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39"/>
          <p:cNvSpPr/>
          <p:nvPr/>
        </p:nvSpPr>
        <p:spPr>
          <a:xfrm>
            <a:off x="502920" y="3383280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39"/>
          <p:cNvSpPr txBox="1"/>
          <p:nvPr/>
        </p:nvSpPr>
        <p:spPr>
          <a:xfrm>
            <a:off x="539496" y="338328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EXPECTED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8" name="Google Shape;1848;p39"/>
          <p:cNvSpPr/>
          <p:nvPr/>
        </p:nvSpPr>
        <p:spPr>
          <a:xfrm>
            <a:off x="502920" y="3657600"/>
            <a:ext cx="2423160" cy="82296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 cap="flat" cmpd="sng" w="12700">
            <a:solidFill>
              <a:srgbClr val="94A3B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39"/>
          <p:cNvSpPr/>
          <p:nvPr/>
        </p:nvSpPr>
        <p:spPr>
          <a:xfrm>
            <a:off x="585216" y="3794760"/>
            <a:ext cx="594360" cy="548640"/>
          </a:xfrm>
          <a:prstGeom prst="roundRect">
            <a:avLst>
              <a:gd fmla="val 8333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9"/>
          <p:cNvSpPr txBox="1"/>
          <p:nvPr/>
        </p:nvSpPr>
        <p:spPr>
          <a:xfrm>
            <a:off x="621792" y="3794760"/>
            <a:ext cx="521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1" name="Google Shape;1851;p39"/>
          <p:cNvSpPr/>
          <p:nvPr/>
        </p:nvSpPr>
        <p:spPr>
          <a:xfrm>
            <a:off x="1417320" y="3794760"/>
            <a:ext cx="594360" cy="548640"/>
          </a:xfrm>
          <a:prstGeom prst="roundRect">
            <a:avLst>
              <a:gd fmla="val 8333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39"/>
          <p:cNvSpPr txBox="1"/>
          <p:nvPr/>
        </p:nvSpPr>
        <p:spPr>
          <a:xfrm>
            <a:off x="1453896" y="3794760"/>
            <a:ext cx="521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39"/>
          <p:cNvSpPr/>
          <p:nvPr/>
        </p:nvSpPr>
        <p:spPr>
          <a:xfrm>
            <a:off x="2249424" y="3794760"/>
            <a:ext cx="594360" cy="548640"/>
          </a:xfrm>
          <a:prstGeom prst="roundRect">
            <a:avLst>
              <a:gd fmla="val 8333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39"/>
          <p:cNvSpPr txBox="1"/>
          <p:nvPr/>
        </p:nvSpPr>
        <p:spPr>
          <a:xfrm>
            <a:off x="2286000" y="3794760"/>
            <a:ext cx="521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39"/>
          <p:cNvSpPr/>
          <p:nvPr/>
        </p:nvSpPr>
        <p:spPr>
          <a:xfrm>
            <a:off x="3223260" y="1508760"/>
            <a:ext cx="2697480" cy="3154680"/>
          </a:xfrm>
          <a:prstGeom prst="roundRect">
            <a:avLst>
              <a:gd fmla="val 406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39"/>
          <p:cNvSpPr/>
          <p:nvPr/>
        </p:nvSpPr>
        <p:spPr>
          <a:xfrm>
            <a:off x="3360420" y="1627632"/>
            <a:ext cx="384048" cy="384048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57" name="Google Shape;185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2592" y="1719804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39"/>
          <p:cNvSpPr txBox="1"/>
          <p:nvPr/>
        </p:nvSpPr>
        <p:spPr>
          <a:xfrm>
            <a:off x="3817620" y="1600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Challenge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3-column Grid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39"/>
          <p:cNvSpPr/>
          <p:nvPr/>
        </p:nvSpPr>
        <p:spPr>
          <a:xfrm>
            <a:off x="3360420" y="2194560"/>
            <a:ext cx="2423160" cy="301752"/>
          </a:xfrm>
          <a:prstGeom prst="roundRect">
            <a:avLst>
              <a:gd fmla="val 212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0" name="Google Shape;186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2716" y="22631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61" name="Google Shape;1861;p39"/>
          <p:cNvSpPr txBox="1"/>
          <p:nvPr/>
        </p:nvSpPr>
        <p:spPr>
          <a:xfrm>
            <a:off x="3680460" y="2194560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display: grid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39"/>
          <p:cNvSpPr/>
          <p:nvPr/>
        </p:nvSpPr>
        <p:spPr>
          <a:xfrm>
            <a:off x="3360420" y="2560320"/>
            <a:ext cx="2423160" cy="301752"/>
          </a:xfrm>
          <a:prstGeom prst="roundRect">
            <a:avLst>
              <a:gd fmla="val 212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3" name="Google Shape;1863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2716" y="26289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64" name="Google Shape;1864;p39"/>
          <p:cNvSpPr txBox="1"/>
          <p:nvPr/>
        </p:nvSpPr>
        <p:spPr>
          <a:xfrm>
            <a:off x="3680460" y="2560320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repeat(3, 1fr)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39"/>
          <p:cNvSpPr/>
          <p:nvPr/>
        </p:nvSpPr>
        <p:spPr>
          <a:xfrm>
            <a:off x="3360420" y="2926080"/>
            <a:ext cx="2423160" cy="301752"/>
          </a:xfrm>
          <a:prstGeom prst="roundRect">
            <a:avLst>
              <a:gd fmla="val 212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66" name="Google Shape;186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2716" y="29946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39"/>
          <p:cNvSpPr txBox="1"/>
          <p:nvPr/>
        </p:nvSpPr>
        <p:spPr>
          <a:xfrm>
            <a:off x="3680460" y="2926080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gap: 20px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8" name="Google Shape;1868;p39"/>
          <p:cNvSpPr/>
          <p:nvPr/>
        </p:nvSpPr>
        <p:spPr>
          <a:xfrm>
            <a:off x="3360420" y="3383280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9" name="Google Shape;1869;p39"/>
          <p:cNvSpPr txBox="1"/>
          <p:nvPr/>
        </p:nvSpPr>
        <p:spPr>
          <a:xfrm>
            <a:off x="3396996" y="338328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EXPECTED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39"/>
          <p:cNvSpPr/>
          <p:nvPr/>
        </p:nvSpPr>
        <p:spPr>
          <a:xfrm>
            <a:off x="3360420" y="3657600"/>
            <a:ext cx="758952" cy="365760"/>
          </a:xfrm>
          <a:prstGeom prst="roundRect">
            <a:avLst>
              <a:gd fmla="val 125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1" name="Google Shape;1871;p39"/>
          <p:cNvSpPr/>
          <p:nvPr/>
        </p:nvSpPr>
        <p:spPr>
          <a:xfrm>
            <a:off x="4183380" y="3657600"/>
            <a:ext cx="758952" cy="365760"/>
          </a:xfrm>
          <a:prstGeom prst="roundRect">
            <a:avLst>
              <a:gd fmla="val 125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39"/>
          <p:cNvSpPr/>
          <p:nvPr/>
        </p:nvSpPr>
        <p:spPr>
          <a:xfrm>
            <a:off x="5006340" y="3657600"/>
            <a:ext cx="758952" cy="365760"/>
          </a:xfrm>
          <a:prstGeom prst="roundRect">
            <a:avLst>
              <a:gd fmla="val 125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39"/>
          <p:cNvSpPr/>
          <p:nvPr/>
        </p:nvSpPr>
        <p:spPr>
          <a:xfrm>
            <a:off x="3360420" y="4078224"/>
            <a:ext cx="758952" cy="365760"/>
          </a:xfrm>
          <a:prstGeom prst="roundRect">
            <a:avLst>
              <a:gd fmla="val 125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39"/>
          <p:cNvSpPr/>
          <p:nvPr/>
        </p:nvSpPr>
        <p:spPr>
          <a:xfrm>
            <a:off x="4183380" y="4078224"/>
            <a:ext cx="758952" cy="365760"/>
          </a:xfrm>
          <a:prstGeom prst="roundRect">
            <a:avLst>
              <a:gd fmla="val 12500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39"/>
          <p:cNvSpPr/>
          <p:nvPr/>
        </p:nvSpPr>
        <p:spPr>
          <a:xfrm>
            <a:off x="5006340" y="4078224"/>
            <a:ext cx="758952" cy="365760"/>
          </a:xfrm>
          <a:prstGeom prst="roundRect">
            <a:avLst>
              <a:gd fmla="val 125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39"/>
          <p:cNvSpPr/>
          <p:nvPr/>
        </p:nvSpPr>
        <p:spPr>
          <a:xfrm>
            <a:off x="6080760" y="1508760"/>
            <a:ext cx="2697480" cy="3154680"/>
          </a:xfrm>
          <a:prstGeom prst="roundRect">
            <a:avLst>
              <a:gd fmla="val 406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7" name="Google Shape;1877;p39"/>
          <p:cNvSpPr/>
          <p:nvPr/>
        </p:nvSpPr>
        <p:spPr>
          <a:xfrm>
            <a:off x="6217920" y="1627632"/>
            <a:ext cx="384048" cy="384048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8" name="Google Shape;1878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092" y="1719804"/>
            <a:ext cx="199705" cy="199705"/>
          </a:xfrm>
          <a:prstGeom prst="rect">
            <a:avLst/>
          </a:prstGeom>
          <a:noFill/>
          <a:ln>
            <a:noFill/>
          </a:ln>
        </p:spPr>
      </p:pic>
      <p:sp>
        <p:nvSpPr>
          <p:cNvPr id="1879" name="Google Shape;1879;p39"/>
          <p:cNvSpPr txBox="1"/>
          <p:nvPr/>
        </p:nvSpPr>
        <p:spPr>
          <a:xfrm>
            <a:off x="6675120" y="16002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Challenge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Make it responsive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39"/>
          <p:cNvSpPr/>
          <p:nvPr/>
        </p:nvSpPr>
        <p:spPr>
          <a:xfrm>
            <a:off x="6217920" y="2194560"/>
            <a:ext cx="2423160" cy="301752"/>
          </a:xfrm>
          <a:prstGeom prst="roundRect">
            <a:avLst>
              <a:gd fmla="val 212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1" name="Google Shape;188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216" y="226314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82" name="Google Shape;1882;p39"/>
          <p:cNvSpPr txBox="1"/>
          <p:nvPr/>
        </p:nvSpPr>
        <p:spPr>
          <a:xfrm>
            <a:off x="6537960" y="2194560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@media (max-width: 576px)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39"/>
          <p:cNvSpPr/>
          <p:nvPr/>
        </p:nvSpPr>
        <p:spPr>
          <a:xfrm>
            <a:off x="6217920" y="2560320"/>
            <a:ext cx="2423160" cy="301752"/>
          </a:xfrm>
          <a:prstGeom prst="roundRect">
            <a:avLst>
              <a:gd fmla="val 212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4" name="Google Shape;1884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216" y="262890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85" name="Google Shape;1885;p39"/>
          <p:cNvSpPr txBox="1"/>
          <p:nvPr/>
        </p:nvSpPr>
        <p:spPr>
          <a:xfrm>
            <a:off x="6537960" y="2560320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 column on mobile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6" name="Google Shape;1886;p39"/>
          <p:cNvSpPr/>
          <p:nvPr/>
        </p:nvSpPr>
        <p:spPr>
          <a:xfrm>
            <a:off x="6217920" y="2926080"/>
            <a:ext cx="2423160" cy="301752"/>
          </a:xfrm>
          <a:prstGeom prst="roundRect">
            <a:avLst>
              <a:gd fmla="val 21212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7" name="Google Shape;188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216" y="2994660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39"/>
          <p:cNvSpPr txBox="1"/>
          <p:nvPr/>
        </p:nvSpPr>
        <p:spPr>
          <a:xfrm>
            <a:off x="6537960" y="2926080"/>
            <a:ext cx="21031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resize to test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39"/>
          <p:cNvSpPr/>
          <p:nvPr/>
        </p:nvSpPr>
        <p:spPr>
          <a:xfrm>
            <a:off x="6217920" y="3383280"/>
            <a:ext cx="73152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39"/>
          <p:cNvSpPr txBox="1"/>
          <p:nvPr/>
        </p:nvSpPr>
        <p:spPr>
          <a:xfrm>
            <a:off x="6254496" y="338328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EXPECTED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39"/>
          <p:cNvSpPr/>
          <p:nvPr/>
        </p:nvSpPr>
        <p:spPr>
          <a:xfrm>
            <a:off x="6217920" y="3657600"/>
            <a:ext cx="1143000" cy="822960"/>
          </a:xfrm>
          <a:prstGeom prst="roundRect">
            <a:avLst>
              <a:gd fmla="val 5556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39"/>
          <p:cNvSpPr/>
          <p:nvPr/>
        </p:nvSpPr>
        <p:spPr>
          <a:xfrm>
            <a:off x="6309360" y="3749040"/>
            <a:ext cx="301752" cy="640080"/>
          </a:xfrm>
          <a:prstGeom prst="roundRect">
            <a:avLst>
              <a:gd fmla="val 1212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39"/>
          <p:cNvSpPr/>
          <p:nvPr/>
        </p:nvSpPr>
        <p:spPr>
          <a:xfrm>
            <a:off x="6647688" y="3749040"/>
            <a:ext cx="301752" cy="640080"/>
          </a:xfrm>
          <a:prstGeom prst="roundRect">
            <a:avLst>
              <a:gd fmla="val 12121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39"/>
          <p:cNvSpPr/>
          <p:nvPr/>
        </p:nvSpPr>
        <p:spPr>
          <a:xfrm>
            <a:off x="6986016" y="3749040"/>
            <a:ext cx="301752" cy="640080"/>
          </a:xfrm>
          <a:prstGeom prst="roundRect">
            <a:avLst>
              <a:gd fmla="val 12121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95" name="Google Shape;1895;p39"/>
          <p:cNvCxnSpPr/>
          <p:nvPr/>
        </p:nvCxnSpPr>
        <p:spPr>
          <a:xfrm>
            <a:off x="7452360" y="40690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6" name="Google Shape;1896;p39"/>
          <p:cNvSpPr/>
          <p:nvPr/>
        </p:nvSpPr>
        <p:spPr>
          <a:xfrm>
            <a:off x="7909560" y="3639312"/>
            <a:ext cx="640080" cy="868680"/>
          </a:xfrm>
          <a:prstGeom prst="roundRect">
            <a:avLst>
              <a:gd fmla="val 1428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39"/>
          <p:cNvSpPr/>
          <p:nvPr/>
        </p:nvSpPr>
        <p:spPr>
          <a:xfrm>
            <a:off x="7964424" y="3712464"/>
            <a:ext cx="530352" cy="201168"/>
          </a:xfrm>
          <a:prstGeom prst="roundRect">
            <a:avLst>
              <a:gd fmla="val 18182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39"/>
          <p:cNvSpPr/>
          <p:nvPr/>
        </p:nvSpPr>
        <p:spPr>
          <a:xfrm>
            <a:off x="7964424" y="3968496"/>
            <a:ext cx="530352" cy="201168"/>
          </a:xfrm>
          <a:prstGeom prst="roundRect">
            <a:avLst>
              <a:gd fmla="val 18182" name="adj"/>
            </a:avLst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39"/>
          <p:cNvSpPr/>
          <p:nvPr/>
        </p:nvSpPr>
        <p:spPr>
          <a:xfrm>
            <a:off x="7964424" y="4224528"/>
            <a:ext cx="530352" cy="201168"/>
          </a:xfrm>
          <a:prstGeom prst="roundRect">
            <a:avLst>
              <a:gd fmla="val 18182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39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905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906" name="Google Shape;19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7" name="Google Shape;1907;p40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11  ·  USEFUL CSS RESOURCES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40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Font Awesome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40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Reusable scalable icons for websites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0" name="Google Shape;1910;p40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40"/>
          <p:cNvSpPr/>
          <p:nvPr/>
        </p:nvSpPr>
        <p:spPr>
          <a:xfrm>
            <a:off x="365760" y="1508760"/>
            <a:ext cx="16002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40"/>
          <p:cNvSpPr/>
          <p:nvPr/>
        </p:nvSpPr>
        <p:spPr>
          <a:xfrm>
            <a:off x="822960" y="1627632"/>
            <a:ext cx="685800" cy="685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3" name="Google Shape;191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552" y="1792224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40"/>
          <p:cNvSpPr txBox="1"/>
          <p:nvPr/>
        </p:nvSpPr>
        <p:spPr>
          <a:xfrm>
            <a:off x="365760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5" name="Google Shape;1915;p40"/>
          <p:cNvSpPr txBox="1"/>
          <p:nvPr/>
        </p:nvSpPr>
        <p:spPr>
          <a:xfrm>
            <a:off x="365760" y="260604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fa-car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40"/>
          <p:cNvSpPr/>
          <p:nvPr/>
        </p:nvSpPr>
        <p:spPr>
          <a:xfrm>
            <a:off x="2080260" y="1508760"/>
            <a:ext cx="16002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40"/>
          <p:cNvSpPr/>
          <p:nvPr/>
        </p:nvSpPr>
        <p:spPr>
          <a:xfrm>
            <a:off x="2537460" y="1627632"/>
            <a:ext cx="685800" cy="685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8" name="Google Shape;191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02052" y="1792224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919" name="Google Shape;1919;p40"/>
          <p:cNvSpPr txBox="1"/>
          <p:nvPr/>
        </p:nvSpPr>
        <p:spPr>
          <a:xfrm>
            <a:off x="2080260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40"/>
          <p:cNvSpPr txBox="1"/>
          <p:nvPr/>
        </p:nvSpPr>
        <p:spPr>
          <a:xfrm>
            <a:off x="2080260" y="260604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fa-home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40"/>
          <p:cNvSpPr/>
          <p:nvPr/>
        </p:nvSpPr>
        <p:spPr>
          <a:xfrm>
            <a:off x="3794760" y="1508760"/>
            <a:ext cx="16002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40"/>
          <p:cNvSpPr/>
          <p:nvPr/>
        </p:nvSpPr>
        <p:spPr>
          <a:xfrm>
            <a:off x="4251960" y="1627632"/>
            <a:ext cx="685800" cy="685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3" name="Google Shape;1923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16552" y="1792224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924" name="Google Shape;1924;p40"/>
          <p:cNvSpPr txBox="1"/>
          <p:nvPr/>
        </p:nvSpPr>
        <p:spPr>
          <a:xfrm>
            <a:off x="3794760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40"/>
          <p:cNvSpPr txBox="1"/>
          <p:nvPr/>
        </p:nvSpPr>
        <p:spPr>
          <a:xfrm>
            <a:off x="3794760" y="260604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fa-user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40"/>
          <p:cNvSpPr/>
          <p:nvPr/>
        </p:nvSpPr>
        <p:spPr>
          <a:xfrm>
            <a:off x="5509260" y="1508760"/>
            <a:ext cx="16002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40"/>
          <p:cNvSpPr/>
          <p:nvPr/>
        </p:nvSpPr>
        <p:spPr>
          <a:xfrm>
            <a:off x="5966460" y="1627632"/>
            <a:ext cx="685800" cy="685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8" name="Google Shape;1928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31052" y="1792224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929" name="Google Shape;1929;p40"/>
          <p:cNvSpPr txBox="1"/>
          <p:nvPr/>
        </p:nvSpPr>
        <p:spPr>
          <a:xfrm>
            <a:off x="5509260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40"/>
          <p:cNvSpPr txBox="1"/>
          <p:nvPr/>
        </p:nvSpPr>
        <p:spPr>
          <a:xfrm>
            <a:off x="5509260" y="260604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fa-search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40"/>
          <p:cNvSpPr/>
          <p:nvPr/>
        </p:nvSpPr>
        <p:spPr>
          <a:xfrm>
            <a:off x="7223760" y="1508760"/>
            <a:ext cx="1600200" cy="13716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40"/>
          <p:cNvSpPr/>
          <p:nvPr/>
        </p:nvSpPr>
        <p:spPr>
          <a:xfrm>
            <a:off x="7680960" y="1627632"/>
            <a:ext cx="685800" cy="685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3" name="Google Shape;1933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5552" y="1792224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1934" name="Google Shape;1934;p40"/>
          <p:cNvSpPr txBox="1"/>
          <p:nvPr/>
        </p:nvSpPr>
        <p:spPr>
          <a:xfrm>
            <a:off x="7223760" y="237744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Settings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40"/>
          <p:cNvSpPr txBox="1"/>
          <p:nvPr/>
        </p:nvSpPr>
        <p:spPr>
          <a:xfrm>
            <a:off x="7223760" y="2606040"/>
            <a:ext cx="1600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fa-cog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40"/>
          <p:cNvSpPr/>
          <p:nvPr/>
        </p:nvSpPr>
        <p:spPr>
          <a:xfrm>
            <a:off x="365760" y="3063240"/>
            <a:ext cx="4389120" cy="593344"/>
          </a:xfrm>
          <a:prstGeom prst="roundRect">
            <a:avLst>
              <a:gd fmla="val 15411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40"/>
          <p:cNvSpPr/>
          <p:nvPr/>
        </p:nvSpPr>
        <p:spPr>
          <a:xfrm>
            <a:off x="429768" y="3355340"/>
            <a:ext cx="4261104" cy="186944"/>
          </a:xfrm>
          <a:prstGeom prst="roundRect">
            <a:avLst>
              <a:gd fmla="val 19565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40"/>
          <p:cNvSpPr txBox="1"/>
          <p:nvPr/>
        </p:nvSpPr>
        <p:spPr>
          <a:xfrm>
            <a:off x="484632" y="3182112"/>
            <a:ext cx="4151376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&lt;link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b="0" i="0" lang="en-US" sz="9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-US" sz="9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"font-awesome.css"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&lt;i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9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"fa fa-car"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&gt;&lt;/i&gt;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40"/>
          <p:cNvSpPr/>
          <p:nvPr/>
        </p:nvSpPr>
        <p:spPr>
          <a:xfrm>
            <a:off x="365760" y="3977640"/>
            <a:ext cx="4389120" cy="640080"/>
          </a:xfrm>
          <a:prstGeom prst="roundRect">
            <a:avLst>
              <a:gd fmla="val 14286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40"/>
          <p:cNvSpPr/>
          <p:nvPr/>
        </p:nvSpPr>
        <p:spPr>
          <a:xfrm>
            <a:off x="502920" y="406908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1" name="Google Shape;1941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2648" y="41788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2" name="Google Shape;1942;p40"/>
          <p:cNvSpPr txBox="1"/>
          <p:nvPr/>
        </p:nvSpPr>
        <p:spPr>
          <a:xfrm>
            <a:off x="1097280" y="397764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Reusable scalable icons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for websites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40"/>
          <p:cNvSpPr/>
          <p:nvPr/>
        </p:nvSpPr>
        <p:spPr>
          <a:xfrm>
            <a:off x="4937760" y="3063240"/>
            <a:ext cx="3840480" cy="155448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40"/>
          <p:cNvSpPr/>
          <p:nvPr/>
        </p:nvSpPr>
        <p:spPr>
          <a:xfrm>
            <a:off x="5074920" y="3154680"/>
            <a:ext cx="721360" cy="237744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40"/>
          <p:cNvSpPr txBox="1"/>
          <p:nvPr/>
        </p:nvSpPr>
        <p:spPr>
          <a:xfrm>
            <a:off x="5111496" y="3154680"/>
            <a:ext cx="6482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Scalable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6" name="Google Shape;194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2100" y="3703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47" name="Google Shape;1947;p40"/>
          <p:cNvSpPr txBox="1"/>
          <p:nvPr/>
        </p:nvSpPr>
        <p:spPr>
          <a:xfrm>
            <a:off x="5120640" y="4224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fa-lg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48" name="Google Shape;194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5204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40"/>
          <p:cNvSpPr txBox="1"/>
          <p:nvPr/>
        </p:nvSpPr>
        <p:spPr>
          <a:xfrm>
            <a:off x="6126480" y="4224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fa-2x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0" name="Google Shape;195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78040" y="3291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951" name="Google Shape;1951;p40"/>
          <p:cNvSpPr txBox="1"/>
          <p:nvPr/>
        </p:nvSpPr>
        <p:spPr>
          <a:xfrm>
            <a:off x="7132320" y="422452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ourier New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fa-3x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2" name="Google Shape;1952;p4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75320" y="3749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53" name="Google Shape;1953;p40"/>
          <p:cNvSpPr txBox="1"/>
          <p:nvPr/>
        </p:nvSpPr>
        <p:spPr>
          <a:xfrm>
            <a:off x="8001000" y="4114800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ourier New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color: red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40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1960" name="Google Shape;196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61" name="Google Shape;1961;p41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11  ·  USEFUL CSS RESOURCES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2" name="Google Shape;1962;p41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@font-face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41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 your own custom font on your website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41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41"/>
          <p:cNvSpPr/>
          <p:nvPr/>
        </p:nvSpPr>
        <p:spPr>
          <a:xfrm>
            <a:off x="365760" y="1508760"/>
            <a:ext cx="1901952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41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7" name="Google Shape;1967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8013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68" name="Google Shape;1968;p41"/>
          <p:cNvSpPr txBox="1"/>
          <p:nvPr/>
        </p:nvSpPr>
        <p:spPr>
          <a:xfrm>
            <a:off x="969264" y="155448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Custom 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MyFont.woff2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9" name="Google Shape;1969;p41"/>
          <p:cNvCxnSpPr/>
          <p:nvPr/>
        </p:nvCxnSpPr>
        <p:spPr>
          <a:xfrm>
            <a:off x="2286000" y="19202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0" name="Google Shape;1970;p41"/>
          <p:cNvSpPr/>
          <p:nvPr/>
        </p:nvSpPr>
        <p:spPr>
          <a:xfrm>
            <a:off x="2532888" y="1508760"/>
            <a:ext cx="1901952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41"/>
          <p:cNvSpPr/>
          <p:nvPr/>
        </p:nvSpPr>
        <p:spPr>
          <a:xfrm>
            <a:off x="2624328" y="169164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2" name="Google Shape;197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4056" y="18013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73" name="Google Shape;1973;p41"/>
          <p:cNvSpPr txBox="1"/>
          <p:nvPr/>
        </p:nvSpPr>
        <p:spPr>
          <a:xfrm>
            <a:off x="3136392" y="155448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@font-face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declare the 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4" name="Google Shape;1974;p41"/>
          <p:cNvCxnSpPr/>
          <p:nvPr/>
        </p:nvCxnSpPr>
        <p:spPr>
          <a:xfrm>
            <a:off x="4453128" y="19202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5" name="Google Shape;1975;p41"/>
          <p:cNvSpPr/>
          <p:nvPr/>
        </p:nvSpPr>
        <p:spPr>
          <a:xfrm>
            <a:off x="4700016" y="1508760"/>
            <a:ext cx="1901952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41"/>
          <p:cNvSpPr/>
          <p:nvPr/>
        </p:nvSpPr>
        <p:spPr>
          <a:xfrm>
            <a:off x="4791456" y="1691640"/>
            <a:ext cx="457200" cy="457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7" name="Google Shape;197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1184" y="18013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78" name="Google Shape;1978;p41"/>
          <p:cNvSpPr txBox="1"/>
          <p:nvPr/>
        </p:nvSpPr>
        <p:spPr>
          <a:xfrm>
            <a:off x="5303520" y="155448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font-family: "MyFont"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9" name="Google Shape;1979;p41"/>
          <p:cNvCxnSpPr/>
          <p:nvPr/>
        </p:nvCxnSpPr>
        <p:spPr>
          <a:xfrm>
            <a:off x="6620256" y="192024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0" name="Google Shape;1980;p41"/>
          <p:cNvSpPr/>
          <p:nvPr/>
        </p:nvSpPr>
        <p:spPr>
          <a:xfrm>
            <a:off x="6867144" y="1508760"/>
            <a:ext cx="1901952" cy="82296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41"/>
          <p:cNvSpPr/>
          <p:nvPr/>
        </p:nvSpPr>
        <p:spPr>
          <a:xfrm>
            <a:off x="6958584" y="1691640"/>
            <a:ext cx="457200" cy="457200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82" name="Google Shape;1982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68312" y="18013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983" name="Google Shape;1983;p41"/>
          <p:cNvSpPr txBox="1"/>
          <p:nvPr/>
        </p:nvSpPr>
        <p:spPr>
          <a:xfrm>
            <a:off x="7470648" y="1554480"/>
            <a:ext cx="1280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Your website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shows the font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4" name="Google Shape;1984;p41"/>
          <p:cNvSpPr/>
          <p:nvPr/>
        </p:nvSpPr>
        <p:spPr>
          <a:xfrm>
            <a:off x="365760" y="2606040"/>
            <a:ext cx="4572000" cy="1526794"/>
          </a:xfrm>
          <a:prstGeom prst="roundRect">
            <a:avLst>
              <a:gd fmla="val 5989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41"/>
          <p:cNvSpPr/>
          <p:nvPr/>
        </p:nvSpPr>
        <p:spPr>
          <a:xfrm>
            <a:off x="429768" y="2904490"/>
            <a:ext cx="44439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41"/>
          <p:cNvSpPr/>
          <p:nvPr/>
        </p:nvSpPr>
        <p:spPr>
          <a:xfrm>
            <a:off x="429768" y="3088640"/>
            <a:ext cx="44439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41"/>
          <p:cNvSpPr/>
          <p:nvPr/>
        </p:nvSpPr>
        <p:spPr>
          <a:xfrm>
            <a:off x="429768" y="3641090"/>
            <a:ext cx="4443984" cy="193294"/>
          </a:xfrm>
          <a:prstGeom prst="roundRect">
            <a:avLst>
              <a:gd fmla="val 18922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8" name="Google Shape;1988;p41"/>
          <p:cNvSpPr txBox="1"/>
          <p:nvPr/>
        </p:nvSpPr>
        <p:spPr>
          <a:xfrm>
            <a:off x="484632" y="2724912"/>
            <a:ext cx="4334256" cy="1289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@font-face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"MyFont"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url("MyFont.woff2")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h1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0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0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"MyFont"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41"/>
          <p:cNvSpPr/>
          <p:nvPr/>
        </p:nvSpPr>
        <p:spPr>
          <a:xfrm>
            <a:off x="5212080" y="2606040"/>
            <a:ext cx="3566160" cy="201168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41"/>
          <p:cNvSpPr/>
          <p:nvPr/>
        </p:nvSpPr>
        <p:spPr>
          <a:xfrm>
            <a:off x="5394960" y="2724912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41"/>
          <p:cNvSpPr txBox="1"/>
          <p:nvPr/>
        </p:nvSpPr>
        <p:spPr>
          <a:xfrm>
            <a:off x="5431536" y="2724912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41"/>
          <p:cNvSpPr txBox="1"/>
          <p:nvPr/>
        </p:nvSpPr>
        <p:spPr>
          <a:xfrm>
            <a:off x="5394960" y="30175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Hello CSS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3" name="Google Shape;1993;p41"/>
          <p:cNvCxnSpPr/>
          <p:nvPr/>
        </p:nvCxnSpPr>
        <p:spPr>
          <a:xfrm>
            <a:off x="6949440" y="361188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4" name="Google Shape;1994;p41"/>
          <p:cNvSpPr/>
          <p:nvPr/>
        </p:nvSpPr>
        <p:spPr>
          <a:xfrm>
            <a:off x="5394960" y="3931920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5" name="Google Shape;1995;p41"/>
          <p:cNvSpPr txBox="1"/>
          <p:nvPr/>
        </p:nvSpPr>
        <p:spPr>
          <a:xfrm>
            <a:off x="5431536" y="393192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6" name="Google Shape;1996;p41"/>
          <p:cNvSpPr txBox="1"/>
          <p:nvPr/>
        </p:nvSpPr>
        <p:spPr>
          <a:xfrm>
            <a:off x="6172200" y="384048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3000"/>
              <a:buFont typeface="Bookman Old Style"/>
              <a:buNone/>
            </a:pPr>
            <a:r>
              <a:rPr b="1" i="1" lang="en-US" sz="3000" u="none" cap="none" strike="noStrike">
                <a:solidFill>
                  <a:srgbClr val="2563EB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Hello CSS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7" name="Google Shape;1997;p41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003" name="Google Shape;200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04" name="Google Shape;2004;p42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PART 12  ·  BOOTSTRAP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42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is Bootstrap?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42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library of reusable UI components and responsive layout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42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8" name="Google Shape;2008;p42"/>
          <p:cNvSpPr/>
          <p:nvPr/>
        </p:nvSpPr>
        <p:spPr>
          <a:xfrm>
            <a:off x="365760" y="1508760"/>
            <a:ext cx="420624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42"/>
          <p:cNvSpPr/>
          <p:nvPr/>
        </p:nvSpPr>
        <p:spPr>
          <a:xfrm>
            <a:off x="548640" y="1645920"/>
            <a:ext cx="3840480" cy="640080"/>
          </a:xfrm>
          <a:prstGeom prst="roundRect">
            <a:avLst>
              <a:gd fmla="val 17143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0" name="Google Shape;201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17647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11" name="Google Shape;2011;p42"/>
          <p:cNvSpPr txBox="1"/>
          <p:nvPr/>
        </p:nvSpPr>
        <p:spPr>
          <a:xfrm>
            <a:off x="1280160" y="164592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Bootstrap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6FE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DD6FE"/>
                </a:solidFill>
                <a:latin typeface="Arial"/>
                <a:ea typeface="Arial"/>
                <a:cs typeface="Arial"/>
                <a:sym typeface="Arial"/>
              </a:rPr>
              <a:t>ready-made styles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2" name="Google Shape;2012;p42"/>
          <p:cNvCxnSpPr/>
          <p:nvPr/>
        </p:nvCxnSpPr>
        <p:spPr>
          <a:xfrm>
            <a:off x="2468880" y="23317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13" name="Google Shape;2013;p42"/>
          <p:cNvSpPr/>
          <p:nvPr/>
        </p:nvSpPr>
        <p:spPr>
          <a:xfrm>
            <a:off x="548640" y="2697480"/>
            <a:ext cx="1207008" cy="868680"/>
          </a:xfrm>
          <a:prstGeom prst="roundRect">
            <a:avLst>
              <a:gd fmla="val 10526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4" name="Google Shape;201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5840" y="2834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15" name="Google Shape;2015;p42"/>
          <p:cNvSpPr txBox="1"/>
          <p:nvPr/>
        </p:nvSpPr>
        <p:spPr>
          <a:xfrm>
            <a:off x="548640" y="3200400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42"/>
          <p:cNvSpPr/>
          <p:nvPr/>
        </p:nvSpPr>
        <p:spPr>
          <a:xfrm>
            <a:off x="1847088" y="2697480"/>
            <a:ext cx="1207008" cy="868680"/>
          </a:xfrm>
          <a:prstGeom prst="roundRect">
            <a:avLst>
              <a:gd fmla="val 10526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7" name="Google Shape;2017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04288" y="2834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42"/>
          <p:cNvSpPr txBox="1"/>
          <p:nvPr/>
        </p:nvSpPr>
        <p:spPr>
          <a:xfrm>
            <a:off x="1847088" y="3200400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Buttons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9" name="Google Shape;2019;p42"/>
          <p:cNvSpPr/>
          <p:nvPr/>
        </p:nvSpPr>
        <p:spPr>
          <a:xfrm>
            <a:off x="3145536" y="2697480"/>
            <a:ext cx="1207008" cy="868680"/>
          </a:xfrm>
          <a:prstGeom prst="roundRect">
            <a:avLst>
              <a:gd fmla="val 10526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0" name="Google Shape;2020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2736" y="2834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21" name="Google Shape;2021;p42"/>
          <p:cNvSpPr txBox="1"/>
          <p:nvPr/>
        </p:nvSpPr>
        <p:spPr>
          <a:xfrm>
            <a:off x="3145536" y="3200400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Alerts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42"/>
          <p:cNvSpPr/>
          <p:nvPr/>
        </p:nvSpPr>
        <p:spPr>
          <a:xfrm>
            <a:off x="548640" y="3657600"/>
            <a:ext cx="1207008" cy="868680"/>
          </a:xfrm>
          <a:prstGeom prst="roundRect">
            <a:avLst>
              <a:gd fmla="val 10526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3" name="Google Shape;2023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5840" y="37947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24" name="Google Shape;2024;p42"/>
          <p:cNvSpPr txBox="1"/>
          <p:nvPr/>
        </p:nvSpPr>
        <p:spPr>
          <a:xfrm>
            <a:off x="548640" y="4160520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Navbar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5" name="Google Shape;2025;p42"/>
          <p:cNvSpPr/>
          <p:nvPr/>
        </p:nvSpPr>
        <p:spPr>
          <a:xfrm>
            <a:off x="1847088" y="3657600"/>
            <a:ext cx="1207008" cy="868680"/>
          </a:xfrm>
          <a:prstGeom prst="roundRect">
            <a:avLst>
              <a:gd fmla="val 10526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6" name="Google Shape;2026;p4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04288" y="37947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27" name="Google Shape;2027;p42"/>
          <p:cNvSpPr txBox="1"/>
          <p:nvPr/>
        </p:nvSpPr>
        <p:spPr>
          <a:xfrm>
            <a:off x="1847088" y="4160520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Cards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2"/>
          <p:cNvSpPr/>
          <p:nvPr/>
        </p:nvSpPr>
        <p:spPr>
          <a:xfrm>
            <a:off x="3145536" y="3657600"/>
            <a:ext cx="1207008" cy="868680"/>
          </a:xfrm>
          <a:prstGeom prst="roundRect">
            <a:avLst>
              <a:gd fmla="val 10526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29" name="Google Shape;2029;p4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2736" y="379476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42"/>
          <p:cNvSpPr txBox="1"/>
          <p:nvPr/>
        </p:nvSpPr>
        <p:spPr>
          <a:xfrm>
            <a:off x="3145536" y="4160520"/>
            <a:ext cx="1207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Progress bars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42"/>
          <p:cNvSpPr/>
          <p:nvPr/>
        </p:nvSpPr>
        <p:spPr>
          <a:xfrm>
            <a:off x="4754880" y="1508760"/>
            <a:ext cx="4023360" cy="1554480"/>
          </a:xfrm>
          <a:prstGeom prst="roundRect">
            <a:avLst>
              <a:gd fmla="val 4706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42"/>
          <p:cNvSpPr/>
          <p:nvPr/>
        </p:nvSpPr>
        <p:spPr>
          <a:xfrm>
            <a:off x="4791456" y="1755648"/>
            <a:ext cx="3950208" cy="1271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42"/>
          <p:cNvSpPr/>
          <p:nvPr/>
        </p:nvSpPr>
        <p:spPr>
          <a:xfrm>
            <a:off x="4846320" y="16002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42"/>
          <p:cNvSpPr/>
          <p:nvPr/>
        </p:nvSpPr>
        <p:spPr>
          <a:xfrm>
            <a:off x="4946904" y="16002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42"/>
          <p:cNvSpPr/>
          <p:nvPr/>
        </p:nvSpPr>
        <p:spPr>
          <a:xfrm>
            <a:off x="5047488" y="16002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42"/>
          <p:cNvSpPr/>
          <p:nvPr/>
        </p:nvSpPr>
        <p:spPr>
          <a:xfrm>
            <a:off x="5212080" y="1577340"/>
            <a:ext cx="338328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42"/>
          <p:cNvSpPr txBox="1"/>
          <p:nvPr/>
        </p:nvSpPr>
        <p:spPr>
          <a:xfrm>
            <a:off x="5248656" y="1577340"/>
            <a:ext cx="331012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index.html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42"/>
          <p:cNvSpPr/>
          <p:nvPr/>
        </p:nvSpPr>
        <p:spPr>
          <a:xfrm>
            <a:off x="4974336" y="186537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42"/>
          <p:cNvSpPr txBox="1"/>
          <p:nvPr/>
        </p:nvSpPr>
        <p:spPr>
          <a:xfrm>
            <a:off x="5010912" y="186537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42"/>
          <p:cNvSpPr/>
          <p:nvPr/>
        </p:nvSpPr>
        <p:spPr>
          <a:xfrm>
            <a:off x="6894576" y="1865376"/>
            <a:ext cx="640080" cy="237744"/>
          </a:xfrm>
          <a:prstGeom prst="roundRect">
            <a:avLst>
              <a:gd fmla="val 50000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42"/>
          <p:cNvSpPr txBox="1"/>
          <p:nvPr/>
        </p:nvSpPr>
        <p:spPr>
          <a:xfrm>
            <a:off x="6931152" y="186537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42"/>
          <p:cNvSpPr/>
          <p:nvPr/>
        </p:nvSpPr>
        <p:spPr>
          <a:xfrm>
            <a:off x="4974336" y="2304288"/>
            <a:ext cx="1097280" cy="329184"/>
          </a:xfrm>
          <a:prstGeom prst="roundRect">
            <a:avLst>
              <a:gd fmla="val 8333" name="adj"/>
            </a:avLst>
          </a:prstGeom>
          <a:solidFill>
            <a:srgbClr val="EFEFEF"/>
          </a:solidFill>
          <a:ln cap="flat" cmpd="sng" w="12700">
            <a:solidFill>
              <a:srgbClr val="7676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42"/>
          <p:cNvSpPr txBox="1"/>
          <p:nvPr/>
        </p:nvSpPr>
        <p:spPr>
          <a:xfrm>
            <a:off x="5010912" y="2304288"/>
            <a:ext cx="1024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4" name="Google Shape;2044;p42"/>
          <p:cNvCxnSpPr/>
          <p:nvPr/>
        </p:nvCxnSpPr>
        <p:spPr>
          <a:xfrm>
            <a:off x="6300216" y="246888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5" name="Google Shape;2045;p42"/>
          <p:cNvSpPr/>
          <p:nvPr/>
        </p:nvSpPr>
        <p:spPr>
          <a:xfrm>
            <a:off x="6894576" y="2304288"/>
            <a:ext cx="1188720" cy="347472"/>
          </a:xfrm>
          <a:prstGeom prst="roundRect">
            <a:avLst>
              <a:gd fmla="val 15789" name="adj"/>
            </a:avLst>
          </a:prstGeom>
          <a:solidFill>
            <a:srgbClr val="0D6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42"/>
          <p:cNvSpPr txBox="1"/>
          <p:nvPr/>
        </p:nvSpPr>
        <p:spPr>
          <a:xfrm>
            <a:off x="6931152" y="2304288"/>
            <a:ext cx="11155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7" name="Google Shape;2047;p42"/>
          <p:cNvSpPr txBox="1"/>
          <p:nvPr/>
        </p:nvSpPr>
        <p:spPr>
          <a:xfrm>
            <a:off x="4974336" y="268833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no class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8" name="Google Shape;2048;p42"/>
          <p:cNvSpPr txBox="1"/>
          <p:nvPr/>
        </p:nvSpPr>
        <p:spPr>
          <a:xfrm>
            <a:off x="6528816" y="2688336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class="btn btn-primary"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9" name="Google Shape;2049;p42"/>
          <p:cNvSpPr/>
          <p:nvPr/>
        </p:nvSpPr>
        <p:spPr>
          <a:xfrm>
            <a:off x="4754880" y="3200400"/>
            <a:ext cx="4023360" cy="580644"/>
          </a:xfrm>
          <a:prstGeom prst="roundRect">
            <a:avLst>
              <a:gd fmla="val 15748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p42"/>
          <p:cNvSpPr/>
          <p:nvPr/>
        </p:nvSpPr>
        <p:spPr>
          <a:xfrm>
            <a:off x="4818888" y="3486150"/>
            <a:ext cx="3895344" cy="180594"/>
          </a:xfrm>
          <a:prstGeom prst="roundRect">
            <a:avLst>
              <a:gd fmla="val 20253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42"/>
          <p:cNvSpPr txBox="1"/>
          <p:nvPr/>
        </p:nvSpPr>
        <p:spPr>
          <a:xfrm>
            <a:off x="4873752" y="3319272"/>
            <a:ext cx="37856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&lt;link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"bootstrap.min.css"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0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90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0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"btn btn-primary"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9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Save</a:t>
            </a:r>
            <a:r>
              <a:rPr b="0" i="0" lang="en-US" sz="90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42"/>
          <p:cNvSpPr/>
          <p:nvPr/>
        </p:nvSpPr>
        <p:spPr>
          <a:xfrm>
            <a:off x="4754880" y="4069080"/>
            <a:ext cx="4023360" cy="54864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3" name="Google Shape;2053;p4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92040" y="42245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54" name="Google Shape;2054;p42"/>
          <p:cNvSpPr txBox="1"/>
          <p:nvPr/>
        </p:nvSpPr>
        <p:spPr>
          <a:xfrm>
            <a:off x="5257800" y="406908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Build interfaces faster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42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061" name="Google Shape;206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2" name="Google Shape;2062;p43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PART 12  ·  BOOTSTRAP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43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Grid system &amp; Containers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4" name="Google Shape;2064;p43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Every row is divided into 12 columns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43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6" name="Google Shape;2066;p43"/>
          <p:cNvSpPr/>
          <p:nvPr/>
        </p:nvSpPr>
        <p:spPr>
          <a:xfrm>
            <a:off x="365760" y="1508760"/>
            <a:ext cx="1567688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43"/>
          <p:cNvSpPr txBox="1"/>
          <p:nvPr/>
        </p:nvSpPr>
        <p:spPr>
          <a:xfrm>
            <a:off x="402336" y="1508760"/>
            <a:ext cx="1494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every row = 12 columns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43"/>
          <p:cNvSpPr/>
          <p:nvPr/>
        </p:nvSpPr>
        <p:spPr>
          <a:xfrm>
            <a:off x="365760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9" name="Google Shape;2069;p43"/>
          <p:cNvSpPr txBox="1"/>
          <p:nvPr/>
        </p:nvSpPr>
        <p:spPr>
          <a:xfrm>
            <a:off x="365760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0" name="Google Shape;2070;p43"/>
          <p:cNvSpPr/>
          <p:nvPr/>
        </p:nvSpPr>
        <p:spPr>
          <a:xfrm>
            <a:off x="713232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1" name="Google Shape;2071;p43"/>
          <p:cNvSpPr txBox="1"/>
          <p:nvPr/>
        </p:nvSpPr>
        <p:spPr>
          <a:xfrm>
            <a:off x="713232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2" name="Google Shape;2072;p43"/>
          <p:cNvSpPr/>
          <p:nvPr/>
        </p:nvSpPr>
        <p:spPr>
          <a:xfrm>
            <a:off x="1060704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3" name="Google Shape;2073;p43"/>
          <p:cNvSpPr txBox="1"/>
          <p:nvPr/>
        </p:nvSpPr>
        <p:spPr>
          <a:xfrm>
            <a:off x="1060704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4" name="Google Shape;2074;p43"/>
          <p:cNvSpPr/>
          <p:nvPr/>
        </p:nvSpPr>
        <p:spPr>
          <a:xfrm>
            <a:off x="1408176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5" name="Google Shape;2075;p43"/>
          <p:cNvSpPr txBox="1"/>
          <p:nvPr/>
        </p:nvSpPr>
        <p:spPr>
          <a:xfrm>
            <a:off x="1408176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6" name="Google Shape;2076;p43"/>
          <p:cNvSpPr/>
          <p:nvPr/>
        </p:nvSpPr>
        <p:spPr>
          <a:xfrm>
            <a:off x="1755648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7" name="Google Shape;2077;p43"/>
          <p:cNvSpPr txBox="1"/>
          <p:nvPr/>
        </p:nvSpPr>
        <p:spPr>
          <a:xfrm>
            <a:off x="1755648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8" name="Google Shape;2078;p43"/>
          <p:cNvSpPr/>
          <p:nvPr/>
        </p:nvSpPr>
        <p:spPr>
          <a:xfrm>
            <a:off x="2103120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9" name="Google Shape;2079;p43"/>
          <p:cNvSpPr txBox="1"/>
          <p:nvPr/>
        </p:nvSpPr>
        <p:spPr>
          <a:xfrm>
            <a:off x="2103120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0" name="Google Shape;2080;p43"/>
          <p:cNvSpPr/>
          <p:nvPr/>
        </p:nvSpPr>
        <p:spPr>
          <a:xfrm>
            <a:off x="2450592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43"/>
          <p:cNvSpPr txBox="1"/>
          <p:nvPr/>
        </p:nvSpPr>
        <p:spPr>
          <a:xfrm>
            <a:off x="2450592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2" name="Google Shape;2082;p43"/>
          <p:cNvSpPr/>
          <p:nvPr/>
        </p:nvSpPr>
        <p:spPr>
          <a:xfrm>
            <a:off x="2798064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43"/>
          <p:cNvSpPr txBox="1"/>
          <p:nvPr/>
        </p:nvSpPr>
        <p:spPr>
          <a:xfrm>
            <a:off x="2798064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43"/>
          <p:cNvSpPr/>
          <p:nvPr/>
        </p:nvSpPr>
        <p:spPr>
          <a:xfrm>
            <a:off x="3145536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43"/>
          <p:cNvSpPr txBox="1"/>
          <p:nvPr/>
        </p:nvSpPr>
        <p:spPr>
          <a:xfrm>
            <a:off x="3145536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43"/>
          <p:cNvSpPr/>
          <p:nvPr/>
        </p:nvSpPr>
        <p:spPr>
          <a:xfrm>
            <a:off x="3493008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43"/>
          <p:cNvSpPr txBox="1"/>
          <p:nvPr/>
        </p:nvSpPr>
        <p:spPr>
          <a:xfrm>
            <a:off x="3493008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8" name="Google Shape;2088;p43"/>
          <p:cNvSpPr/>
          <p:nvPr/>
        </p:nvSpPr>
        <p:spPr>
          <a:xfrm>
            <a:off x="3840480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43"/>
          <p:cNvSpPr txBox="1"/>
          <p:nvPr/>
        </p:nvSpPr>
        <p:spPr>
          <a:xfrm>
            <a:off x="3840480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43"/>
          <p:cNvSpPr/>
          <p:nvPr/>
        </p:nvSpPr>
        <p:spPr>
          <a:xfrm>
            <a:off x="4187952" y="1810512"/>
            <a:ext cx="329184" cy="365760"/>
          </a:xfrm>
          <a:prstGeom prst="roundRect">
            <a:avLst>
              <a:gd fmla="val 11111" name="adj"/>
            </a:avLst>
          </a:prstGeom>
          <a:solidFill>
            <a:srgbClr val="DDD6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43"/>
          <p:cNvSpPr txBox="1"/>
          <p:nvPr/>
        </p:nvSpPr>
        <p:spPr>
          <a:xfrm>
            <a:off x="4187952" y="1810512"/>
            <a:ext cx="3291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2" name="Google Shape;2092;p43"/>
          <p:cNvSpPr/>
          <p:nvPr/>
        </p:nvSpPr>
        <p:spPr>
          <a:xfrm>
            <a:off x="365760" y="2331720"/>
            <a:ext cx="2779776" cy="411480"/>
          </a:xfrm>
          <a:prstGeom prst="roundRect">
            <a:avLst>
              <a:gd fmla="val 1111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43"/>
          <p:cNvSpPr txBox="1"/>
          <p:nvPr/>
        </p:nvSpPr>
        <p:spPr>
          <a:xfrm>
            <a:off x="402336" y="2331720"/>
            <a:ext cx="270662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col-8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43"/>
          <p:cNvSpPr/>
          <p:nvPr/>
        </p:nvSpPr>
        <p:spPr>
          <a:xfrm>
            <a:off x="3163824" y="2331720"/>
            <a:ext cx="1389888" cy="411480"/>
          </a:xfrm>
          <a:prstGeom prst="roundRect">
            <a:avLst>
              <a:gd fmla="val 11111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43"/>
          <p:cNvSpPr txBox="1"/>
          <p:nvPr/>
        </p:nvSpPr>
        <p:spPr>
          <a:xfrm>
            <a:off x="3200400" y="2331720"/>
            <a:ext cx="131673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col-4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6" name="Google Shape;2096;p43"/>
          <p:cNvSpPr/>
          <p:nvPr/>
        </p:nvSpPr>
        <p:spPr>
          <a:xfrm>
            <a:off x="365760" y="2834640"/>
            <a:ext cx="2084832" cy="411480"/>
          </a:xfrm>
          <a:prstGeom prst="roundRect">
            <a:avLst>
              <a:gd fmla="val 11111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7" name="Google Shape;2097;p43"/>
          <p:cNvSpPr txBox="1"/>
          <p:nvPr/>
        </p:nvSpPr>
        <p:spPr>
          <a:xfrm>
            <a:off x="402336" y="28346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col-6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43"/>
          <p:cNvSpPr/>
          <p:nvPr/>
        </p:nvSpPr>
        <p:spPr>
          <a:xfrm>
            <a:off x="2468880" y="2834640"/>
            <a:ext cx="2084832" cy="411480"/>
          </a:xfrm>
          <a:prstGeom prst="roundRect">
            <a:avLst>
              <a:gd fmla="val 11111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43"/>
          <p:cNvSpPr txBox="1"/>
          <p:nvPr/>
        </p:nvSpPr>
        <p:spPr>
          <a:xfrm>
            <a:off x="2505456" y="28346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col-6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43"/>
          <p:cNvSpPr/>
          <p:nvPr/>
        </p:nvSpPr>
        <p:spPr>
          <a:xfrm>
            <a:off x="365760" y="3429000"/>
            <a:ext cx="4206240" cy="948944"/>
          </a:xfrm>
          <a:prstGeom prst="roundRect">
            <a:avLst>
              <a:gd fmla="val 9636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43"/>
          <p:cNvSpPr/>
          <p:nvPr/>
        </p:nvSpPr>
        <p:spPr>
          <a:xfrm>
            <a:off x="429768" y="3721100"/>
            <a:ext cx="4078224" cy="186944"/>
          </a:xfrm>
          <a:prstGeom prst="roundRect">
            <a:avLst>
              <a:gd fmla="val 19565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43"/>
          <p:cNvSpPr/>
          <p:nvPr/>
        </p:nvSpPr>
        <p:spPr>
          <a:xfrm>
            <a:off x="429768" y="3898900"/>
            <a:ext cx="4078224" cy="186944"/>
          </a:xfrm>
          <a:prstGeom prst="roundRect">
            <a:avLst>
              <a:gd fmla="val 19565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43"/>
          <p:cNvSpPr txBox="1"/>
          <p:nvPr/>
        </p:nvSpPr>
        <p:spPr>
          <a:xfrm>
            <a:off x="484632" y="3547872"/>
            <a:ext cx="3968496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9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"row"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9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"col-8"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9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"col-4"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4" name="Google Shape;2104;p43"/>
          <p:cNvSpPr/>
          <p:nvPr/>
        </p:nvSpPr>
        <p:spPr>
          <a:xfrm>
            <a:off x="4846320" y="1508760"/>
            <a:ext cx="3931920" cy="1371600"/>
          </a:xfrm>
          <a:prstGeom prst="roundRect">
            <a:avLst>
              <a:gd fmla="val 5333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43"/>
          <p:cNvSpPr/>
          <p:nvPr/>
        </p:nvSpPr>
        <p:spPr>
          <a:xfrm>
            <a:off x="4882896" y="1755648"/>
            <a:ext cx="3858768" cy="10881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43"/>
          <p:cNvSpPr/>
          <p:nvPr/>
        </p:nvSpPr>
        <p:spPr>
          <a:xfrm>
            <a:off x="4937760" y="16002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43"/>
          <p:cNvSpPr/>
          <p:nvPr/>
        </p:nvSpPr>
        <p:spPr>
          <a:xfrm>
            <a:off x="5038344" y="16002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43"/>
          <p:cNvSpPr/>
          <p:nvPr/>
        </p:nvSpPr>
        <p:spPr>
          <a:xfrm>
            <a:off x="5138928" y="16002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43"/>
          <p:cNvSpPr/>
          <p:nvPr/>
        </p:nvSpPr>
        <p:spPr>
          <a:xfrm>
            <a:off x="5303520" y="1577340"/>
            <a:ext cx="329184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43"/>
          <p:cNvSpPr txBox="1"/>
          <p:nvPr/>
        </p:nvSpPr>
        <p:spPr>
          <a:xfrm>
            <a:off x="5340096" y="1577340"/>
            <a:ext cx="321868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.container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43"/>
          <p:cNvSpPr/>
          <p:nvPr/>
        </p:nvSpPr>
        <p:spPr>
          <a:xfrm>
            <a:off x="5568696" y="1865376"/>
            <a:ext cx="2487168" cy="868680"/>
          </a:xfrm>
          <a:prstGeom prst="roundRect">
            <a:avLst>
              <a:gd fmla="val 4211" name="adj"/>
            </a:avLst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43"/>
          <p:cNvSpPr txBox="1"/>
          <p:nvPr/>
        </p:nvSpPr>
        <p:spPr>
          <a:xfrm>
            <a:off x="5605272" y="1865376"/>
            <a:ext cx="241401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3" name="Google Shape;2113;p43"/>
          <p:cNvSpPr txBox="1"/>
          <p:nvPr/>
        </p:nvSpPr>
        <p:spPr>
          <a:xfrm>
            <a:off x="4910328" y="221284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43"/>
          <p:cNvSpPr txBox="1"/>
          <p:nvPr/>
        </p:nvSpPr>
        <p:spPr>
          <a:xfrm>
            <a:off x="8074152" y="2212848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margin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43"/>
          <p:cNvSpPr/>
          <p:nvPr/>
        </p:nvSpPr>
        <p:spPr>
          <a:xfrm>
            <a:off x="4846320" y="2962656"/>
            <a:ext cx="1567688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43"/>
          <p:cNvSpPr txBox="1"/>
          <p:nvPr/>
        </p:nvSpPr>
        <p:spPr>
          <a:xfrm>
            <a:off x="4882896" y="2962656"/>
            <a:ext cx="1494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centered, with margins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43"/>
          <p:cNvSpPr/>
          <p:nvPr/>
        </p:nvSpPr>
        <p:spPr>
          <a:xfrm>
            <a:off x="4846320" y="3291840"/>
            <a:ext cx="3931920" cy="1325880"/>
          </a:xfrm>
          <a:prstGeom prst="roundRect">
            <a:avLst>
              <a:gd fmla="val 5517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8" name="Google Shape;2118;p43"/>
          <p:cNvSpPr/>
          <p:nvPr/>
        </p:nvSpPr>
        <p:spPr>
          <a:xfrm>
            <a:off x="4882896" y="3538728"/>
            <a:ext cx="3858768" cy="10424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43"/>
          <p:cNvSpPr/>
          <p:nvPr/>
        </p:nvSpPr>
        <p:spPr>
          <a:xfrm>
            <a:off x="4937760" y="338328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43"/>
          <p:cNvSpPr/>
          <p:nvPr/>
        </p:nvSpPr>
        <p:spPr>
          <a:xfrm>
            <a:off x="5038344" y="338328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43"/>
          <p:cNvSpPr/>
          <p:nvPr/>
        </p:nvSpPr>
        <p:spPr>
          <a:xfrm>
            <a:off x="5138928" y="338328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43"/>
          <p:cNvSpPr/>
          <p:nvPr/>
        </p:nvSpPr>
        <p:spPr>
          <a:xfrm>
            <a:off x="5303520" y="3360420"/>
            <a:ext cx="329184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43"/>
          <p:cNvSpPr txBox="1"/>
          <p:nvPr/>
        </p:nvSpPr>
        <p:spPr>
          <a:xfrm>
            <a:off x="5340096" y="3360420"/>
            <a:ext cx="321868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.container-fluid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43"/>
          <p:cNvSpPr/>
          <p:nvPr/>
        </p:nvSpPr>
        <p:spPr>
          <a:xfrm>
            <a:off x="4956048" y="3648456"/>
            <a:ext cx="3712464" cy="822960"/>
          </a:xfrm>
          <a:prstGeom prst="roundRect">
            <a:avLst>
              <a:gd fmla="val 4444" name="adj"/>
            </a:avLst>
          </a:prstGeom>
          <a:solidFill>
            <a:srgbClr val="EDE9FE"/>
          </a:solidFill>
          <a:ln cap="flat" cmpd="sng" w="12700">
            <a:solidFill>
              <a:srgbClr val="7C3AE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43"/>
          <p:cNvSpPr txBox="1"/>
          <p:nvPr/>
        </p:nvSpPr>
        <p:spPr>
          <a:xfrm>
            <a:off x="4992624" y="3648456"/>
            <a:ext cx="36393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content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43"/>
          <p:cNvSpPr txBox="1"/>
          <p:nvPr/>
        </p:nvSpPr>
        <p:spPr>
          <a:xfrm>
            <a:off x="7370064" y="4197096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full width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43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132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133" name="Google Shape;213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34" name="Google Shape;2134;p44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PART 12  ·  BOOTSTRAP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5" name="Google Shape;2135;p44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Bootstrap buttons &amp; alerts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44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Colors that give meaning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7" name="Google Shape;2137;p44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44"/>
          <p:cNvSpPr/>
          <p:nvPr/>
        </p:nvSpPr>
        <p:spPr>
          <a:xfrm>
            <a:off x="365760" y="1508760"/>
            <a:ext cx="4114800" cy="251460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44"/>
          <p:cNvSpPr/>
          <p:nvPr/>
        </p:nvSpPr>
        <p:spPr>
          <a:xfrm>
            <a:off x="548640" y="1618488"/>
            <a:ext cx="660908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44"/>
          <p:cNvSpPr txBox="1"/>
          <p:nvPr/>
        </p:nvSpPr>
        <p:spPr>
          <a:xfrm>
            <a:off x="585216" y="1618488"/>
            <a:ext cx="5877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Buttons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44"/>
          <p:cNvSpPr/>
          <p:nvPr/>
        </p:nvSpPr>
        <p:spPr>
          <a:xfrm>
            <a:off x="548640" y="201168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0D6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44"/>
          <p:cNvSpPr txBox="1"/>
          <p:nvPr/>
        </p:nvSpPr>
        <p:spPr>
          <a:xfrm>
            <a:off x="585216" y="20116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3" name="Google Shape;2143;p44"/>
          <p:cNvSpPr/>
          <p:nvPr/>
        </p:nvSpPr>
        <p:spPr>
          <a:xfrm>
            <a:off x="1828800" y="201168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6C75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44"/>
          <p:cNvSpPr txBox="1"/>
          <p:nvPr/>
        </p:nvSpPr>
        <p:spPr>
          <a:xfrm>
            <a:off x="1865376" y="20116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Secondary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44"/>
          <p:cNvSpPr/>
          <p:nvPr/>
        </p:nvSpPr>
        <p:spPr>
          <a:xfrm>
            <a:off x="3108960" y="201168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44"/>
          <p:cNvSpPr txBox="1"/>
          <p:nvPr/>
        </p:nvSpPr>
        <p:spPr>
          <a:xfrm>
            <a:off x="3145536" y="20116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44"/>
          <p:cNvSpPr/>
          <p:nvPr/>
        </p:nvSpPr>
        <p:spPr>
          <a:xfrm>
            <a:off x="548640" y="265176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DC3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44"/>
          <p:cNvSpPr txBox="1"/>
          <p:nvPr/>
        </p:nvSpPr>
        <p:spPr>
          <a:xfrm>
            <a:off x="585216" y="265176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Danger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44"/>
          <p:cNvSpPr/>
          <p:nvPr/>
        </p:nvSpPr>
        <p:spPr>
          <a:xfrm>
            <a:off x="1828800" y="265176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44"/>
          <p:cNvSpPr txBox="1"/>
          <p:nvPr/>
        </p:nvSpPr>
        <p:spPr>
          <a:xfrm>
            <a:off x="1865376" y="265176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Warning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1" name="Google Shape;2151;p44"/>
          <p:cNvSpPr/>
          <p:nvPr/>
        </p:nvSpPr>
        <p:spPr>
          <a:xfrm>
            <a:off x="3108960" y="265176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0DCA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44"/>
          <p:cNvSpPr txBox="1"/>
          <p:nvPr/>
        </p:nvSpPr>
        <p:spPr>
          <a:xfrm>
            <a:off x="3145536" y="265176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44"/>
          <p:cNvSpPr/>
          <p:nvPr/>
        </p:nvSpPr>
        <p:spPr>
          <a:xfrm>
            <a:off x="548640" y="329184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F8F9FA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44"/>
          <p:cNvSpPr txBox="1"/>
          <p:nvPr/>
        </p:nvSpPr>
        <p:spPr>
          <a:xfrm>
            <a:off x="585216" y="329184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Light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44"/>
          <p:cNvSpPr/>
          <p:nvPr/>
        </p:nvSpPr>
        <p:spPr>
          <a:xfrm>
            <a:off x="1828800" y="3291840"/>
            <a:ext cx="1170432" cy="384048"/>
          </a:xfrm>
          <a:prstGeom prst="roundRect">
            <a:avLst>
              <a:gd fmla="val 14286" name="adj"/>
            </a:avLst>
          </a:prstGeom>
          <a:solidFill>
            <a:srgbClr val="212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44"/>
          <p:cNvSpPr txBox="1"/>
          <p:nvPr/>
        </p:nvSpPr>
        <p:spPr>
          <a:xfrm>
            <a:off x="1865376" y="329184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44"/>
          <p:cNvSpPr txBox="1"/>
          <p:nvPr/>
        </p:nvSpPr>
        <p:spPr>
          <a:xfrm>
            <a:off x="3108960" y="3291840"/>
            <a:ext cx="11704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6EFD"/>
              </a:buClr>
              <a:buSzPts val="1000"/>
              <a:buFont typeface="Arial"/>
              <a:buNone/>
            </a:pPr>
            <a:r>
              <a:rPr b="1" i="0" lang="en-US" sz="1000" u="sng" cap="none" strike="noStrike">
                <a:solidFill>
                  <a:srgbClr val="0D6EFD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44"/>
          <p:cNvSpPr/>
          <p:nvPr/>
        </p:nvSpPr>
        <p:spPr>
          <a:xfrm>
            <a:off x="4663440" y="1508760"/>
            <a:ext cx="4114800" cy="2514600"/>
          </a:xfrm>
          <a:prstGeom prst="roundRect">
            <a:avLst>
              <a:gd fmla="val 436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44"/>
          <p:cNvSpPr/>
          <p:nvPr/>
        </p:nvSpPr>
        <p:spPr>
          <a:xfrm>
            <a:off x="4846320" y="1618488"/>
            <a:ext cx="600456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44"/>
          <p:cNvSpPr txBox="1"/>
          <p:nvPr/>
        </p:nvSpPr>
        <p:spPr>
          <a:xfrm>
            <a:off x="4882896" y="1618488"/>
            <a:ext cx="5273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Alerts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44"/>
          <p:cNvSpPr/>
          <p:nvPr/>
        </p:nvSpPr>
        <p:spPr>
          <a:xfrm>
            <a:off x="4846320" y="1965960"/>
            <a:ext cx="3749040" cy="420624"/>
          </a:xfrm>
          <a:prstGeom prst="roundRect">
            <a:avLst>
              <a:gd fmla="val 13043" name="adj"/>
            </a:avLst>
          </a:prstGeom>
          <a:solidFill>
            <a:srgbClr val="CFE2FF"/>
          </a:solidFill>
          <a:ln cap="flat" cmpd="sng" w="9525">
            <a:solidFill>
              <a:srgbClr val="0842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2" name="Google Shape;216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6048" y="20756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3" name="Google Shape;2163;p44"/>
          <p:cNvSpPr txBox="1"/>
          <p:nvPr/>
        </p:nvSpPr>
        <p:spPr>
          <a:xfrm>
            <a:off x="5257800" y="1965960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4298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84298"/>
                </a:solidFill>
                <a:latin typeface="Arial"/>
                <a:ea typeface="Arial"/>
                <a:cs typeface="Arial"/>
                <a:sym typeface="Arial"/>
              </a:rPr>
              <a:t>New course available.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4" name="Google Shape;2164;p44"/>
          <p:cNvSpPr/>
          <p:nvPr/>
        </p:nvSpPr>
        <p:spPr>
          <a:xfrm>
            <a:off x="4846320" y="2468880"/>
            <a:ext cx="3749040" cy="420624"/>
          </a:xfrm>
          <a:prstGeom prst="roundRect">
            <a:avLst>
              <a:gd fmla="val 13043" name="adj"/>
            </a:avLst>
          </a:prstGeom>
          <a:solidFill>
            <a:srgbClr val="D1E7DD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5" name="Google Shape;216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6048" y="25786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6" name="Google Shape;2166;p44"/>
          <p:cNvSpPr txBox="1"/>
          <p:nvPr/>
        </p:nvSpPr>
        <p:spPr>
          <a:xfrm>
            <a:off x="5257800" y="2468880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5132"/>
                </a:solidFill>
                <a:latin typeface="Arial"/>
                <a:ea typeface="Arial"/>
                <a:cs typeface="Arial"/>
                <a:sym typeface="Arial"/>
              </a:rPr>
              <a:t>Well done! Profile saved.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44"/>
          <p:cNvSpPr/>
          <p:nvPr/>
        </p:nvSpPr>
        <p:spPr>
          <a:xfrm>
            <a:off x="4846320" y="2971800"/>
            <a:ext cx="3749040" cy="420624"/>
          </a:xfrm>
          <a:prstGeom prst="roundRect">
            <a:avLst>
              <a:gd fmla="val 13043" name="adj"/>
            </a:avLst>
          </a:prstGeom>
          <a:solidFill>
            <a:srgbClr val="F8D7DA"/>
          </a:solidFill>
          <a:ln cap="flat" cmpd="sng" w="9525">
            <a:solidFill>
              <a:srgbClr val="8420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68" name="Google Shape;2168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56048" y="3081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44"/>
          <p:cNvSpPr txBox="1"/>
          <p:nvPr/>
        </p:nvSpPr>
        <p:spPr>
          <a:xfrm>
            <a:off x="5257800" y="2971800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2029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842029"/>
                </a:solidFill>
                <a:latin typeface="Arial"/>
                <a:ea typeface="Arial"/>
                <a:cs typeface="Arial"/>
                <a:sym typeface="Arial"/>
              </a:rPr>
              <a:t>Error: wrong password.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0" name="Google Shape;2170;p44"/>
          <p:cNvSpPr/>
          <p:nvPr/>
        </p:nvSpPr>
        <p:spPr>
          <a:xfrm>
            <a:off x="4846320" y="3474720"/>
            <a:ext cx="3749040" cy="420624"/>
          </a:xfrm>
          <a:prstGeom prst="roundRect">
            <a:avLst>
              <a:gd fmla="val 13043" name="adj"/>
            </a:avLst>
          </a:prstGeom>
          <a:solidFill>
            <a:srgbClr val="FFF3CD"/>
          </a:solidFill>
          <a:ln cap="flat" cmpd="sng" w="9525">
            <a:solidFill>
              <a:srgbClr val="664D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1" name="Google Shape;2171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6048" y="35844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44"/>
          <p:cNvSpPr txBox="1"/>
          <p:nvPr/>
        </p:nvSpPr>
        <p:spPr>
          <a:xfrm>
            <a:off x="5257800" y="3474720"/>
            <a:ext cx="32918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4D0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64D03"/>
                </a:solidFill>
                <a:latin typeface="Arial"/>
                <a:ea typeface="Arial"/>
                <a:cs typeface="Arial"/>
                <a:sym typeface="Arial"/>
              </a:rPr>
              <a:t>Your session will expire soon.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44"/>
          <p:cNvSpPr/>
          <p:nvPr/>
        </p:nvSpPr>
        <p:spPr>
          <a:xfrm>
            <a:off x="365760" y="4160520"/>
            <a:ext cx="4114800" cy="415544"/>
          </a:xfrm>
          <a:prstGeom prst="roundRect">
            <a:avLst>
              <a:gd fmla="val 22005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44"/>
          <p:cNvSpPr txBox="1"/>
          <p:nvPr/>
        </p:nvSpPr>
        <p:spPr>
          <a:xfrm>
            <a:off x="484632" y="4279392"/>
            <a:ext cx="3877056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&lt;button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9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"btn btn-success"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Save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&lt;/button&gt;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44"/>
          <p:cNvSpPr/>
          <p:nvPr/>
        </p:nvSpPr>
        <p:spPr>
          <a:xfrm>
            <a:off x="4663440" y="4160520"/>
            <a:ext cx="4114800" cy="415544"/>
          </a:xfrm>
          <a:prstGeom prst="roundRect">
            <a:avLst>
              <a:gd fmla="val 22005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44"/>
          <p:cNvSpPr txBox="1"/>
          <p:nvPr/>
        </p:nvSpPr>
        <p:spPr>
          <a:xfrm>
            <a:off x="4782312" y="4279392"/>
            <a:ext cx="3877056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368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9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9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9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"alert alert-danger"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9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b="0" i="0" lang="en-US" sz="9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44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183" name="Google Shape;218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4" name="Google Shape;2184;p45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PART 12  ·  BOOTSTRAP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45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Bootstrap navbar &amp; progress bars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6" name="Google Shape;2186;p45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Ready-made components for real websites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45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8" name="Google Shape;2188;p45"/>
          <p:cNvSpPr/>
          <p:nvPr/>
        </p:nvSpPr>
        <p:spPr>
          <a:xfrm>
            <a:off x="365760" y="1508760"/>
            <a:ext cx="8412480" cy="1097280"/>
          </a:xfrm>
          <a:prstGeom prst="roundRect">
            <a:avLst>
              <a:gd fmla="val 6667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45"/>
          <p:cNvSpPr/>
          <p:nvPr/>
        </p:nvSpPr>
        <p:spPr>
          <a:xfrm>
            <a:off x="402336" y="1755648"/>
            <a:ext cx="8339328" cy="8138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0" name="Google Shape;2190;p45"/>
          <p:cNvSpPr/>
          <p:nvPr/>
        </p:nvSpPr>
        <p:spPr>
          <a:xfrm>
            <a:off x="457200" y="16002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1" name="Google Shape;2191;p45"/>
          <p:cNvSpPr/>
          <p:nvPr/>
        </p:nvSpPr>
        <p:spPr>
          <a:xfrm>
            <a:off x="557784" y="16002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45"/>
          <p:cNvSpPr/>
          <p:nvPr/>
        </p:nvSpPr>
        <p:spPr>
          <a:xfrm>
            <a:off x="658368" y="16002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45"/>
          <p:cNvSpPr/>
          <p:nvPr/>
        </p:nvSpPr>
        <p:spPr>
          <a:xfrm>
            <a:off x="822960" y="1577340"/>
            <a:ext cx="777240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45"/>
          <p:cNvSpPr txBox="1"/>
          <p:nvPr/>
        </p:nvSpPr>
        <p:spPr>
          <a:xfrm>
            <a:off x="859536" y="1577340"/>
            <a:ext cx="769924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navbar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45"/>
          <p:cNvSpPr/>
          <p:nvPr/>
        </p:nvSpPr>
        <p:spPr>
          <a:xfrm>
            <a:off x="512064" y="1892808"/>
            <a:ext cx="8119872" cy="502920"/>
          </a:xfrm>
          <a:prstGeom prst="roundRect">
            <a:avLst>
              <a:gd fmla="val 9091" name="adj"/>
            </a:avLst>
          </a:prstGeom>
          <a:solidFill>
            <a:srgbClr val="212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45"/>
          <p:cNvSpPr txBox="1"/>
          <p:nvPr/>
        </p:nvSpPr>
        <p:spPr>
          <a:xfrm>
            <a:off x="676656" y="1892808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45"/>
          <p:cNvSpPr txBox="1"/>
          <p:nvPr/>
        </p:nvSpPr>
        <p:spPr>
          <a:xfrm>
            <a:off x="1865376" y="1892808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8" name="Google Shape;2198;p45"/>
          <p:cNvSpPr txBox="1"/>
          <p:nvPr/>
        </p:nvSpPr>
        <p:spPr>
          <a:xfrm>
            <a:off x="2962656" y="1892808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45"/>
          <p:cNvSpPr txBox="1"/>
          <p:nvPr/>
        </p:nvSpPr>
        <p:spPr>
          <a:xfrm>
            <a:off x="4059936" y="1892808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0" name="Google Shape;2200;p45"/>
          <p:cNvSpPr txBox="1"/>
          <p:nvPr/>
        </p:nvSpPr>
        <p:spPr>
          <a:xfrm>
            <a:off x="5157216" y="1892808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DB5BD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1" name="Google Shape;2201;p45"/>
          <p:cNvSpPr/>
          <p:nvPr/>
        </p:nvSpPr>
        <p:spPr>
          <a:xfrm>
            <a:off x="7370064" y="2011680"/>
            <a:ext cx="1097280" cy="274320"/>
          </a:xfrm>
          <a:prstGeom prst="roundRect">
            <a:avLst>
              <a:gd fmla="val 50000" name="adj"/>
            </a:avLst>
          </a:prstGeom>
          <a:solidFill>
            <a:srgbClr val="212529"/>
          </a:solidFill>
          <a:ln cap="flat" cmpd="sng" w="12700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2" name="Google Shape;2202;p45"/>
          <p:cNvSpPr txBox="1"/>
          <p:nvPr/>
        </p:nvSpPr>
        <p:spPr>
          <a:xfrm>
            <a:off x="7406640" y="2011680"/>
            <a:ext cx="1024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DB5BD"/>
                </a:solidFill>
                <a:latin typeface="Arial"/>
                <a:ea typeface="Arial"/>
                <a:cs typeface="Arial"/>
                <a:sym typeface="Arial"/>
              </a:rPr>
              <a:t>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3" name="Google Shape;2203;p45"/>
          <p:cNvSpPr/>
          <p:nvPr/>
        </p:nvSpPr>
        <p:spPr>
          <a:xfrm>
            <a:off x="365760" y="2788920"/>
            <a:ext cx="4480560" cy="187452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4" name="Google Shape;2204;p45"/>
          <p:cNvSpPr/>
          <p:nvPr/>
        </p:nvSpPr>
        <p:spPr>
          <a:xfrm>
            <a:off x="548640" y="2898648"/>
            <a:ext cx="102362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5" name="Google Shape;2205;p45"/>
          <p:cNvSpPr txBox="1"/>
          <p:nvPr/>
        </p:nvSpPr>
        <p:spPr>
          <a:xfrm>
            <a:off x="585216" y="2898648"/>
            <a:ext cx="9504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Progress bars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6" name="Google Shape;2206;p45"/>
          <p:cNvSpPr txBox="1"/>
          <p:nvPr/>
        </p:nvSpPr>
        <p:spPr>
          <a:xfrm>
            <a:off x="548640" y="32918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45"/>
          <p:cNvSpPr/>
          <p:nvPr/>
        </p:nvSpPr>
        <p:spPr>
          <a:xfrm>
            <a:off x="1600200" y="3310128"/>
            <a:ext cx="3017520" cy="237744"/>
          </a:xfrm>
          <a:prstGeom prst="roundRect">
            <a:avLst>
              <a:gd fmla="val 50000" name="adj"/>
            </a:avLst>
          </a:prstGeom>
          <a:solidFill>
            <a:srgbClr val="E9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45"/>
          <p:cNvSpPr/>
          <p:nvPr/>
        </p:nvSpPr>
        <p:spPr>
          <a:xfrm>
            <a:off x="1600200" y="3310128"/>
            <a:ext cx="2715768" cy="237744"/>
          </a:xfrm>
          <a:prstGeom prst="roundRect">
            <a:avLst>
              <a:gd fmla="val 50000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45"/>
          <p:cNvSpPr txBox="1"/>
          <p:nvPr/>
        </p:nvSpPr>
        <p:spPr>
          <a:xfrm>
            <a:off x="1636776" y="3310128"/>
            <a:ext cx="26426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45"/>
          <p:cNvSpPr txBox="1"/>
          <p:nvPr/>
        </p:nvSpPr>
        <p:spPr>
          <a:xfrm>
            <a:off x="548640" y="37490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1" name="Google Shape;2211;p45"/>
          <p:cNvSpPr/>
          <p:nvPr/>
        </p:nvSpPr>
        <p:spPr>
          <a:xfrm>
            <a:off x="1600200" y="3767328"/>
            <a:ext cx="3017520" cy="237744"/>
          </a:xfrm>
          <a:prstGeom prst="roundRect">
            <a:avLst>
              <a:gd fmla="val 50000" name="adj"/>
            </a:avLst>
          </a:prstGeom>
          <a:solidFill>
            <a:srgbClr val="E9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45"/>
          <p:cNvSpPr/>
          <p:nvPr/>
        </p:nvSpPr>
        <p:spPr>
          <a:xfrm>
            <a:off x="1600200" y="3767328"/>
            <a:ext cx="2414016" cy="237744"/>
          </a:xfrm>
          <a:prstGeom prst="roundRect">
            <a:avLst>
              <a:gd fmla="val 50000" name="adj"/>
            </a:avLst>
          </a:prstGeom>
          <a:solidFill>
            <a:srgbClr val="0D6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45"/>
          <p:cNvSpPr txBox="1"/>
          <p:nvPr/>
        </p:nvSpPr>
        <p:spPr>
          <a:xfrm>
            <a:off x="1636776" y="3767328"/>
            <a:ext cx="23408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45"/>
          <p:cNvSpPr txBox="1"/>
          <p:nvPr/>
        </p:nvSpPr>
        <p:spPr>
          <a:xfrm>
            <a:off x="548640" y="42062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5" name="Google Shape;2215;p45"/>
          <p:cNvSpPr/>
          <p:nvPr/>
        </p:nvSpPr>
        <p:spPr>
          <a:xfrm>
            <a:off x="1600200" y="4224528"/>
            <a:ext cx="3017520" cy="237744"/>
          </a:xfrm>
          <a:prstGeom prst="roundRect">
            <a:avLst>
              <a:gd fmla="val 50000" name="adj"/>
            </a:avLst>
          </a:prstGeom>
          <a:solidFill>
            <a:srgbClr val="E9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45"/>
          <p:cNvSpPr/>
          <p:nvPr/>
        </p:nvSpPr>
        <p:spPr>
          <a:xfrm>
            <a:off x="1600200" y="4224528"/>
            <a:ext cx="1810512" cy="237744"/>
          </a:xfrm>
          <a:prstGeom prst="roundRect">
            <a:avLst>
              <a:gd fmla="val 500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45"/>
          <p:cNvSpPr txBox="1"/>
          <p:nvPr/>
        </p:nvSpPr>
        <p:spPr>
          <a:xfrm>
            <a:off x="1636776" y="422452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60%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45"/>
          <p:cNvSpPr/>
          <p:nvPr/>
        </p:nvSpPr>
        <p:spPr>
          <a:xfrm>
            <a:off x="5029200" y="2788920"/>
            <a:ext cx="3749040" cy="733044"/>
          </a:xfrm>
          <a:prstGeom prst="roundRect">
            <a:avLst>
              <a:gd fmla="val 12474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45"/>
          <p:cNvSpPr txBox="1"/>
          <p:nvPr/>
        </p:nvSpPr>
        <p:spPr>
          <a:xfrm>
            <a:off x="5148072" y="2907792"/>
            <a:ext cx="3511296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&lt;nav</a:t>
            </a:r>
            <a:r>
              <a:rPr b="0" i="0" lang="en-US" sz="8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8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8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8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"navbar navbar-dark bg-dark"</a:t>
            </a: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&lt;a</a:t>
            </a:r>
            <a:r>
              <a:rPr b="0" i="0" lang="en-US" sz="8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8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8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8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"navbar-brand"</a:t>
            </a: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0" i="0" lang="en-US" sz="8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LOGO</a:t>
            </a: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&lt;/a&gt;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&lt;/nav&gt;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45"/>
          <p:cNvSpPr/>
          <p:nvPr/>
        </p:nvSpPr>
        <p:spPr>
          <a:xfrm>
            <a:off x="5029200" y="3657600"/>
            <a:ext cx="3749040" cy="898144"/>
          </a:xfrm>
          <a:prstGeom prst="roundRect">
            <a:avLst>
              <a:gd fmla="val 10181" name="adj"/>
            </a:avLst>
          </a:prstGeom>
          <a:solidFill>
            <a:srgbClr val="0F172A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45"/>
          <p:cNvSpPr/>
          <p:nvPr/>
        </p:nvSpPr>
        <p:spPr>
          <a:xfrm>
            <a:off x="5093208" y="3937000"/>
            <a:ext cx="3621024" cy="174244"/>
          </a:xfrm>
          <a:prstGeom prst="roundRect">
            <a:avLst>
              <a:gd fmla="val 20991" name="adj"/>
            </a:avLst>
          </a:prstGeom>
          <a:solidFill>
            <a:srgbClr val="3B82F6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2" name="Google Shape;2222;p45"/>
          <p:cNvSpPr txBox="1"/>
          <p:nvPr/>
        </p:nvSpPr>
        <p:spPr>
          <a:xfrm>
            <a:off x="5148072" y="3776472"/>
            <a:ext cx="3511296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z="8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8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8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8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"progress"</a:t>
            </a: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&lt;div</a:t>
            </a:r>
            <a:r>
              <a:rPr b="0" i="0" lang="en-US" sz="8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8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b="0" i="0" lang="en-US" sz="8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8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"progress-bar"</a:t>
            </a:r>
            <a:r>
              <a:rPr b="0" i="0" lang="en-US" sz="8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850" u="none" cap="none" strike="noStrike">
                <a:solidFill>
                  <a:srgbClr val="FCD34D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b="0" i="0" lang="en-US" sz="8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0" i="0" lang="en-US" sz="850" u="none" cap="none" strike="noStrike">
                <a:solidFill>
                  <a:srgbClr val="86EFAC"/>
                </a:solidFill>
                <a:latin typeface="Courier New"/>
                <a:ea typeface="Courier New"/>
                <a:cs typeface="Courier New"/>
                <a:sym typeface="Courier New"/>
              </a:rPr>
              <a:t>"width: 90%"</a:t>
            </a: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2941"/>
              </a:lnSpc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850"/>
              <a:buFont typeface="Courier New"/>
              <a:buNone/>
            </a:pPr>
            <a:r>
              <a:rPr b="0" i="0" lang="en-US" sz="850" u="none" cap="none" strike="noStrike">
                <a:solidFill>
                  <a:srgbClr val="93C5FD"/>
                </a:solidFill>
                <a:latin typeface="Courier New"/>
                <a:ea typeface="Courier New"/>
                <a:cs typeface="Courier New"/>
                <a:sym typeface="Courier New"/>
              </a:rPr>
              <a:t>&lt;/div&gt;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45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228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229" name="Google Shape;222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46"/>
          <p:cNvSpPr txBox="1"/>
          <p:nvPr/>
        </p:nvSpPr>
        <p:spPr>
          <a:xfrm>
            <a:off x="749808" y="1828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PRACTICE  ·  CHALLENGE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1" name="Google Shape;2231;p46"/>
          <p:cNvSpPr txBox="1"/>
          <p:nvPr/>
        </p:nvSpPr>
        <p:spPr>
          <a:xfrm>
            <a:off x="365760" y="530352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Challenge 6 — Build with Bootstrap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46"/>
          <p:cNvSpPr txBox="1"/>
          <p:nvPr/>
        </p:nvSpPr>
        <p:spPr>
          <a:xfrm>
            <a:off x="365760" y="1024128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Buttons, alerts, navbar and progress bar in one page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3" name="Google Shape;2233;p46"/>
          <p:cNvSpPr txBox="1"/>
          <p:nvPr/>
        </p:nvSpPr>
        <p:spPr>
          <a:xfrm>
            <a:off x="365760" y="4846320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46"/>
          <p:cNvSpPr/>
          <p:nvPr/>
        </p:nvSpPr>
        <p:spPr>
          <a:xfrm>
            <a:off x="365760" y="1495672"/>
            <a:ext cx="4114800" cy="31548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46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6" name="Google Shape;223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37" name="Google Shape;2237;p46"/>
          <p:cNvSpPr txBox="1"/>
          <p:nvPr/>
        </p:nvSpPr>
        <p:spPr>
          <a:xfrm>
            <a:off x="1143000" y="1627632"/>
            <a:ext cx="3108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Only Bootstrap classes, no custom 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46"/>
          <p:cNvSpPr/>
          <p:nvPr/>
        </p:nvSpPr>
        <p:spPr>
          <a:xfrm>
            <a:off x="548640" y="2331720"/>
            <a:ext cx="3749100" cy="36570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9" name="Google Shape;223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24140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46"/>
          <p:cNvSpPr txBox="1"/>
          <p:nvPr/>
        </p:nvSpPr>
        <p:spPr>
          <a:xfrm>
            <a:off x="1005840" y="233172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Add the Bootstrap link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1" name="Google Shape;2241;p46"/>
          <p:cNvSpPr/>
          <p:nvPr/>
        </p:nvSpPr>
        <p:spPr>
          <a:xfrm>
            <a:off x="3200400" y="2395728"/>
            <a:ext cx="1005900" cy="23760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2" name="Google Shape;2242;p46"/>
          <p:cNvSpPr txBox="1"/>
          <p:nvPr/>
        </p:nvSpPr>
        <p:spPr>
          <a:xfrm>
            <a:off x="3236976" y="2395728"/>
            <a:ext cx="93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&lt;link&gt;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3" name="Google Shape;2243;p46"/>
          <p:cNvSpPr/>
          <p:nvPr/>
        </p:nvSpPr>
        <p:spPr>
          <a:xfrm>
            <a:off x="548640" y="2788920"/>
            <a:ext cx="3749100" cy="36570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4" name="Google Shape;224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28712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45" name="Google Shape;2245;p46"/>
          <p:cNvSpPr txBox="1"/>
          <p:nvPr/>
        </p:nvSpPr>
        <p:spPr>
          <a:xfrm>
            <a:off x="1005840" y="278892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Navbar with 4 links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46"/>
          <p:cNvSpPr/>
          <p:nvPr/>
        </p:nvSpPr>
        <p:spPr>
          <a:xfrm>
            <a:off x="3200400" y="2852928"/>
            <a:ext cx="1005900" cy="23760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46"/>
          <p:cNvSpPr txBox="1"/>
          <p:nvPr/>
        </p:nvSpPr>
        <p:spPr>
          <a:xfrm>
            <a:off x="3236976" y="2852928"/>
            <a:ext cx="93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navbar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46"/>
          <p:cNvSpPr/>
          <p:nvPr/>
        </p:nvSpPr>
        <p:spPr>
          <a:xfrm>
            <a:off x="548640" y="3246120"/>
            <a:ext cx="3749100" cy="36570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9" name="Google Shape;2249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3284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0" name="Google Shape;2250;p46"/>
          <p:cNvSpPr txBox="1"/>
          <p:nvPr/>
        </p:nvSpPr>
        <p:spPr>
          <a:xfrm>
            <a:off x="1005840" y="3246120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 buttons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1" name="Google Shape;2251;p46"/>
          <p:cNvSpPr/>
          <p:nvPr/>
        </p:nvSpPr>
        <p:spPr>
          <a:xfrm>
            <a:off x="3200400" y="3310128"/>
            <a:ext cx="1005900" cy="23760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2" name="Google Shape;2252;p46"/>
          <p:cNvSpPr txBox="1"/>
          <p:nvPr/>
        </p:nvSpPr>
        <p:spPr>
          <a:xfrm>
            <a:off x="3236976" y="3310128"/>
            <a:ext cx="93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btn-*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3" name="Google Shape;2253;p46"/>
          <p:cNvSpPr/>
          <p:nvPr/>
        </p:nvSpPr>
        <p:spPr>
          <a:xfrm>
            <a:off x="548640" y="3767886"/>
            <a:ext cx="3749100" cy="36570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4" name="Google Shape;225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824007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55" name="Google Shape;2255;p46"/>
          <p:cNvSpPr txBox="1"/>
          <p:nvPr/>
        </p:nvSpPr>
        <p:spPr>
          <a:xfrm>
            <a:off x="1005840" y="3741711"/>
            <a:ext cx="2103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Progress bar at 75%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46"/>
          <p:cNvSpPr/>
          <p:nvPr/>
        </p:nvSpPr>
        <p:spPr>
          <a:xfrm>
            <a:off x="3200400" y="3831894"/>
            <a:ext cx="1005900" cy="237600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46"/>
          <p:cNvSpPr txBox="1"/>
          <p:nvPr/>
        </p:nvSpPr>
        <p:spPr>
          <a:xfrm>
            <a:off x="3236976" y="3805719"/>
            <a:ext cx="932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progress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46"/>
          <p:cNvSpPr/>
          <p:nvPr/>
        </p:nvSpPr>
        <p:spPr>
          <a:xfrm>
            <a:off x="4663440" y="1508760"/>
            <a:ext cx="4114800" cy="3154800"/>
          </a:xfrm>
          <a:prstGeom prst="roundRect">
            <a:avLst>
              <a:gd fmla="val 2319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46"/>
          <p:cNvSpPr/>
          <p:nvPr/>
        </p:nvSpPr>
        <p:spPr>
          <a:xfrm>
            <a:off x="4700016" y="1755648"/>
            <a:ext cx="4041600" cy="2871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0" name="Google Shape;2260;p46"/>
          <p:cNvSpPr/>
          <p:nvPr/>
        </p:nvSpPr>
        <p:spPr>
          <a:xfrm>
            <a:off x="4754880" y="1600200"/>
            <a:ext cx="68700" cy="687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1" name="Google Shape;2261;p46"/>
          <p:cNvSpPr/>
          <p:nvPr/>
        </p:nvSpPr>
        <p:spPr>
          <a:xfrm>
            <a:off x="4855464" y="1600200"/>
            <a:ext cx="68700" cy="687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46"/>
          <p:cNvSpPr/>
          <p:nvPr/>
        </p:nvSpPr>
        <p:spPr>
          <a:xfrm>
            <a:off x="4956048" y="1600200"/>
            <a:ext cx="68700" cy="687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46"/>
          <p:cNvSpPr/>
          <p:nvPr/>
        </p:nvSpPr>
        <p:spPr>
          <a:xfrm>
            <a:off x="5120640" y="1577340"/>
            <a:ext cx="3474600" cy="118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46"/>
          <p:cNvSpPr txBox="1"/>
          <p:nvPr/>
        </p:nvSpPr>
        <p:spPr>
          <a:xfrm>
            <a:off x="5157216" y="1577340"/>
            <a:ext cx="34017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expected-result.html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5" name="Google Shape;2265;p46"/>
          <p:cNvSpPr/>
          <p:nvPr/>
        </p:nvSpPr>
        <p:spPr>
          <a:xfrm>
            <a:off x="4791456" y="1847088"/>
            <a:ext cx="3858900" cy="365700"/>
          </a:xfrm>
          <a:prstGeom prst="roundRect">
            <a:avLst>
              <a:gd fmla="val 12500" name="adj"/>
            </a:avLst>
          </a:prstGeom>
          <a:solidFill>
            <a:srgbClr val="212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46"/>
          <p:cNvSpPr txBox="1"/>
          <p:nvPr/>
        </p:nvSpPr>
        <p:spPr>
          <a:xfrm>
            <a:off x="4901184" y="1847088"/>
            <a:ext cx="367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LOGO    Home    About    Services    Contact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46"/>
          <p:cNvSpPr/>
          <p:nvPr/>
        </p:nvSpPr>
        <p:spPr>
          <a:xfrm>
            <a:off x="4791456" y="2350008"/>
            <a:ext cx="3858900" cy="329100"/>
          </a:xfrm>
          <a:prstGeom prst="roundRect">
            <a:avLst>
              <a:gd fmla="val 13889" name="adj"/>
            </a:avLst>
          </a:prstGeom>
          <a:solidFill>
            <a:srgbClr val="D1E7DD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46"/>
          <p:cNvSpPr txBox="1"/>
          <p:nvPr/>
        </p:nvSpPr>
        <p:spPr>
          <a:xfrm>
            <a:off x="4828032" y="2350008"/>
            <a:ext cx="378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Arial"/>
                <a:ea typeface="Arial"/>
                <a:cs typeface="Arial"/>
                <a:sym typeface="Arial"/>
              </a:rPr>
              <a:t>Well done! Everything works.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46"/>
          <p:cNvSpPr/>
          <p:nvPr/>
        </p:nvSpPr>
        <p:spPr>
          <a:xfrm>
            <a:off x="4791456" y="2761488"/>
            <a:ext cx="3858900" cy="329100"/>
          </a:xfrm>
          <a:prstGeom prst="roundRect">
            <a:avLst>
              <a:gd fmla="val 13889" name="adj"/>
            </a:avLst>
          </a:prstGeom>
          <a:solidFill>
            <a:srgbClr val="FFF3CD"/>
          </a:solidFill>
          <a:ln cap="flat" cmpd="sng" w="9525">
            <a:solidFill>
              <a:srgbClr val="664D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46"/>
          <p:cNvSpPr txBox="1"/>
          <p:nvPr/>
        </p:nvSpPr>
        <p:spPr>
          <a:xfrm>
            <a:off x="4828032" y="2761488"/>
            <a:ext cx="3785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4D0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4D03"/>
                </a:solidFill>
                <a:latin typeface="Arial"/>
                <a:ea typeface="Arial"/>
                <a:cs typeface="Arial"/>
                <a:sym typeface="Arial"/>
              </a:rPr>
              <a:t>Warning: check your password.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46"/>
          <p:cNvSpPr/>
          <p:nvPr/>
        </p:nvSpPr>
        <p:spPr>
          <a:xfrm>
            <a:off x="4837176" y="3310128"/>
            <a:ext cx="1097400" cy="329100"/>
          </a:xfrm>
          <a:prstGeom prst="roundRect">
            <a:avLst>
              <a:gd fmla="val 16667" name="adj"/>
            </a:avLst>
          </a:prstGeom>
          <a:solidFill>
            <a:srgbClr val="0D6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46"/>
          <p:cNvSpPr txBox="1"/>
          <p:nvPr/>
        </p:nvSpPr>
        <p:spPr>
          <a:xfrm>
            <a:off x="4873752" y="3310128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46"/>
          <p:cNvSpPr/>
          <p:nvPr/>
        </p:nvSpPr>
        <p:spPr>
          <a:xfrm>
            <a:off x="6071616" y="3310128"/>
            <a:ext cx="1097400" cy="329100"/>
          </a:xfrm>
          <a:prstGeom prst="roundRect">
            <a:avLst>
              <a:gd fmla="val 16667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46"/>
          <p:cNvSpPr txBox="1"/>
          <p:nvPr/>
        </p:nvSpPr>
        <p:spPr>
          <a:xfrm>
            <a:off x="6108192" y="3310128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46"/>
          <p:cNvSpPr/>
          <p:nvPr/>
        </p:nvSpPr>
        <p:spPr>
          <a:xfrm>
            <a:off x="7306056" y="3310128"/>
            <a:ext cx="1097400" cy="329100"/>
          </a:xfrm>
          <a:prstGeom prst="roundRect">
            <a:avLst>
              <a:gd fmla="val 16667" name="adj"/>
            </a:avLst>
          </a:prstGeom>
          <a:solidFill>
            <a:srgbClr val="DC3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46"/>
          <p:cNvSpPr txBox="1"/>
          <p:nvPr/>
        </p:nvSpPr>
        <p:spPr>
          <a:xfrm>
            <a:off x="7342632" y="3310128"/>
            <a:ext cx="102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Danger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46"/>
          <p:cNvSpPr txBox="1"/>
          <p:nvPr/>
        </p:nvSpPr>
        <p:spPr>
          <a:xfrm>
            <a:off x="4837176" y="3813048"/>
            <a:ext cx="91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Progress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46"/>
          <p:cNvSpPr/>
          <p:nvPr/>
        </p:nvSpPr>
        <p:spPr>
          <a:xfrm>
            <a:off x="4837176" y="4041648"/>
            <a:ext cx="3767400" cy="237600"/>
          </a:xfrm>
          <a:prstGeom prst="roundRect">
            <a:avLst>
              <a:gd fmla="val 50000" name="adj"/>
            </a:avLst>
          </a:prstGeom>
          <a:solidFill>
            <a:srgbClr val="E9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9" name="Google Shape;2279;p46"/>
          <p:cNvSpPr/>
          <p:nvPr/>
        </p:nvSpPr>
        <p:spPr>
          <a:xfrm>
            <a:off x="4837176" y="4041648"/>
            <a:ext cx="2825400" cy="237600"/>
          </a:xfrm>
          <a:prstGeom prst="roundRect">
            <a:avLst>
              <a:gd fmla="val 50000" name="adj"/>
            </a:avLst>
          </a:prstGeom>
          <a:solidFill>
            <a:srgbClr val="0D6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46"/>
          <p:cNvSpPr txBox="1"/>
          <p:nvPr/>
        </p:nvSpPr>
        <p:spPr>
          <a:xfrm>
            <a:off x="4873752" y="4041648"/>
            <a:ext cx="2752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46"/>
          <p:cNvSpPr txBox="1"/>
          <p:nvPr>
            <p:ph idx="4294967295" type="sldNum"/>
          </p:nvPr>
        </p:nvSpPr>
        <p:spPr>
          <a:xfrm>
            <a:off x="8229600" y="4846320"/>
            <a:ext cx="548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287" name="Google Shape;228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8" name="Google Shape;2288;p47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PRACTICE  ·  CHALLENGE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47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Challenge 6 — Build with Bootstrap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0" name="Google Shape;2290;p47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Buttons, alerts, navbar and progress bar in one page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1" name="Google Shape;2291;p47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2" name="Google Shape;2292;p47"/>
          <p:cNvSpPr/>
          <p:nvPr/>
        </p:nvSpPr>
        <p:spPr>
          <a:xfrm>
            <a:off x="365760" y="1508760"/>
            <a:ext cx="4114800" cy="315468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47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4" name="Google Shape;229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95" name="Google Shape;2295;p47"/>
          <p:cNvSpPr txBox="1"/>
          <p:nvPr/>
        </p:nvSpPr>
        <p:spPr>
          <a:xfrm>
            <a:off x="1143000" y="1627632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Only Bootstrap classes, no custom 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6" name="Google Shape;2296;p47"/>
          <p:cNvSpPr/>
          <p:nvPr/>
        </p:nvSpPr>
        <p:spPr>
          <a:xfrm>
            <a:off x="548640" y="23317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7" name="Google Shape;2297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24140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98" name="Google Shape;2298;p47"/>
          <p:cNvSpPr txBox="1"/>
          <p:nvPr/>
        </p:nvSpPr>
        <p:spPr>
          <a:xfrm>
            <a:off x="1005840" y="23317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F172A"/>
                </a:solidFill>
              </a:rPr>
              <a:t>Grid System (col-8 &amp; col-4)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47"/>
          <p:cNvSpPr/>
          <p:nvPr/>
        </p:nvSpPr>
        <p:spPr>
          <a:xfrm>
            <a:off x="3200400" y="2395728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47"/>
          <p:cNvSpPr txBox="1"/>
          <p:nvPr/>
        </p:nvSpPr>
        <p:spPr>
          <a:xfrm>
            <a:off x="3236976" y="2395728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row / col-*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47"/>
          <p:cNvSpPr/>
          <p:nvPr/>
        </p:nvSpPr>
        <p:spPr>
          <a:xfrm>
            <a:off x="548640" y="27889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2" name="Google Shape;230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28712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03" name="Google Shape;2303;p47"/>
          <p:cNvSpPr txBox="1"/>
          <p:nvPr/>
        </p:nvSpPr>
        <p:spPr>
          <a:xfrm>
            <a:off x="1005840" y="27889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F172A"/>
                </a:solidFill>
              </a:rPr>
              <a:t>Spacing &amp; Margins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4" name="Google Shape;2304;p47"/>
          <p:cNvSpPr/>
          <p:nvPr/>
        </p:nvSpPr>
        <p:spPr>
          <a:xfrm>
            <a:off x="3200400" y="2852928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47"/>
          <p:cNvSpPr txBox="1"/>
          <p:nvPr/>
        </p:nvSpPr>
        <p:spPr>
          <a:xfrm>
            <a:off x="3236976" y="2852928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mb-* / p-*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47"/>
          <p:cNvSpPr/>
          <p:nvPr/>
        </p:nvSpPr>
        <p:spPr>
          <a:xfrm>
            <a:off x="548640" y="32461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7" name="Google Shape;2307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3284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08" name="Google Shape;2308;p47"/>
          <p:cNvSpPr txBox="1"/>
          <p:nvPr/>
        </p:nvSpPr>
        <p:spPr>
          <a:xfrm>
            <a:off x="1005840" y="32461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F172A"/>
                </a:solidFill>
              </a:rPr>
              <a:t>Bootstrap Card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47"/>
          <p:cNvSpPr/>
          <p:nvPr/>
        </p:nvSpPr>
        <p:spPr>
          <a:xfrm>
            <a:off x="3200400" y="3310128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47"/>
          <p:cNvSpPr txBox="1"/>
          <p:nvPr/>
        </p:nvSpPr>
        <p:spPr>
          <a:xfrm>
            <a:off x="3236976" y="3310128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card 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1" name="Google Shape;2311;p47"/>
          <p:cNvSpPr/>
          <p:nvPr/>
        </p:nvSpPr>
        <p:spPr>
          <a:xfrm>
            <a:off x="548640" y="37033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2" name="Google Shape;231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37856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13" name="Google Shape;2313;p47"/>
          <p:cNvSpPr txBox="1"/>
          <p:nvPr/>
        </p:nvSpPr>
        <p:spPr>
          <a:xfrm>
            <a:off x="1005840" y="37033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F172A"/>
                </a:solidFill>
              </a:rPr>
              <a:t>Container class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4" name="Google Shape;2314;p47"/>
          <p:cNvSpPr/>
          <p:nvPr/>
        </p:nvSpPr>
        <p:spPr>
          <a:xfrm>
            <a:off x="3200400" y="3767328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47"/>
          <p:cNvSpPr txBox="1"/>
          <p:nvPr/>
        </p:nvSpPr>
        <p:spPr>
          <a:xfrm>
            <a:off x="3236976" y="3767328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container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p47"/>
          <p:cNvSpPr/>
          <p:nvPr/>
        </p:nvSpPr>
        <p:spPr>
          <a:xfrm>
            <a:off x="548640" y="4160520"/>
            <a:ext cx="3749040" cy="365760"/>
          </a:xfrm>
          <a:prstGeom prst="roundRect">
            <a:avLst>
              <a:gd fmla="val 20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7" name="Google Shape;2317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42428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18" name="Google Shape;2318;p47"/>
          <p:cNvSpPr txBox="1"/>
          <p:nvPr/>
        </p:nvSpPr>
        <p:spPr>
          <a:xfrm>
            <a:off x="1005840" y="416052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0F172A"/>
                </a:solidFill>
              </a:rPr>
              <a:t>2 alert (success and danger)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9" name="Google Shape;2319;p47"/>
          <p:cNvSpPr/>
          <p:nvPr/>
        </p:nvSpPr>
        <p:spPr>
          <a:xfrm>
            <a:off x="3200400" y="4224528"/>
            <a:ext cx="1005840" cy="237744"/>
          </a:xfrm>
          <a:prstGeom prst="roundRect">
            <a:avLst>
              <a:gd fmla="val 50000" name="adj"/>
            </a:avLst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0" name="Google Shape;2320;p47"/>
          <p:cNvSpPr txBox="1"/>
          <p:nvPr/>
        </p:nvSpPr>
        <p:spPr>
          <a:xfrm>
            <a:off x="3236976" y="4224528"/>
            <a:ext cx="9326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0"/>
              <a:buFont typeface="Courier New"/>
              <a:buNone/>
            </a:pPr>
            <a:r>
              <a:rPr b="1" lang="en-US" sz="850">
                <a:solidFill>
                  <a:srgbClr val="6D28D9"/>
                </a:solidFill>
                <a:latin typeface="Courier New"/>
                <a:ea typeface="Courier New"/>
                <a:cs typeface="Courier New"/>
                <a:sym typeface="Courier New"/>
              </a:rPr>
              <a:t>alert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1" name="Google Shape;2321;p47"/>
          <p:cNvSpPr/>
          <p:nvPr/>
        </p:nvSpPr>
        <p:spPr>
          <a:xfrm>
            <a:off x="4663440" y="1508760"/>
            <a:ext cx="4114800" cy="3154680"/>
          </a:xfrm>
          <a:prstGeom prst="roundRect">
            <a:avLst>
              <a:gd fmla="val 2319" name="adj"/>
            </a:avLst>
          </a:prstGeom>
          <a:solidFill>
            <a:srgbClr val="D5DCE8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47"/>
          <p:cNvSpPr/>
          <p:nvPr/>
        </p:nvSpPr>
        <p:spPr>
          <a:xfrm>
            <a:off x="4700016" y="1755648"/>
            <a:ext cx="4041648" cy="2871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47"/>
          <p:cNvSpPr/>
          <p:nvPr/>
        </p:nvSpPr>
        <p:spPr>
          <a:xfrm>
            <a:off x="4754880" y="1600200"/>
            <a:ext cx="68580" cy="685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4" name="Google Shape;2324;p47"/>
          <p:cNvSpPr/>
          <p:nvPr/>
        </p:nvSpPr>
        <p:spPr>
          <a:xfrm>
            <a:off x="4855464" y="1600200"/>
            <a:ext cx="68580" cy="685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47"/>
          <p:cNvSpPr/>
          <p:nvPr/>
        </p:nvSpPr>
        <p:spPr>
          <a:xfrm>
            <a:off x="4956048" y="1600200"/>
            <a:ext cx="68580" cy="685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47"/>
          <p:cNvSpPr/>
          <p:nvPr/>
        </p:nvSpPr>
        <p:spPr>
          <a:xfrm>
            <a:off x="5120640" y="1577340"/>
            <a:ext cx="3474720" cy="1188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47"/>
          <p:cNvSpPr txBox="1"/>
          <p:nvPr/>
        </p:nvSpPr>
        <p:spPr>
          <a:xfrm>
            <a:off x="5157216" y="1577340"/>
            <a:ext cx="340156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expected-result.html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47"/>
          <p:cNvSpPr/>
          <p:nvPr/>
        </p:nvSpPr>
        <p:spPr>
          <a:xfrm>
            <a:off x="4791456" y="1847088"/>
            <a:ext cx="3858768" cy="365760"/>
          </a:xfrm>
          <a:prstGeom prst="roundRect">
            <a:avLst>
              <a:gd fmla="val 12500" name="adj"/>
            </a:avLst>
          </a:prstGeom>
          <a:solidFill>
            <a:srgbClr val="2125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47"/>
          <p:cNvSpPr txBox="1"/>
          <p:nvPr/>
        </p:nvSpPr>
        <p:spPr>
          <a:xfrm>
            <a:off x="4901184" y="1847088"/>
            <a:ext cx="3675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LOGO    Home    About    Services    Contact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47"/>
          <p:cNvSpPr/>
          <p:nvPr/>
        </p:nvSpPr>
        <p:spPr>
          <a:xfrm>
            <a:off x="4791456" y="2350008"/>
            <a:ext cx="3858768" cy="329184"/>
          </a:xfrm>
          <a:prstGeom prst="roundRect">
            <a:avLst>
              <a:gd fmla="val 13889" name="adj"/>
            </a:avLst>
          </a:prstGeom>
          <a:solidFill>
            <a:srgbClr val="D1E7DD"/>
          </a:solidFill>
          <a:ln cap="flat" cmpd="sng" w="9525">
            <a:solidFill>
              <a:srgbClr val="0F51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47"/>
          <p:cNvSpPr txBox="1"/>
          <p:nvPr/>
        </p:nvSpPr>
        <p:spPr>
          <a:xfrm>
            <a:off x="4828032" y="2350008"/>
            <a:ext cx="3785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51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5132"/>
                </a:solidFill>
                <a:latin typeface="Arial"/>
                <a:ea typeface="Arial"/>
                <a:cs typeface="Arial"/>
                <a:sym typeface="Arial"/>
              </a:rPr>
              <a:t>Well done! Everything works.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47"/>
          <p:cNvSpPr/>
          <p:nvPr/>
        </p:nvSpPr>
        <p:spPr>
          <a:xfrm>
            <a:off x="4791456" y="2761488"/>
            <a:ext cx="3858768" cy="329184"/>
          </a:xfrm>
          <a:prstGeom prst="roundRect">
            <a:avLst>
              <a:gd fmla="val 13889" name="adj"/>
            </a:avLst>
          </a:prstGeom>
          <a:solidFill>
            <a:srgbClr val="FFF3CD"/>
          </a:solidFill>
          <a:ln cap="flat" cmpd="sng" w="9525">
            <a:solidFill>
              <a:srgbClr val="664D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47"/>
          <p:cNvSpPr txBox="1"/>
          <p:nvPr/>
        </p:nvSpPr>
        <p:spPr>
          <a:xfrm>
            <a:off x="4828032" y="2761488"/>
            <a:ext cx="3785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4D03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64D03"/>
                </a:solidFill>
                <a:latin typeface="Arial"/>
                <a:ea typeface="Arial"/>
                <a:cs typeface="Arial"/>
                <a:sym typeface="Arial"/>
              </a:rPr>
              <a:t>Warning: check your password.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47"/>
          <p:cNvSpPr/>
          <p:nvPr/>
        </p:nvSpPr>
        <p:spPr>
          <a:xfrm>
            <a:off x="4837176" y="3310128"/>
            <a:ext cx="1097280" cy="329184"/>
          </a:xfrm>
          <a:prstGeom prst="roundRect">
            <a:avLst>
              <a:gd fmla="val 16667" name="adj"/>
            </a:avLst>
          </a:prstGeom>
          <a:solidFill>
            <a:srgbClr val="0D6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47"/>
          <p:cNvSpPr txBox="1"/>
          <p:nvPr/>
        </p:nvSpPr>
        <p:spPr>
          <a:xfrm>
            <a:off x="4873752" y="3310128"/>
            <a:ext cx="1024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6" name="Google Shape;2336;p47"/>
          <p:cNvSpPr/>
          <p:nvPr/>
        </p:nvSpPr>
        <p:spPr>
          <a:xfrm>
            <a:off x="6071616" y="3310128"/>
            <a:ext cx="1097280" cy="329184"/>
          </a:xfrm>
          <a:prstGeom prst="roundRect">
            <a:avLst>
              <a:gd fmla="val 16667" name="adj"/>
            </a:avLst>
          </a:prstGeom>
          <a:solidFill>
            <a:srgbClr val="1987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47"/>
          <p:cNvSpPr txBox="1"/>
          <p:nvPr/>
        </p:nvSpPr>
        <p:spPr>
          <a:xfrm>
            <a:off x="6108192" y="3310128"/>
            <a:ext cx="1024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47"/>
          <p:cNvSpPr/>
          <p:nvPr/>
        </p:nvSpPr>
        <p:spPr>
          <a:xfrm>
            <a:off x="7306056" y="3310128"/>
            <a:ext cx="1097280" cy="329184"/>
          </a:xfrm>
          <a:prstGeom prst="roundRect">
            <a:avLst>
              <a:gd fmla="val 16667" name="adj"/>
            </a:avLst>
          </a:prstGeom>
          <a:solidFill>
            <a:srgbClr val="DC3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47"/>
          <p:cNvSpPr txBox="1"/>
          <p:nvPr/>
        </p:nvSpPr>
        <p:spPr>
          <a:xfrm>
            <a:off x="7342632" y="3310128"/>
            <a:ext cx="10241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Danger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47"/>
          <p:cNvSpPr txBox="1"/>
          <p:nvPr/>
        </p:nvSpPr>
        <p:spPr>
          <a:xfrm>
            <a:off x="4837176" y="3813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Progress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1" name="Google Shape;2341;p47"/>
          <p:cNvSpPr/>
          <p:nvPr/>
        </p:nvSpPr>
        <p:spPr>
          <a:xfrm>
            <a:off x="4837176" y="4041648"/>
            <a:ext cx="3767328" cy="237744"/>
          </a:xfrm>
          <a:prstGeom prst="roundRect">
            <a:avLst>
              <a:gd fmla="val 50000" name="adj"/>
            </a:avLst>
          </a:prstGeom>
          <a:solidFill>
            <a:srgbClr val="E9E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2" name="Google Shape;2342;p47"/>
          <p:cNvSpPr/>
          <p:nvPr/>
        </p:nvSpPr>
        <p:spPr>
          <a:xfrm>
            <a:off x="4837176" y="4041648"/>
            <a:ext cx="2825496" cy="237744"/>
          </a:xfrm>
          <a:prstGeom prst="roundRect">
            <a:avLst>
              <a:gd fmla="val 50000" name="adj"/>
            </a:avLst>
          </a:prstGeom>
          <a:solidFill>
            <a:srgbClr val="0D6E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47"/>
          <p:cNvSpPr txBox="1"/>
          <p:nvPr/>
        </p:nvSpPr>
        <p:spPr>
          <a:xfrm>
            <a:off x="4873752" y="4041648"/>
            <a:ext cx="2752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75%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47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B0F"/>
        </a:solidFill>
      </p:bgPr>
    </p:bg>
    <p:spTree>
      <p:nvGrpSpPr>
        <p:cNvPr id="2349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350" name="Google Shape;235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51" name="Google Shape;2351;p48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PART 13  ·  FINAL RECAP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48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Your CSS learning map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3" name="Google Shape;2353;p48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From HTML to a real interface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48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5" name="Google Shape;2355;p48"/>
          <p:cNvSpPr/>
          <p:nvPr/>
        </p:nvSpPr>
        <p:spPr>
          <a:xfrm>
            <a:off x="365760" y="15544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6" name="Google Shape;2356;p48"/>
          <p:cNvSpPr/>
          <p:nvPr/>
        </p:nvSpPr>
        <p:spPr>
          <a:xfrm>
            <a:off x="749808" y="16459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7" name="Google Shape;2357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9536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58" name="Google Shape;2358;p48"/>
          <p:cNvSpPr txBox="1"/>
          <p:nvPr/>
        </p:nvSpPr>
        <p:spPr>
          <a:xfrm>
            <a:off x="365760" y="21579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48"/>
          <p:cNvSpPr txBox="1"/>
          <p:nvPr/>
        </p:nvSpPr>
        <p:spPr>
          <a:xfrm>
            <a:off x="420624" y="16002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0" name="Google Shape;2360;p48"/>
          <p:cNvCxnSpPr/>
          <p:nvPr/>
        </p:nvCxnSpPr>
        <p:spPr>
          <a:xfrm>
            <a:off x="1618488" y="20299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1" name="Google Shape;2361;p48"/>
          <p:cNvSpPr/>
          <p:nvPr/>
        </p:nvSpPr>
        <p:spPr>
          <a:xfrm>
            <a:off x="1783080" y="15544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2" name="Google Shape;2362;p48"/>
          <p:cNvSpPr/>
          <p:nvPr/>
        </p:nvSpPr>
        <p:spPr>
          <a:xfrm>
            <a:off x="2167128" y="16459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3" name="Google Shape;2363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76856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64" name="Google Shape;2364;p48"/>
          <p:cNvSpPr txBox="1"/>
          <p:nvPr/>
        </p:nvSpPr>
        <p:spPr>
          <a:xfrm>
            <a:off x="1783080" y="21579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48"/>
          <p:cNvSpPr txBox="1"/>
          <p:nvPr/>
        </p:nvSpPr>
        <p:spPr>
          <a:xfrm>
            <a:off x="1837944" y="16002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6" name="Google Shape;2366;p48"/>
          <p:cNvCxnSpPr/>
          <p:nvPr/>
        </p:nvCxnSpPr>
        <p:spPr>
          <a:xfrm>
            <a:off x="3035808" y="20299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67" name="Google Shape;2367;p48"/>
          <p:cNvSpPr/>
          <p:nvPr/>
        </p:nvSpPr>
        <p:spPr>
          <a:xfrm>
            <a:off x="3200400" y="15544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48"/>
          <p:cNvSpPr/>
          <p:nvPr/>
        </p:nvSpPr>
        <p:spPr>
          <a:xfrm>
            <a:off x="3584448" y="16459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9" name="Google Shape;2369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94176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70" name="Google Shape;2370;p48"/>
          <p:cNvSpPr txBox="1"/>
          <p:nvPr/>
        </p:nvSpPr>
        <p:spPr>
          <a:xfrm>
            <a:off x="3200400" y="21579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48"/>
          <p:cNvSpPr txBox="1"/>
          <p:nvPr/>
        </p:nvSpPr>
        <p:spPr>
          <a:xfrm>
            <a:off x="3255264" y="16002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2" name="Google Shape;2372;p48"/>
          <p:cNvCxnSpPr/>
          <p:nvPr/>
        </p:nvCxnSpPr>
        <p:spPr>
          <a:xfrm>
            <a:off x="4453128" y="20299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3" name="Google Shape;2373;p48"/>
          <p:cNvSpPr/>
          <p:nvPr/>
        </p:nvSpPr>
        <p:spPr>
          <a:xfrm>
            <a:off x="4617720" y="15544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48"/>
          <p:cNvSpPr/>
          <p:nvPr/>
        </p:nvSpPr>
        <p:spPr>
          <a:xfrm>
            <a:off x="5001768" y="16459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75" name="Google Shape;2375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11496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76" name="Google Shape;2376;p48"/>
          <p:cNvSpPr txBox="1"/>
          <p:nvPr/>
        </p:nvSpPr>
        <p:spPr>
          <a:xfrm>
            <a:off x="4617720" y="21579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Box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48"/>
          <p:cNvSpPr txBox="1"/>
          <p:nvPr/>
        </p:nvSpPr>
        <p:spPr>
          <a:xfrm>
            <a:off x="4672584" y="16002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8" name="Google Shape;2378;p48"/>
          <p:cNvCxnSpPr/>
          <p:nvPr/>
        </p:nvCxnSpPr>
        <p:spPr>
          <a:xfrm>
            <a:off x="5870448" y="20299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9" name="Google Shape;2379;p48"/>
          <p:cNvSpPr/>
          <p:nvPr/>
        </p:nvSpPr>
        <p:spPr>
          <a:xfrm>
            <a:off x="6035040" y="15544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48"/>
          <p:cNvSpPr/>
          <p:nvPr/>
        </p:nvSpPr>
        <p:spPr>
          <a:xfrm>
            <a:off x="6419088" y="16459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1" name="Google Shape;2381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8816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82" name="Google Shape;2382;p48"/>
          <p:cNvSpPr txBox="1"/>
          <p:nvPr/>
        </p:nvSpPr>
        <p:spPr>
          <a:xfrm>
            <a:off x="6035040" y="21579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Typography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48"/>
          <p:cNvSpPr txBox="1"/>
          <p:nvPr/>
        </p:nvSpPr>
        <p:spPr>
          <a:xfrm>
            <a:off x="6089904" y="16002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4" name="Google Shape;2384;p48"/>
          <p:cNvCxnSpPr/>
          <p:nvPr/>
        </p:nvCxnSpPr>
        <p:spPr>
          <a:xfrm>
            <a:off x="7287768" y="20299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5" name="Google Shape;2385;p48"/>
          <p:cNvSpPr/>
          <p:nvPr/>
        </p:nvSpPr>
        <p:spPr>
          <a:xfrm>
            <a:off x="7452360" y="15544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48"/>
          <p:cNvSpPr/>
          <p:nvPr/>
        </p:nvSpPr>
        <p:spPr>
          <a:xfrm>
            <a:off x="7836408" y="16459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87" name="Google Shape;2387;p4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46136" y="17556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88" name="Google Shape;2388;p48"/>
          <p:cNvSpPr txBox="1"/>
          <p:nvPr/>
        </p:nvSpPr>
        <p:spPr>
          <a:xfrm>
            <a:off x="7452360" y="21579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48"/>
          <p:cNvSpPr txBox="1"/>
          <p:nvPr/>
        </p:nvSpPr>
        <p:spPr>
          <a:xfrm>
            <a:off x="7507224" y="16002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48"/>
          <p:cNvSpPr/>
          <p:nvPr/>
        </p:nvSpPr>
        <p:spPr>
          <a:xfrm>
            <a:off x="365760" y="29260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48"/>
          <p:cNvSpPr/>
          <p:nvPr/>
        </p:nvSpPr>
        <p:spPr>
          <a:xfrm>
            <a:off x="749808" y="30175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2" name="Google Shape;2392;p4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59536" y="3127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93" name="Google Shape;2393;p48"/>
          <p:cNvSpPr txBox="1"/>
          <p:nvPr/>
        </p:nvSpPr>
        <p:spPr>
          <a:xfrm>
            <a:off x="365760" y="35295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Flexbox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4" name="Google Shape;2394;p48"/>
          <p:cNvSpPr txBox="1"/>
          <p:nvPr/>
        </p:nvSpPr>
        <p:spPr>
          <a:xfrm>
            <a:off x="420624" y="2971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5" name="Google Shape;2395;p48"/>
          <p:cNvCxnSpPr/>
          <p:nvPr/>
        </p:nvCxnSpPr>
        <p:spPr>
          <a:xfrm>
            <a:off x="1618488" y="34015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6" name="Google Shape;2396;p48"/>
          <p:cNvSpPr/>
          <p:nvPr/>
        </p:nvSpPr>
        <p:spPr>
          <a:xfrm>
            <a:off x="1783080" y="29260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7" name="Google Shape;2397;p48"/>
          <p:cNvSpPr/>
          <p:nvPr/>
        </p:nvSpPr>
        <p:spPr>
          <a:xfrm>
            <a:off x="2167128" y="30175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8" name="Google Shape;2398;p4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276856" y="3127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99" name="Google Shape;2399;p48"/>
          <p:cNvSpPr txBox="1"/>
          <p:nvPr/>
        </p:nvSpPr>
        <p:spPr>
          <a:xfrm>
            <a:off x="1783080" y="35295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48"/>
          <p:cNvSpPr txBox="1"/>
          <p:nvPr/>
        </p:nvSpPr>
        <p:spPr>
          <a:xfrm>
            <a:off x="1837944" y="2971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1" name="Google Shape;2401;p48"/>
          <p:cNvCxnSpPr/>
          <p:nvPr/>
        </p:nvCxnSpPr>
        <p:spPr>
          <a:xfrm>
            <a:off x="3035808" y="34015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2" name="Google Shape;2402;p48"/>
          <p:cNvSpPr/>
          <p:nvPr/>
        </p:nvSpPr>
        <p:spPr>
          <a:xfrm>
            <a:off x="3200400" y="29260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48"/>
          <p:cNvSpPr/>
          <p:nvPr/>
        </p:nvSpPr>
        <p:spPr>
          <a:xfrm>
            <a:off x="3584448" y="30175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04" name="Google Shape;2404;p4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94176" y="3127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05" name="Google Shape;2405;p48"/>
          <p:cNvSpPr txBox="1"/>
          <p:nvPr/>
        </p:nvSpPr>
        <p:spPr>
          <a:xfrm>
            <a:off x="3200400" y="35295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6" name="Google Shape;2406;p48"/>
          <p:cNvSpPr txBox="1"/>
          <p:nvPr/>
        </p:nvSpPr>
        <p:spPr>
          <a:xfrm>
            <a:off x="3255264" y="2971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7" name="Google Shape;2407;p48"/>
          <p:cNvCxnSpPr/>
          <p:nvPr/>
        </p:nvCxnSpPr>
        <p:spPr>
          <a:xfrm>
            <a:off x="4453128" y="34015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8" name="Google Shape;2408;p48"/>
          <p:cNvSpPr/>
          <p:nvPr/>
        </p:nvSpPr>
        <p:spPr>
          <a:xfrm>
            <a:off x="4617720" y="29260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9" name="Google Shape;2409;p48"/>
          <p:cNvSpPr/>
          <p:nvPr/>
        </p:nvSpPr>
        <p:spPr>
          <a:xfrm>
            <a:off x="5001768" y="30175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0" name="Google Shape;2410;p4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111496" y="3127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11" name="Google Shape;2411;p48"/>
          <p:cNvSpPr txBox="1"/>
          <p:nvPr/>
        </p:nvSpPr>
        <p:spPr>
          <a:xfrm>
            <a:off x="4617720" y="35295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Responsive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48"/>
          <p:cNvSpPr txBox="1"/>
          <p:nvPr/>
        </p:nvSpPr>
        <p:spPr>
          <a:xfrm>
            <a:off x="4672584" y="2971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3" name="Google Shape;2413;p48"/>
          <p:cNvCxnSpPr/>
          <p:nvPr/>
        </p:nvCxnSpPr>
        <p:spPr>
          <a:xfrm>
            <a:off x="5870448" y="34015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14" name="Google Shape;2414;p48"/>
          <p:cNvSpPr/>
          <p:nvPr/>
        </p:nvSpPr>
        <p:spPr>
          <a:xfrm>
            <a:off x="6035040" y="29260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48"/>
          <p:cNvSpPr/>
          <p:nvPr/>
        </p:nvSpPr>
        <p:spPr>
          <a:xfrm>
            <a:off x="6419088" y="30175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6" name="Google Shape;2416;p4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528816" y="3127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17" name="Google Shape;2417;p48"/>
          <p:cNvSpPr txBox="1"/>
          <p:nvPr/>
        </p:nvSpPr>
        <p:spPr>
          <a:xfrm>
            <a:off x="6035040" y="35295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Bootstrap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48"/>
          <p:cNvSpPr txBox="1"/>
          <p:nvPr/>
        </p:nvSpPr>
        <p:spPr>
          <a:xfrm>
            <a:off x="6089904" y="2971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9" name="Google Shape;2419;p48"/>
          <p:cNvCxnSpPr/>
          <p:nvPr/>
        </p:nvCxnSpPr>
        <p:spPr>
          <a:xfrm>
            <a:off x="7287768" y="3401568"/>
            <a:ext cx="146304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0" name="Google Shape;2420;p48"/>
          <p:cNvSpPr/>
          <p:nvPr/>
        </p:nvSpPr>
        <p:spPr>
          <a:xfrm>
            <a:off x="7452360" y="2926080"/>
            <a:ext cx="1234440" cy="960120"/>
          </a:xfrm>
          <a:prstGeom prst="roundRect">
            <a:avLst>
              <a:gd fmla="val 11429" name="adj"/>
            </a:avLst>
          </a:prstGeom>
          <a:solidFill>
            <a:srgbClr val="14532D"/>
          </a:solidFill>
          <a:ln cap="flat" cmpd="sng" w="254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48"/>
          <p:cNvSpPr/>
          <p:nvPr/>
        </p:nvSpPr>
        <p:spPr>
          <a:xfrm>
            <a:off x="7836408" y="3017520"/>
            <a:ext cx="457200" cy="4572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2" name="Google Shape;2422;p4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946136" y="31272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23" name="Google Shape;2423;p48"/>
          <p:cNvSpPr txBox="1"/>
          <p:nvPr/>
        </p:nvSpPr>
        <p:spPr>
          <a:xfrm>
            <a:off x="7452360" y="352958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UI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48"/>
          <p:cNvSpPr txBox="1"/>
          <p:nvPr/>
        </p:nvSpPr>
        <p:spPr>
          <a:xfrm>
            <a:off x="7507224" y="297180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5" name="Google Shape;2425;p48"/>
          <p:cNvCxnSpPr/>
          <p:nvPr/>
        </p:nvCxnSpPr>
        <p:spPr>
          <a:xfrm>
            <a:off x="8069580" y="2514600"/>
            <a:ext cx="0" cy="22860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6" name="Google Shape;2426;p48"/>
          <p:cNvCxnSpPr/>
          <p:nvPr/>
        </p:nvCxnSpPr>
        <p:spPr>
          <a:xfrm rot="10800000">
            <a:off x="982980" y="2743200"/>
            <a:ext cx="7086600" cy="0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7" name="Google Shape;2427;p48"/>
          <p:cNvCxnSpPr/>
          <p:nvPr/>
        </p:nvCxnSpPr>
        <p:spPr>
          <a:xfrm>
            <a:off x="982980" y="2743200"/>
            <a:ext cx="0" cy="164592"/>
          </a:xfrm>
          <a:prstGeom prst="straightConnector1">
            <a:avLst/>
          </a:prstGeom>
          <a:noFill/>
          <a:ln cap="flat" cmpd="sng" w="2222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8" name="Google Shape;2428;p48"/>
          <p:cNvSpPr txBox="1"/>
          <p:nvPr/>
        </p:nvSpPr>
        <p:spPr>
          <a:xfrm>
            <a:off x="365760" y="397764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NOW YOU CAN ASK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9" name="Google Shape;2429;p48"/>
          <p:cNvSpPr/>
          <p:nvPr/>
        </p:nvSpPr>
        <p:spPr>
          <a:xfrm>
            <a:off x="365760" y="4251960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0" name="Google Shape;2430;p48"/>
          <p:cNvSpPr txBox="1"/>
          <p:nvPr/>
        </p:nvSpPr>
        <p:spPr>
          <a:xfrm>
            <a:off x="384048" y="4251960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Which selector?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48"/>
          <p:cNvSpPr/>
          <p:nvPr/>
        </p:nvSpPr>
        <p:spPr>
          <a:xfrm>
            <a:off x="1783080" y="4251960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2" name="Google Shape;2432;p48"/>
          <p:cNvSpPr txBox="1"/>
          <p:nvPr/>
        </p:nvSpPr>
        <p:spPr>
          <a:xfrm>
            <a:off x="1801368" y="4251960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Margin or padding?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3" name="Google Shape;2433;p48"/>
          <p:cNvSpPr/>
          <p:nvPr/>
        </p:nvSpPr>
        <p:spPr>
          <a:xfrm>
            <a:off x="3200400" y="4251960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4" name="Google Shape;2434;p48"/>
          <p:cNvSpPr txBox="1"/>
          <p:nvPr/>
        </p:nvSpPr>
        <p:spPr>
          <a:xfrm>
            <a:off x="3218688" y="4251960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Flexbox or Grid?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5" name="Google Shape;2435;p48"/>
          <p:cNvSpPr/>
          <p:nvPr/>
        </p:nvSpPr>
        <p:spPr>
          <a:xfrm>
            <a:off x="4617720" y="4251960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6" name="Google Shape;2436;p48"/>
          <p:cNvSpPr txBox="1"/>
          <p:nvPr/>
        </p:nvSpPr>
        <p:spPr>
          <a:xfrm>
            <a:off x="4636008" y="4251960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How to position it?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48"/>
          <p:cNvSpPr/>
          <p:nvPr/>
        </p:nvSpPr>
        <p:spPr>
          <a:xfrm>
            <a:off x="6035040" y="4251960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8" name="Google Shape;2438;p48"/>
          <p:cNvSpPr txBox="1"/>
          <p:nvPr/>
        </p:nvSpPr>
        <p:spPr>
          <a:xfrm>
            <a:off x="6053328" y="4251960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Is it responsive?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9" name="Google Shape;2439;p48"/>
          <p:cNvSpPr/>
          <p:nvPr/>
        </p:nvSpPr>
        <p:spPr>
          <a:xfrm>
            <a:off x="7452360" y="4251960"/>
            <a:ext cx="1325880" cy="310896"/>
          </a:xfrm>
          <a:prstGeom prst="roundRect">
            <a:avLst>
              <a:gd fmla="val 50000" name="adj"/>
            </a:avLst>
          </a:prstGeom>
          <a:solidFill>
            <a:srgbClr val="1F29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0" name="Google Shape;2440;p48"/>
          <p:cNvSpPr txBox="1"/>
          <p:nvPr/>
        </p:nvSpPr>
        <p:spPr>
          <a:xfrm>
            <a:off x="7470648" y="4251960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E7E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Can Bootstrap help?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1" name="Google Shape;2441;p48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css/logo.png" id="2447" name="Google Shape;244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82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8" name="Google Shape;2448;p49"/>
          <p:cNvSpPr txBox="1"/>
          <p:nvPr/>
        </p:nvSpPr>
        <p:spPr>
          <a:xfrm>
            <a:off x="749808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PART 13  ·  FINAL RECAP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9" name="Google Shape;2449;p49"/>
          <p:cNvSpPr txBox="1"/>
          <p:nvPr/>
        </p:nvSpPr>
        <p:spPr>
          <a:xfrm>
            <a:off x="365760" y="53035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CSS cheat sheet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49"/>
          <p:cNvSpPr txBox="1"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essential properties, grouped by category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49"/>
          <p:cNvSpPr txBox="1"/>
          <p:nvPr/>
        </p:nvSpPr>
        <p:spPr>
          <a:xfrm>
            <a:off x="365760" y="484632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GOMYCODE  ·  Web Development Bootcamp  ·  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2" name="Google Shape;2452;p49"/>
          <p:cNvSpPr/>
          <p:nvPr/>
        </p:nvSpPr>
        <p:spPr>
          <a:xfrm>
            <a:off x="365760" y="1508760"/>
            <a:ext cx="269748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49"/>
          <p:cNvSpPr/>
          <p:nvPr/>
        </p:nvSpPr>
        <p:spPr>
          <a:xfrm>
            <a:off x="475488" y="1581912"/>
            <a:ext cx="292608" cy="29260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54" name="Google Shape;2454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714" y="1652138"/>
            <a:ext cx="152156" cy="1521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5" name="Google Shape;2455;p49"/>
          <p:cNvSpPr txBox="1"/>
          <p:nvPr/>
        </p:nvSpPr>
        <p:spPr>
          <a:xfrm>
            <a:off x="841248" y="158191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49"/>
          <p:cNvSpPr txBox="1"/>
          <p:nvPr/>
        </p:nvSpPr>
        <p:spPr>
          <a:xfrm>
            <a:off x="502920" y="191109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color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49"/>
          <p:cNvSpPr txBox="1"/>
          <p:nvPr/>
        </p:nvSpPr>
        <p:spPr>
          <a:xfrm>
            <a:off x="2103120" y="1911096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text color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49"/>
          <p:cNvSpPr txBox="1"/>
          <p:nvPr/>
        </p:nvSpPr>
        <p:spPr>
          <a:xfrm>
            <a:off x="502920" y="208026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font-family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49"/>
          <p:cNvSpPr txBox="1"/>
          <p:nvPr/>
        </p:nvSpPr>
        <p:spPr>
          <a:xfrm>
            <a:off x="2103120" y="208026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typeface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49"/>
          <p:cNvSpPr txBox="1"/>
          <p:nvPr/>
        </p:nvSpPr>
        <p:spPr>
          <a:xfrm>
            <a:off x="502920" y="2249424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font-size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49"/>
          <p:cNvSpPr txBox="1"/>
          <p:nvPr/>
        </p:nvSpPr>
        <p:spPr>
          <a:xfrm>
            <a:off x="2103120" y="2249424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size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49"/>
          <p:cNvSpPr txBox="1"/>
          <p:nvPr/>
        </p:nvSpPr>
        <p:spPr>
          <a:xfrm>
            <a:off x="502920" y="241858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font-weight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49"/>
          <p:cNvSpPr txBox="1"/>
          <p:nvPr/>
        </p:nvSpPr>
        <p:spPr>
          <a:xfrm>
            <a:off x="2103120" y="241858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bold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49"/>
          <p:cNvSpPr txBox="1"/>
          <p:nvPr/>
        </p:nvSpPr>
        <p:spPr>
          <a:xfrm>
            <a:off x="502920" y="2587752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text-align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49"/>
          <p:cNvSpPr txBox="1"/>
          <p:nvPr/>
        </p:nvSpPr>
        <p:spPr>
          <a:xfrm>
            <a:off x="2103120" y="2587752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left / center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6" name="Google Shape;2466;p49"/>
          <p:cNvSpPr/>
          <p:nvPr/>
        </p:nvSpPr>
        <p:spPr>
          <a:xfrm>
            <a:off x="3223260" y="1508760"/>
            <a:ext cx="269748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49"/>
          <p:cNvSpPr/>
          <p:nvPr/>
        </p:nvSpPr>
        <p:spPr>
          <a:xfrm>
            <a:off x="3332988" y="1581912"/>
            <a:ext cx="292608" cy="292608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8" name="Google Shape;246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3214" y="1652138"/>
            <a:ext cx="152156" cy="152156"/>
          </a:xfrm>
          <a:prstGeom prst="rect">
            <a:avLst/>
          </a:prstGeom>
          <a:noFill/>
          <a:ln>
            <a:noFill/>
          </a:ln>
        </p:spPr>
      </p:pic>
      <p:sp>
        <p:nvSpPr>
          <p:cNvPr id="2469" name="Google Shape;2469;p49"/>
          <p:cNvSpPr txBox="1"/>
          <p:nvPr/>
        </p:nvSpPr>
        <p:spPr>
          <a:xfrm>
            <a:off x="3698748" y="158191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rPr>
              <a:t>Box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0" name="Google Shape;2470;p49"/>
          <p:cNvSpPr txBox="1"/>
          <p:nvPr/>
        </p:nvSpPr>
        <p:spPr>
          <a:xfrm>
            <a:off x="3360420" y="191109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width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49"/>
          <p:cNvSpPr txBox="1"/>
          <p:nvPr/>
        </p:nvSpPr>
        <p:spPr>
          <a:xfrm>
            <a:off x="4960620" y="1911096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size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49"/>
          <p:cNvSpPr txBox="1"/>
          <p:nvPr/>
        </p:nvSpPr>
        <p:spPr>
          <a:xfrm>
            <a:off x="3360420" y="208026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49"/>
          <p:cNvSpPr txBox="1"/>
          <p:nvPr/>
        </p:nvSpPr>
        <p:spPr>
          <a:xfrm>
            <a:off x="4960620" y="208026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size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49"/>
          <p:cNvSpPr txBox="1"/>
          <p:nvPr/>
        </p:nvSpPr>
        <p:spPr>
          <a:xfrm>
            <a:off x="3360420" y="2249424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49"/>
          <p:cNvSpPr txBox="1"/>
          <p:nvPr/>
        </p:nvSpPr>
        <p:spPr>
          <a:xfrm>
            <a:off x="4960620" y="2249424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outside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6" name="Google Shape;2476;p49"/>
          <p:cNvSpPr txBox="1"/>
          <p:nvPr/>
        </p:nvSpPr>
        <p:spPr>
          <a:xfrm>
            <a:off x="3360420" y="2418588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49"/>
          <p:cNvSpPr txBox="1"/>
          <p:nvPr/>
        </p:nvSpPr>
        <p:spPr>
          <a:xfrm>
            <a:off x="4960620" y="241858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inside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49"/>
          <p:cNvSpPr txBox="1"/>
          <p:nvPr/>
        </p:nvSpPr>
        <p:spPr>
          <a:xfrm>
            <a:off x="3360420" y="2587752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border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49"/>
          <p:cNvSpPr txBox="1"/>
          <p:nvPr/>
        </p:nvSpPr>
        <p:spPr>
          <a:xfrm>
            <a:off x="4960620" y="2587752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49"/>
          <p:cNvSpPr txBox="1"/>
          <p:nvPr/>
        </p:nvSpPr>
        <p:spPr>
          <a:xfrm>
            <a:off x="3360420" y="2756916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50"/>
              <a:buFont typeface="Courier New"/>
              <a:buNone/>
            </a:pPr>
            <a:r>
              <a:rPr b="1" i="0" lang="en-US" sz="8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border-radius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49"/>
          <p:cNvSpPr txBox="1"/>
          <p:nvPr/>
        </p:nvSpPr>
        <p:spPr>
          <a:xfrm>
            <a:off x="4960620" y="2756916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corners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2" name="Google Shape;2482;p49"/>
          <p:cNvSpPr/>
          <p:nvPr/>
        </p:nvSpPr>
        <p:spPr>
          <a:xfrm>
            <a:off x="6080760" y="1508760"/>
            <a:ext cx="269748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49"/>
          <p:cNvSpPr/>
          <p:nvPr/>
        </p:nvSpPr>
        <p:spPr>
          <a:xfrm>
            <a:off x="6190488" y="1581912"/>
            <a:ext cx="292608" cy="292608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4" name="Google Shape;2484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60714" y="1652138"/>
            <a:ext cx="152156" cy="152156"/>
          </a:xfrm>
          <a:prstGeom prst="rect">
            <a:avLst/>
          </a:prstGeom>
          <a:noFill/>
          <a:ln>
            <a:noFill/>
          </a:ln>
        </p:spPr>
      </p:pic>
      <p:sp>
        <p:nvSpPr>
          <p:cNvPr id="2485" name="Google Shape;2485;p49"/>
          <p:cNvSpPr txBox="1"/>
          <p:nvPr/>
        </p:nvSpPr>
        <p:spPr>
          <a:xfrm>
            <a:off x="6556248" y="158191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Look &amp; Layout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6" name="Google Shape;2486;p49"/>
          <p:cNvSpPr txBox="1"/>
          <p:nvPr/>
        </p:nvSpPr>
        <p:spPr>
          <a:xfrm>
            <a:off x="6217920" y="196596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background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49"/>
          <p:cNvSpPr txBox="1"/>
          <p:nvPr/>
        </p:nvSpPr>
        <p:spPr>
          <a:xfrm>
            <a:off x="7818120" y="196596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fill color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8" name="Google Shape;2488;p49"/>
          <p:cNvSpPr txBox="1"/>
          <p:nvPr/>
        </p:nvSpPr>
        <p:spPr>
          <a:xfrm>
            <a:off x="6217920" y="224028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49"/>
          <p:cNvSpPr txBox="1"/>
          <p:nvPr/>
        </p:nvSpPr>
        <p:spPr>
          <a:xfrm>
            <a:off x="7818120" y="224028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block / flex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0" name="Google Shape;2490;p49"/>
          <p:cNvSpPr txBox="1"/>
          <p:nvPr/>
        </p:nvSpPr>
        <p:spPr>
          <a:xfrm>
            <a:off x="6217920" y="251460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49"/>
          <p:cNvSpPr txBox="1"/>
          <p:nvPr/>
        </p:nvSpPr>
        <p:spPr>
          <a:xfrm>
            <a:off x="7818120" y="251460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2" name="Google Shape;2492;p49"/>
          <p:cNvSpPr/>
          <p:nvPr/>
        </p:nvSpPr>
        <p:spPr>
          <a:xfrm>
            <a:off x="365760" y="3108960"/>
            <a:ext cx="269748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49"/>
          <p:cNvSpPr/>
          <p:nvPr/>
        </p:nvSpPr>
        <p:spPr>
          <a:xfrm>
            <a:off x="475488" y="3182112"/>
            <a:ext cx="292608" cy="292608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4" name="Google Shape;2494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5714" y="3252338"/>
            <a:ext cx="152156" cy="152156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49"/>
          <p:cNvSpPr txBox="1"/>
          <p:nvPr/>
        </p:nvSpPr>
        <p:spPr>
          <a:xfrm>
            <a:off x="841248" y="318211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Flexbox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p49"/>
          <p:cNvSpPr txBox="1"/>
          <p:nvPr/>
        </p:nvSpPr>
        <p:spPr>
          <a:xfrm>
            <a:off x="502920" y="356616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justify-content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49"/>
          <p:cNvSpPr txBox="1"/>
          <p:nvPr/>
        </p:nvSpPr>
        <p:spPr>
          <a:xfrm>
            <a:off x="2103120" y="356616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main axis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8" name="Google Shape;2498;p49"/>
          <p:cNvSpPr txBox="1"/>
          <p:nvPr/>
        </p:nvSpPr>
        <p:spPr>
          <a:xfrm>
            <a:off x="502920" y="384048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align-items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49"/>
          <p:cNvSpPr txBox="1"/>
          <p:nvPr/>
        </p:nvSpPr>
        <p:spPr>
          <a:xfrm>
            <a:off x="2103120" y="384048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 axis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p49"/>
          <p:cNvSpPr txBox="1"/>
          <p:nvPr/>
        </p:nvSpPr>
        <p:spPr>
          <a:xfrm>
            <a:off x="502920" y="411480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flex-wrap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1" name="Google Shape;2501;p49"/>
          <p:cNvSpPr txBox="1"/>
          <p:nvPr/>
        </p:nvSpPr>
        <p:spPr>
          <a:xfrm>
            <a:off x="2103120" y="411480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new lines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2" name="Google Shape;2502;p49"/>
          <p:cNvSpPr/>
          <p:nvPr/>
        </p:nvSpPr>
        <p:spPr>
          <a:xfrm>
            <a:off x="3223260" y="3108960"/>
            <a:ext cx="269748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49"/>
          <p:cNvSpPr/>
          <p:nvPr/>
        </p:nvSpPr>
        <p:spPr>
          <a:xfrm>
            <a:off x="3332988" y="3182112"/>
            <a:ext cx="292608" cy="292608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4" name="Google Shape;2504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03214" y="3252338"/>
            <a:ext cx="152156" cy="152156"/>
          </a:xfrm>
          <a:prstGeom prst="rect">
            <a:avLst/>
          </a:prstGeom>
          <a:noFill/>
          <a:ln>
            <a:noFill/>
          </a:ln>
        </p:spPr>
      </p:pic>
      <p:sp>
        <p:nvSpPr>
          <p:cNvPr id="2505" name="Google Shape;2505;p49"/>
          <p:cNvSpPr txBox="1"/>
          <p:nvPr/>
        </p:nvSpPr>
        <p:spPr>
          <a:xfrm>
            <a:off x="3698748" y="318211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Grid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49"/>
          <p:cNvSpPr txBox="1"/>
          <p:nvPr/>
        </p:nvSpPr>
        <p:spPr>
          <a:xfrm>
            <a:off x="3360420" y="356616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grid-template-columns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7" name="Google Shape;2507;p49"/>
          <p:cNvSpPr txBox="1"/>
          <p:nvPr/>
        </p:nvSpPr>
        <p:spPr>
          <a:xfrm>
            <a:off x="4960620" y="356616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columns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49"/>
          <p:cNvSpPr txBox="1"/>
          <p:nvPr/>
        </p:nvSpPr>
        <p:spPr>
          <a:xfrm>
            <a:off x="3360420" y="384048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grid-template-rows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49"/>
          <p:cNvSpPr txBox="1"/>
          <p:nvPr/>
        </p:nvSpPr>
        <p:spPr>
          <a:xfrm>
            <a:off x="4960620" y="384048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0" name="Google Shape;2510;p49"/>
          <p:cNvSpPr/>
          <p:nvPr/>
        </p:nvSpPr>
        <p:spPr>
          <a:xfrm>
            <a:off x="6080760" y="3108960"/>
            <a:ext cx="2697480" cy="150876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49"/>
          <p:cNvSpPr/>
          <p:nvPr/>
        </p:nvSpPr>
        <p:spPr>
          <a:xfrm>
            <a:off x="6190488" y="3182112"/>
            <a:ext cx="292608" cy="292608"/>
          </a:xfrm>
          <a:prstGeom prst="ellipse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2" name="Google Shape;2512;p4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60714" y="3252338"/>
            <a:ext cx="152156" cy="152156"/>
          </a:xfrm>
          <a:prstGeom prst="rect">
            <a:avLst/>
          </a:prstGeom>
          <a:noFill/>
          <a:ln>
            <a:noFill/>
          </a:ln>
        </p:spPr>
      </p:pic>
      <p:sp>
        <p:nvSpPr>
          <p:cNvPr id="2513" name="Google Shape;2513;p49"/>
          <p:cNvSpPr txBox="1"/>
          <p:nvPr/>
        </p:nvSpPr>
        <p:spPr>
          <a:xfrm>
            <a:off x="6556248" y="318211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rPr>
              <a:t>Responsive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49"/>
          <p:cNvSpPr txBox="1"/>
          <p:nvPr/>
        </p:nvSpPr>
        <p:spPr>
          <a:xfrm>
            <a:off x="6217920" y="3566160"/>
            <a:ext cx="1691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50"/>
              <a:buFont typeface="Courier New"/>
              <a:buNone/>
            </a:pPr>
            <a:r>
              <a:rPr b="1" i="0" lang="en-US" sz="950" u="none" cap="none" strike="noStrike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@media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49"/>
          <p:cNvSpPr txBox="1"/>
          <p:nvPr/>
        </p:nvSpPr>
        <p:spPr>
          <a:xfrm>
            <a:off x="7818120" y="3566160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IF screen ≤ …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49"/>
          <p:cNvSpPr txBox="1"/>
          <p:nvPr>
            <p:ph idx="4294967295" type="sldNum"/>
          </p:nvPr>
        </p:nvSpPr>
        <p:spPr>
          <a:xfrm>
            <a:off x="8229600" y="484632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